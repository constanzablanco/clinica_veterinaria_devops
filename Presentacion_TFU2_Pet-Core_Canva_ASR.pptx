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c2d6182f204cdb" /><Relationship Type="http://schemas.openxmlformats.org/officeDocument/2006/relationships/extended-properties" Target="/docProps/app.xml" Id="R7d380d93ce734ff9" /><Relationship Type="http://schemas.openxmlformats.org/officeDocument/2006/relationships/officeDocument" Target="/ppt/presentation.xml" Id="R2690884ce5df4a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5b27be957c446f"/>
  </p:sldMasterIdLst>
  <p:notesMasterIdLst>
    <p:notesMasterId xmlns:r="http://schemas.openxmlformats.org/officeDocument/2006/relationships" r:id="R458aecb0a4744a46"/>
  </p:notesMasterIdLst>
  <p:sldIdLst>
    <p:sldId xmlns:r="http://schemas.openxmlformats.org/officeDocument/2006/relationships" id="256" r:id="R4490485a51ef40c7"/>
    <p:sldId xmlns:r="http://schemas.openxmlformats.org/officeDocument/2006/relationships" id="257" r:id="R4524d82adf11451a"/>
    <p:sldId xmlns:r="http://schemas.openxmlformats.org/officeDocument/2006/relationships" id="258" r:id="R88b98ae4bfce47ec"/>
    <p:sldId xmlns:r="http://schemas.openxmlformats.org/officeDocument/2006/relationships" id="259" r:id="R03505c10b22c4028"/>
    <p:sldId xmlns:r="http://schemas.openxmlformats.org/officeDocument/2006/relationships" id="260" r:id="Ra8ed7b99b0df4b70"/>
    <p:sldId xmlns:r="http://schemas.openxmlformats.org/officeDocument/2006/relationships" id="261" r:id="R81b0f5034609440c"/>
    <p:sldId xmlns:r="http://schemas.openxmlformats.org/officeDocument/2006/relationships" id="262" r:id="R4584e7fbf69a4ac3"/>
    <p:sldId xmlns:r="http://schemas.openxmlformats.org/officeDocument/2006/relationships" id="263" r:id="R327f63ebb28540b2"/>
    <p:sldId xmlns:r="http://schemas.openxmlformats.org/officeDocument/2006/relationships" id="264" r:id="R35d54e5839fa457e"/>
    <p:sldId xmlns:r="http://schemas.openxmlformats.org/officeDocument/2006/relationships" id="265" r:id="Rd511e36585584c92"/>
    <p:sldId xmlns:r="http://schemas.openxmlformats.org/officeDocument/2006/relationships" id="266" r:id="R0cf98e587bdf4438"/>
    <p:sldId xmlns:r="http://schemas.openxmlformats.org/officeDocument/2006/relationships" id="267" r:id="R52d8bea31e9147f0"/>
    <p:sldId xmlns:r="http://schemas.openxmlformats.org/officeDocument/2006/relationships" id="268" r:id="R0713ff2bbffc43f6"/>
    <p:sldId xmlns:r="http://schemas.openxmlformats.org/officeDocument/2006/relationships" id="269" r:id="Rf31d5df02dfb4b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59dfd594c84ef5" /><Relationship Type="http://schemas.openxmlformats.org/officeDocument/2006/relationships/slideMaster" Target="/ppt/slideMasters/slideMaster1.xml" Id="Rc15b27be957c446f" /><Relationship Type="http://schemas.openxmlformats.org/officeDocument/2006/relationships/notesMaster" Target="/ppt/notesMasters/notesMaster1.xml" Id="R458aecb0a4744a46" /><Relationship Type="http://schemas.openxmlformats.org/officeDocument/2006/relationships/presProps" Target="/ppt/presProps.xml" Id="R0a468b3fcf3c473c" /><Relationship Type="http://schemas.openxmlformats.org/officeDocument/2006/relationships/tableStyles" Target="/ppt/tableStyles.xml" Id="R80871d8dde1348a6" /><Relationship Type="http://schemas.openxmlformats.org/officeDocument/2006/relationships/slide" Target="/ppt/slides/slide1.xml" Id="R4490485a51ef40c7" /><Relationship Type="http://schemas.openxmlformats.org/officeDocument/2006/relationships/slide" Target="/ppt/slides/slide2.xml" Id="R4524d82adf11451a" /><Relationship Type="http://schemas.openxmlformats.org/officeDocument/2006/relationships/slide" Target="/ppt/slides/slide3.xml" Id="R88b98ae4bfce47ec" /><Relationship Type="http://schemas.openxmlformats.org/officeDocument/2006/relationships/slide" Target="/ppt/slides/slide4.xml" Id="R03505c10b22c4028" /><Relationship Type="http://schemas.openxmlformats.org/officeDocument/2006/relationships/slide" Target="/ppt/slides/slide5.xml" Id="Ra8ed7b99b0df4b70" /><Relationship Type="http://schemas.openxmlformats.org/officeDocument/2006/relationships/slide" Target="/ppt/slides/slide6.xml" Id="R81b0f5034609440c" /><Relationship Type="http://schemas.openxmlformats.org/officeDocument/2006/relationships/slide" Target="/ppt/slides/slide7.xml" Id="R4584e7fbf69a4ac3" /><Relationship Type="http://schemas.openxmlformats.org/officeDocument/2006/relationships/slide" Target="/ppt/slides/slide8.xml" Id="R327f63ebb28540b2" /><Relationship Type="http://schemas.openxmlformats.org/officeDocument/2006/relationships/slide" Target="/ppt/slides/slide9.xml" Id="R35d54e5839fa457e" /><Relationship Type="http://schemas.openxmlformats.org/officeDocument/2006/relationships/slide" Target="/ppt/slides/slide10.xml" Id="Rd511e36585584c92" /><Relationship Type="http://schemas.openxmlformats.org/officeDocument/2006/relationships/slide" Target="/ppt/slides/slide11.xml" Id="R0cf98e587bdf4438" /><Relationship Type="http://schemas.openxmlformats.org/officeDocument/2006/relationships/slide" Target="/ppt/slides/slide12.xml" Id="R52d8bea31e9147f0" /><Relationship Type="http://schemas.openxmlformats.org/officeDocument/2006/relationships/slide" Target="/ppt/slides/slide13.xml" Id="R0713ff2bbffc43f6" /><Relationship Type="http://schemas.openxmlformats.org/officeDocument/2006/relationships/slide" Target="/ppt/slides/slide14.xml" Id="Rf31d5df02dfb4b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92268eed0440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16869f644147fe" /><Relationship Type="http://schemas.openxmlformats.org/officeDocument/2006/relationships/notesMaster" Target="/ppt/notesMasters/notesMaster1.xml" Id="R80f3d1a401e941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1b3b878a6b40c6" /><Relationship Type="http://schemas.openxmlformats.org/officeDocument/2006/relationships/notesMaster" Target="/ppt/notesMasters/notesMaster1.xml" Id="R0edee85da2ac41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b601cafe614b37" /><Relationship Type="http://schemas.openxmlformats.org/officeDocument/2006/relationships/notesMaster" Target="/ppt/notesMasters/notesMaster1.xml" Id="Rd9971d1581f84f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04bd312ea04132" /><Relationship Type="http://schemas.openxmlformats.org/officeDocument/2006/relationships/notesMaster" Target="/ppt/notesMasters/notesMaster1.xml" Id="R084e9d32a6aa4c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60f953d8b44ca1" /><Relationship Type="http://schemas.openxmlformats.org/officeDocument/2006/relationships/notesMaster" Target="/ppt/notesMasters/notesMaster1.xml" Id="Re7e24f640b8e44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fbb714229d4271" /><Relationship Type="http://schemas.openxmlformats.org/officeDocument/2006/relationships/notesMaster" Target="/ppt/notesMasters/notesMaster1.xml" Id="R31d0747863154a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4aed919c20434f" /><Relationship Type="http://schemas.openxmlformats.org/officeDocument/2006/relationships/notesMaster" Target="/ppt/notesMasters/notesMaster1.xml" Id="R55555b92973946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2472215525447e" /><Relationship Type="http://schemas.openxmlformats.org/officeDocument/2006/relationships/notesMaster" Target="/ppt/notesMasters/notesMaster1.xml" Id="R683dcdd777954f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edd585b85a43f3" /><Relationship Type="http://schemas.openxmlformats.org/officeDocument/2006/relationships/notesMaster" Target="/ppt/notesMasters/notesMaster1.xml" Id="R4909831d92014f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4cd89a62904721" /><Relationship Type="http://schemas.openxmlformats.org/officeDocument/2006/relationships/notesMaster" Target="/ppt/notesMasters/notesMaster1.xml" Id="Re518f364c49c4c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062df769664223" /><Relationship Type="http://schemas.openxmlformats.org/officeDocument/2006/relationships/notesMaster" Target="/ppt/notesMasters/notesMaster1.xml" Id="R6a44ab2f5ad848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25008e1eb040fa" /><Relationship Type="http://schemas.openxmlformats.org/officeDocument/2006/relationships/notesMaster" Target="/ppt/notesMasters/notesMaster1.xml" Id="R8713f26877294f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d6c7cd086d4be4" /><Relationship Type="http://schemas.openxmlformats.org/officeDocument/2006/relationships/notesMaster" Target="/ppt/notesMasters/notesMaster1.xml" Id="R72ea14faea2544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1ab4b9c65b4410" /><Relationship Type="http://schemas.openxmlformats.org/officeDocument/2006/relationships/notesMaster" Target="/ppt/notesMasters/notesMaster1.xml" Id="Re7fb3d5c26c141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30 segundos. Presentar al equipo y anticipar que se demostrarán cuatro tácticas con comportamiento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45 segundos. Presentar el negocio y los tres procesos automatizados antes de hablar de arquitectura.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55 segundos. Destacar que el administrador puede gestionar turnos, pero no leer contenido clínico; esto anticipa el ASR de seguridad 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55 segundos. Explicar el dominio solo lo necesario: procesos críticos y separación de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 30 segundos. Leer el resumen y usar el texto a la derecha para fundamentar cada ASR cuando sea necesario.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minuto. Diferenciar claramente disponibilidad de seguridad y nombrar las cuatro tácticas seleccionadas.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 30 segundos. Recorrer Postman, Nginx, dos réplicas, seguridad/reintentos dentro de la API, PostgreSQL, volumen y secretos. Aclarar que no hay frontend en la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 15 segundos. Mostrar que no son cuatro demos aisladas: las tácticas forman parte de un mismo recorrido.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15 segundos. Abrir Postman y terminal. Las cuatro demostraciones ocupan aproximadamente siete minutos.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Transición o demo: la autenticación identifica al actor. Relacionarla con ASR-SEG-01.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Transición o demo: autorización se ejecuta después de la autenticación. Relacionarla con ASR-SEG-01 y ASR-SEG-02.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Transición o demo: relacionar replicación con ASR-DISPONIBILIDAD-01a, 01b y 02. Aclarar que PostgreSQL sigue siendo una instancia única.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Transición o demo: relacionar reintentos con ASR-DISPONIBILIDAD-02. Mostrar que el máximo de tres intentos evita ocultar una falla permanente.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minuto. Cerrar con los cuatro resultados y reconocer explícitamente que PostgreSQL no está replicado. Abrir preguntas.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 TFU2 provista por la cátedra.</a:t>
            </a:r>
          </a:p>
          <a:p xmlns:a="http://schemas.openxmlformats.org/drawingml/2006/main">
            <a:r>
              <a:t>- C:/Proyecto_Clínica_Veterinaria/README.md</a:t>
            </a:r>
          </a:p>
          <a:p xmlns:a="http://schemas.openxmlformats.org/drawingml/2006/main">
            <a:r>
              <a:t>- C:/Proyecto_Clínica_Veterinaria/compose.yaml</a:t>
            </a:r>
          </a:p>
          <a:p xmlns:a="http://schemas.openxmlformats.org/drawingml/2006/main">
            <a:r>
              <a:t>- Código y scripts de demostración del repositorio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8c2275c48841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2b92e30298448b" /><Relationship Type="http://schemas.openxmlformats.org/officeDocument/2006/relationships/slideLayout" Target="/ppt/slideLayouts/slideLayout1.xml" Id="Rc66bc113491245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6bc113491245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6a4349bd94622" /><Relationship Type="http://schemas.openxmlformats.org/officeDocument/2006/relationships/image" Target="/ppt/media/image.png" Id="R37bf8bc2073d4fb0" /><Relationship Type="http://schemas.openxmlformats.org/officeDocument/2006/relationships/notesSlide" Target="/ppt/notesSlides/notesSlide1.xml" Id="R601cffdc42824c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d674ba2fd4abb" /><Relationship Type="http://schemas.openxmlformats.org/officeDocument/2006/relationships/notesSlide" Target="/ppt/notesSlides/notesSlide2.xml" Id="R587b875a2c9b49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9a59ef9a44e79" /><Relationship Type="http://schemas.openxmlformats.org/officeDocument/2006/relationships/notesSlide" Target="/ppt/notesSlides/notesSlide3.xml" Id="Ra6db7a185c7241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8b9517ed042d9" /><Relationship Type="http://schemas.openxmlformats.org/officeDocument/2006/relationships/notesSlide" Target="/ppt/notesSlides/notesSlide4.xml" Id="R731cb10ba3ef44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4b6e3b5d84710" /><Relationship Type="http://schemas.openxmlformats.org/officeDocument/2006/relationships/notesSlide" Target="/ppt/notesSlides/notesSlide5.xml" Id="R2a795b003ada4b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b921c115f4a49" /><Relationship Type="http://schemas.openxmlformats.org/officeDocument/2006/relationships/notesSlide" Target="/ppt/notesSlides/notesSlide6.xml" Id="R5832907882234e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2d8b580e94ac6" /><Relationship Type="http://schemas.openxmlformats.org/officeDocument/2006/relationships/image" Target="/ppt/media/image2.png" Id="R76133dfaf8ef44ee" /><Relationship Type="http://schemas.openxmlformats.org/officeDocument/2006/relationships/notesSlide" Target="/ppt/notesSlides/notesSlide7.xml" Id="Rc0c533c9a4aa48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1ce0921804272" /><Relationship Type="http://schemas.openxmlformats.org/officeDocument/2006/relationships/notesSlide" Target="/ppt/notesSlides/notesSlide8.xml" Id="Rc24d8851a42247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91ef3c6954034" /><Relationship Type="http://schemas.openxmlformats.org/officeDocument/2006/relationships/image" Target="/ppt/media/image3.png" Id="R492f8e0e75784649" /><Relationship Type="http://schemas.openxmlformats.org/officeDocument/2006/relationships/notesSlide" Target="/ppt/notesSlides/notesSlide9.xml" Id="R9a913e5bc8024e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33e3fb77a4c78" /><Relationship Type="http://schemas.openxmlformats.org/officeDocument/2006/relationships/notesSlide" Target="/ppt/notesSlides/notesSlide10.xml" Id="R8f3509220c484f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06f757bc84653" /><Relationship Type="http://schemas.openxmlformats.org/officeDocument/2006/relationships/notesSlide" Target="/ppt/notesSlides/notesSlide11.xml" Id="R482fda2946724b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c53a9d66649af" /><Relationship Type="http://schemas.openxmlformats.org/officeDocument/2006/relationships/notesSlide" Target="/ppt/notesSlides/notesSlide12.xml" Id="Rfc217b23d85c40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a4487875e449e" /><Relationship Type="http://schemas.openxmlformats.org/officeDocument/2006/relationships/notesSlide" Target="/ppt/notesSlides/notesSlide13.xml" Id="R0c635872f4b149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66c21dfc54400" /><Relationship Type="http://schemas.openxmlformats.org/officeDocument/2006/relationships/notesSlide" Target="/ppt/notesSlides/notesSlide14.xml" Id="R964aa42870c04c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D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06045-A716-484F-8367-FEE105F0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f8bc2073d4fb0"/>
          <a:stretch xmlns:a="http://schemas.openxmlformats.org/drawingml/2006/main"/>
        </p:blipFill>
        <p:spPr>
          <a:xfrm xmlns:a="http://schemas.openxmlformats.org/drawingml/2006/main">
            <a:off x="8435830" y="571500"/>
            <a:ext cx="3321339" cy="342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73454-D637-48C5-848F-4ED0B4F1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FE4DF"/>
                </a:solidFill>
              </a:defRPr>
            </a:pPr>
            <a:r>
              <a:rPr sz="1125" b="1">
                <a:solidFill>
                  <a:srgbClr val="BFE4DF"/>
                </a:solidFill>
              </a:rPr>
              <a:t>TFU2 · ANÁLISIS Y DISEÑO DE APLICACIONES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EB4B4-1B43-4C1B-AA7B-4E9343A6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Tácticas de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arquitectura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712FA-BC3B-477E-B3B4-7FFE4C69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FE4DF"/>
                </a:solidFill>
              </a:defRPr>
            </a:pPr>
            <a:r>
              <a:rPr sz="1875" b="0">
                <a:solidFill>
                  <a:srgbClr val="BFE4DF"/>
                </a:solidFill>
              </a:rPr>
              <a:t>Disponibilidad y seguridad sobre una API REST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04BDF-1961-4756-916D-7C571FCB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4AC88-F092-4086-9674-8C12E28D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PET-CORE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B9814-79DC-4427-AEC6-257FF6F2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8E8"/>
                </a:solidFill>
              </a:defRPr>
            </a:pPr>
            <a:r>
              <a:rPr sz="1500" b="0">
                <a:solidFill>
                  <a:srgbClr val="D7E8E8"/>
                </a:solidFill>
              </a:rPr>
              <a:t>Constanza Blanco · Manuel Cabrera</a:t>
            </a:r>
          </a:p>
          <a:p xmlns:a="http://schemas.openxmlformats.org/drawingml/2006/main">
            <a:pPr algn="l">
              <a:defRPr sz="1500" b="0">
                <a:solidFill>
                  <a:srgbClr val="D7E8E8"/>
                </a:solidFill>
              </a:defRPr>
            </a:pPr>
            <a:r>
              <a:rPr sz="1500" b="0">
                <a:solidFill>
                  <a:srgbClr val="D7E8E8"/>
                </a:solidFill>
              </a:rPr>
              <a:t>Diego de Oliveira · Martin Mujica</a:t>
            </a:r>
          </a:p>
        </p:txBody>
      </p:sp>
    </p:spTree>
    <p:extLst>
      <p:ext uri="{BB962C8B-B14F-4D97-AF65-F5344CB8AC3E}">
        <p14:creationId xmlns:p14="http://schemas.microsoft.com/office/powerpoint/2010/main" val="7172622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50E1A-8E05-43C8-ACBF-2D073E96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5D7F5-A452-41F4-B535-FE3953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NEGOCIO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7D611-4D27-4520-8C43-C73ECCBD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C15E0-5908-4C55-9DBB-48BBB31B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AF1FB8-45B3-4EEF-B832-4B092881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Pet-Core organiza la atención de una clínica veterinaria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253C1-B7EC-4A27-A97E-51BAB11B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27C"/>
                </a:solidFill>
              </a:defRPr>
            </a:pPr>
            <a:r>
              <a:rPr sz="1425" b="0">
                <a:solidFill>
                  <a:srgbClr val="58727C"/>
                </a:solidFill>
              </a:rPr>
              <a:t>La aplicación convierte tareas operativas en procesos digitales trazables.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46AE2-EBB0-45B3-8DE2-472D178C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648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B2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11D98-70FA-4140-A72B-740DFB69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995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Cliente  →  operación de la clínica  →  equipo veterinario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EC154-9A8D-4E76-9708-69BE3456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32766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6BDD4-6B30-42DA-8439-C2B77CBA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6B5B"/>
                </a:solidFill>
              </a:defRPr>
            </a:pPr>
            <a:r>
              <a:rPr sz="1275" b="1">
                <a:solidFill>
                  <a:srgbClr val="F26B5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A8560-3535-4A89-88CD-293A0727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D3B"/>
                </a:solidFill>
              </a:defRPr>
            </a:pPr>
            <a:r>
              <a:rPr sz="1800" b="1">
                <a:solidFill>
                  <a:srgbClr val="0B2D3B"/>
                </a:solidFill>
              </a:rPr>
              <a:t>Reserva de turnos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0C53A-CC50-4EF8-9F43-A1CE69DB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27C"/>
                </a:solidFill>
              </a:defRPr>
            </a:pPr>
            <a:r>
              <a:rPr sz="1275" b="0">
                <a:solidFill>
                  <a:srgbClr val="58727C"/>
                </a:solidFill>
              </a:rPr>
              <a:t>El cliente elige mascota, tipo de atención, veterinario y horario.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975DB-2539-473A-A2E9-18F79C1C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81350"/>
            <a:ext cx="32766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5A919-E558-4EA8-84F4-6EA7A222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09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C7C78"/>
                </a:solidFill>
              </a:defRPr>
            </a:pPr>
            <a:r>
              <a:rPr sz="1275" b="1">
                <a:solidFill>
                  <a:srgbClr val="0C7C78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04E38-1EE7-4A81-A16E-F291AFBB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D3B"/>
                </a:solidFill>
              </a:defRPr>
            </a:pPr>
            <a:r>
              <a:rPr sz="1800" b="1">
                <a:solidFill>
                  <a:srgbClr val="0B2D3B"/>
                </a:solidFill>
              </a:rPr>
              <a:t>Agenda diaria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53D36-CEA1-42AC-8D6C-EF13E814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196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27C"/>
                </a:solidFill>
              </a:defRPr>
            </a:pPr>
            <a:r>
              <a:rPr sz="1275" b="0">
                <a:solidFill>
                  <a:srgbClr val="58727C"/>
                </a:solidFill>
              </a:rPr>
              <a:t>El veterinario consulta sus turnos y registra la atención.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F5C50B-1AAE-407A-957A-4BC30A1E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81350"/>
            <a:ext cx="32766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8F650-32A8-4E17-B813-FA7EB252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9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6B5B"/>
                </a:solidFill>
              </a:defRPr>
            </a:pPr>
            <a:r>
              <a:rPr sz="1275" b="1">
                <a:solidFill>
                  <a:srgbClr val="F26B5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AC6FE-A9DF-403A-827E-60581B4A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D3B"/>
                </a:solidFill>
              </a:defRPr>
            </a:pPr>
            <a:r>
              <a:rPr sz="1800" b="1">
                <a:solidFill>
                  <a:srgbClr val="0B2D3B"/>
                </a:solidFill>
              </a:rPr>
              <a:t>Historial clínico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E9D2BD-F7F6-40A5-97D2-85F888F2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196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27C"/>
                </a:solidFill>
              </a:defRPr>
            </a:pPr>
            <a:r>
              <a:rPr sz="1275" b="0">
                <a:solidFill>
                  <a:srgbClr val="58727C"/>
                </a:solidFill>
              </a:rPr>
              <a:t>Las consultas quedan asociadas a cada mascota y disponibles según el rol.</a:t>
            </a:r>
          </a:p>
        </p:txBody>
      </p:sp>
    </p:spTree>
    <p:extLst>
      <p:ext uri="{BB962C8B-B14F-4D97-AF65-F5344CB8AC3E}">
        <p14:creationId xmlns:p14="http://schemas.microsoft.com/office/powerpoint/2010/main" val="719857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AFCE5A-CD7F-47AA-9CE3-8F0BE03A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68605-810A-4DDE-B6E9-8AAD1475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71FAB-12DB-4EDB-B2EB-DA4381D2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28B41-0D7E-488C-9199-48C27652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8D9813-E4AD-4172-9E22-F62A71E8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Cada rol existe para una responsabilidad distinta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68420-FB45-479F-A2DD-57A89726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27C"/>
                </a:solidFill>
              </a:defRPr>
            </a:pPr>
            <a:r>
              <a:rPr sz="1425" b="0">
                <a:solidFill>
                  <a:srgbClr val="58727C"/>
                </a:solidFill>
              </a:rPr>
              <a:t>Los permisos limitan el acceso a la información y a las operaciones necesarias.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F53EF-4936-457A-AFD5-09FAB8E6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3276600" cy="33337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74912-F4A0-491D-8770-C9AC12AE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3276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38C5D-2FF1-4826-9595-1EF9AC7C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D3B"/>
                </a:solidFill>
              </a:defRPr>
            </a:pPr>
            <a:r>
              <a:rPr sz="2100" b="1">
                <a:solidFill>
                  <a:srgbClr val="0B2D3B"/>
                </a:solidFill>
              </a:rPr>
              <a:t>Cliente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545B2-5B62-4A53-B906-1CD8F463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270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27C"/>
                </a:solidFill>
              </a:defRPr>
            </a:pPr>
            <a:r>
              <a:rPr sz="1425" b="0">
                <a:solidFill>
                  <a:srgbClr val="58727C"/>
                </a:solidFill>
              </a:rPr>
              <a:t>Gestiona sus mascotas y reserva turnos.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6A9B5-BC26-4DD1-94A5-FC1F3A35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C7C78"/>
                </a:solidFill>
              </a:defRPr>
            </a:pPr>
            <a:r>
              <a:rPr sz="1200" b="1">
                <a:solidFill>
                  <a:srgbClr val="0C7C78"/>
                </a:solidFill>
              </a:rPr>
              <a:t>Permisos generales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AB9E3-ADA8-4562-BCE3-F672D7D7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440"/>
                </a:solidFill>
              </a:defRPr>
            </a:pPr>
            <a:r>
              <a:rPr sz="1275" b="0">
                <a:solidFill>
                  <a:srgbClr val="163440"/>
                </a:solidFill>
              </a:rPr>
              <a:t>Ver mascotas · reservar/cancelar turnos · consultar su historial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B34A8-1CD3-41B5-95CA-5BE9670E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3276600" cy="33337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F4EE3-2F9E-4C63-8D0A-0A3B9757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3276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51C25-7160-46EA-AA49-21966CE6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479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D3B"/>
                </a:solidFill>
              </a:defRPr>
            </a:pPr>
            <a:r>
              <a:rPr sz="2100" b="1">
                <a:solidFill>
                  <a:srgbClr val="0B2D3B"/>
                </a:solidFill>
              </a:rPr>
              <a:t>Veterinario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D5AE8-446F-4424-AAC9-CE483B07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270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27C"/>
                </a:solidFill>
              </a:defRPr>
            </a:pPr>
            <a:r>
              <a:rPr sz="1425" b="0">
                <a:solidFill>
                  <a:srgbClr val="58727C"/>
                </a:solidFill>
              </a:rPr>
              <a:t>Atiende pacientes y registra información clínica.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81BC8-159C-4A31-8C99-2892828C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433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E4D"/>
                </a:solidFill>
              </a:defRPr>
            </a:pPr>
            <a:r>
              <a:rPr sz="1200" b="1">
                <a:solidFill>
                  <a:srgbClr val="123E4D"/>
                </a:solidFill>
              </a:rPr>
              <a:t>Permisos generales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52F759-17BD-435B-8BF4-BEFE34FE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4340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440"/>
                </a:solidFill>
              </a:defRPr>
            </a:pPr>
            <a:r>
              <a:rPr sz="1275" b="0">
                <a:solidFill>
                  <a:srgbClr val="163440"/>
                </a:solidFill>
              </a:rPr>
              <a:t>Ver agenda · consultar historial · registrar consultas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5AE1C-07C1-463D-8676-C873207B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24050"/>
            <a:ext cx="3276600" cy="33337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E5D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95618-3B16-4378-9085-1CD3C791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24050"/>
            <a:ext cx="32766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5D60F6-251D-4B0E-BB71-58BA2D6A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D3B"/>
                </a:solidFill>
              </a:defRPr>
            </a:pPr>
            <a:r>
              <a:rPr sz="2100" b="1">
                <a:solidFill>
                  <a:srgbClr val="0B2D3B"/>
                </a:solidFill>
              </a:rPr>
              <a:t>Administrador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0E0873-93DB-492E-AE29-792E15B1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2705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27C"/>
                </a:solidFill>
              </a:defRPr>
            </a:pPr>
            <a:r>
              <a:rPr sz="1425" b="0">
                <a:solidFill>
                  <a:srgbClr val="58727C"/>
                </a:solidFill>
              </a:rPr>
              <a:t>Coordina la agenda sin acceder al contenido clínico.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4F33D-878D-46D3-A96E-4338A8F0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6B5B"/>
                </a:solidFill>
              </a:defRPr>
            </a:pPr>
            <a:r>
              <a:rPr sz="1200" b="1">
                <a:solidFill>
                  <a:srgbClr val="F26B5B"/>
                </a:solidFill>
              </a:rPr>
              <a:t>Permisos generales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AA6AD2-C15D-4F14-9FEC-78B0F818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440"/>
                </a:solidFill>
              </a:defRPr>
            </a:pPr>
            <a:r>
              <a:rPr sz="1275" b="0">
                <a:solidFill>
                  <a:srgbClr val="163440"/>
                </a:solidFill>
              </a:rPr>
              <a:t>Gestionar turnos de clientes · ver metadatos · sin diagnósticos ni tratamiento</a:t>
            </a:r>
          </a:p>
        </p:txBody>
      </p:sp>
    </p:spTree>
    <p:extLst>
      <p:ext uri="{BB962C8B-B14F-4D97-AF65-F5344CB8AC3E}">
        <p14:creationId xmlns:p14="http://schemas.microsoft.com/office/powerpoint/2010/main" val="1093379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820C58-92AD-42E0-9744-5699AA90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B5977-8C26-486C-8D84-D4A16E8F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CONTEXTO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3566A-E2F5-4573-B6EF-B527A606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B9C3B-F979-4D17-90BA-7274EA02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F6ABD2-A2CE-40CB-B391-6F8CE0A5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Pet-Core expone procesos que no pueden fallar en silencio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B8355-28E0-48B4-A531-35E435E2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4953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2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05584-5B58-4670-92E1-2B839415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Una API REST para la gestión de una clínica veterinaria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70E16-3A56-458C-9FF0-D9DC1C05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3943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FE4DF"/>
                </a:solidFill>
              </a:defRPr>
            </a:pPr>
            <a:r>
              <a:rPr sz="1575" b="0">
                <a:solidFill>
                  <a:srgbClr val="BFE4DF"/>
                </a:solidFill>
              </a:rPr>
              <a:t>La funcionalidad da un contexto real para observar decisiones de arquitectura.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EB2CA-9E90-47C8-854C-49DF9360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5B"/>
                </a:solidFill>
              </a:defRPr>
            </a:pPr>
            <a:r>
              <a:rPr sz="1350" b="1">
                <a:solidFill>
                  <a:srgbClr val="F26B5B"/>
                </a:solidFill>
              </a:rPr>
              <a:t>Pet-Core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382B9-792A-4E0C-A182-7D1FF940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28800"/>
            <a:ext cx="52197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0F22C-068F-4A19-A01A-92B85662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7C78"/>
                </a:solidFill>
              </a:defRPr>
            </a:pPr>
            <a:r>
              <a:rPr sz="1350" b="1">
                <a:solidFill>
                  <a:srgbClr val="0C7C78"/>
                </a:solidFill>
              </a:rPr>
              <a:t>Procesos críticos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02F9B-3C18-4C06-A59E-99D346C0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D3B"/>
                </a:solidFill>
              </a:defRPr>
            </a:pPr>
            <a:r>
              <a:rPr sz="2025" b="1">
                <a:solidFill>
                  <a:srgbClr val="0B2D3B"/>
                </a:solidFill>
              </a:rPr>
              <a:t>Reserva de turnos</a:t>
            </a:r>
          </a:p>
          <a:p xmlns:a="http://schemas.openxmlformats.org/drawingml/2006/main">
            <a:pPr algn="l">
              <a:defRPr sz="2025" b="1">
                <a:solidFill>
                  <a:srgbClr val="0B2D3B"/>
                </a:solidFill>
              </a:defRPr>
            </a:pPr>
            <a:r>
              <a:rPr sz="2025" b="1">
                <a:solidFill>
                  <a:srgbClr val="0B2D3B"/>
                </a:solidFill>
              </a:rPr>
              <a:t>Agenda e historial clínico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07B5D-7317-4C8E-9503-46E85BDD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52197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9525">
            <a:solidFill>
              <a:srgbClr val="BFE4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5A2C0-CC82-4D5F-BCCA-7E3D9661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D3B"/>
                </a:solidFill>
              </a:defRPr>
            </a:pPr>
            <a:r>
              <a:rPr sz="1650" b="1">
                <a:solidFill>
                  <a:srgbClr val="0B2D3B"/>
                </a:solidFill>
              </a:rPr>
              <a:t>Tres identidades, permisos diferentes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56CC0-2957-46E3-AC3D-E36EFFC2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7C78"/>
                </a:solidFill>
              </a:defRPr>
            </a:pPr>
            <a:r>
              <a:rPr sz="1725" b="1">
                <a:solidFill>
                  <a:srgbClr val="0C7C78"/>
                </a:solidFill>
              </a:rPr>
              <a:t>Cliente  ·  Veterinario  ·  Administrador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E66DF-2C44-4698-9C23-686A61A7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27C"/>
                </a:solidFill>
              </a:defRPr>
            </a:pPr>
            <a:r>
              <a:rPr sz="1350" b="0">
                <a:solidFill>
                  <a:srgbClr val="58727C"/>
                </a:solidFill>
              </a:rPr>
              <a:t>La identidad y el rol determinan qué información puede consultarse.</a:t>
            </a:r>
          </a:p>
        </p:txBody>
      </p:sp>
    </p:spTree>
    <p:extLst>
      <p:ext uri="{BB962C8B-B14F-4D97-AF65-F5344CB8AC3E}">
        <p14:creationId xmlns:p14="http://schemas.microsoft.com/office/powerpoint/2010/main" val="19450747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6E8468-BDC9-4E3C-AE66-6F93B9DB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0340A-7291-4EAE-AC5C-3667D510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REQUERIMIENTOS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454B7-D8C1-4814-9E38-6CB3A4D5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7F5B9-42BE-4086-94B3-0238E7CB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A5B024-DD85-4D3A-BD7A-798A03AC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Los ASR definen qué debe proteger la arquitectura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C3865-AA30-4C39-B7D8-AA5A673D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27C"/>
                </a:solidFill>
              </a:defRPr>
            </a:pPr>
            <a:r>
              <a:rPr sz="1425" b="0">
                <a:solidFill>
                  <a:srgbClr val="58727C"/>
                </a:solidFill>
              </a:rPr>
              <a:t>Disponibilidad y seguridad se expresan como resultados verificables.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70A30-2407-4C1C-880A-9327D1F5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7C78"/>
                </a:solidFill>
              </a:defRPr>
            </a:pPr>
            <a:r>
              <a:rPr sz="1125" b="1">
                <a:solidFill>
                  <a:srgbClr val="0C7C78"/>
                </a:solidFill>
              </a:rPr>
              <a:t>ASR-DISP-01a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2C0B9-E623-4A11-886F-EAE195C5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78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4E057-845D-4FC2-B989-F3185023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8288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D3B"/>
                </a:solidFill>
              </a:defRPr>
            </a:pPr>
            <a:r>
              <a:rPr sz="1425" b="1">
                <a:solidFill>
                  <a:srgbClr val="0B2D3B"/>
                </a:solidFill>
              </a:rPr>
              <a:t>Turnos disponibles 24/7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98017-9B4A-4CA0-B587-3DED8BCF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546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27C"/>
                </a:solidFill>
              </a:defRPr>
            </a:pPr>
            <a:r>
              <a:rPr sz="1125" b="0">
                <a:solidFill>
                  <a:srgbClr val="58727C"/>
                </a:solidFill>
              </a:rPr>
              <a:t>El sistema deberá mantener disponible el módulo de reserva y gestión de turnos al menos el 99,5 % del tiempo, medido las 24 horas de todos los días del mes.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CBCF9-3B21-43F2-A241-3E79A3BB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6B5B"/>
                </a:solidFill>
              </a:defRPr>
            </a:pPr>
            <a:r>
              <a:rPr sz="1125" b="1">
                <a:solidFill>
                  <a:srgbClr val="F26B5B"/>
                </a:solidFill>
              </a:rPr>
              <a:t>ASR-DISP-01b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4F5BA-BD4E-46A8-A4DE-E4263A31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765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C420A-BCAA-4FD8-9CB5-481D5954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57475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D3B"/>
                </a:solidFill>
              </a:defRPr>
            </a:pPr>
            <a:r>
              <a:rPr sz="1425" b="1">
                <a:solidFill>
                  <a:srgbClr val="0B2D3B"/>
                </a:solidFill>
              </a:rPr>
              <a:t>Atención clínica en horario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41A47-9737-4314-9916-C3961AF2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38425"/>
            <a:ext cx="546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27C"/>
                </a:solidFill>
              </a:defRPr>
            </a:pPr>
            <a:r>
              <a:rPr sz="1125" b="0">
                <a:solidFill>
                  <a:srgbClr val="58727C"/>
                </a:solidFill>
              </a:rPr>
              <a:t>El sistema deberá mantener disponibles las funciones de consulta de agenda, consulta del historial clínico y registro de consultas al menos el 99,9 % del tiempo, de lunes a viernes entre las 8:00 y las 18:00.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7C71C-50E8-4C51-AAB2-D10DC160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5A84B"/>
                </a:solidFill>
              </a:defRPr>
            </a:pPr>
            <a:r>
              <a:rPr sz="1125" b="1">
                <a:solidFill>
                  <a:srgbClr val="E5A84B"/>
                </a:solidFill>
              </a:rPr>
              <a:t>ASR-DISP-02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44582-0AC2-47D6-A3E5-14B4B1E5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052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7548E-B6C7-4076-9A99-A2E3E274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861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D3B"/>
                </a:solidFill>
              </a:defRPr>
            </a:pPr>
            <a:r>
              <a:rPr sz="1425" b="1">
                <a:solidFill>
                  <a:srgbClr val="0B2D3B"/>
                </a:solidFill>
              </a:rPr>
              <a:t>Recuperación sin perder información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8457A-149B-4AD9-9FD0-97D54DC7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67100"/>
            <a:ext cx="546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27C"/>
                </a:solidFill>
              </a:defRPr>
            </a:pPr>
            <a:r>
              <a:rPr sz="1125" b="0">
                <a:solidFill>
                  <a:srgbClr val="58727C"/>
                </a:solidFill>
              </a:rPr>
              <a:t>El sistema deberá recuperarse en un máximo de 2 minutos ante la falla de una instancia de la aplicación, sin perder turnos confirmados ni información del historial clínico.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EAA22-EB87-47B6-A7DD-533B9DD1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3E4D"/>
                </a:solidFill>
              </a:defRPr>
            </a:pPr>
            <a:r>
              <a:rPr sz="1125" b="1">
                <a:solidFill>
                  <a:srgbClr val="123E4D"/>
                </a:solidFill>
              </a:rPr>
              <a:t>ASR-SEG-01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919D0-68F3-4DFD-83F1-CFACBEDB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3387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9C9473-B874-4E1F-B4FD-2E97CAB2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14825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D3B"/>
                </a:solidFill>
              </a:defRPr>
            </a:pPr>
            <a:r>
              <a:rPr sz="1425" b="1">
                <a:solidFill>
                  <a:srgbClr val="0B2D3B"/>
                </a:solidFill>
              </a:rPr>
              <a:t>Acceso según rol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FF4B9D-2F48-4220-84F2-02FDB823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95775"/>
            <a:ext cx="546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27C"/>
                </a:solidFill>
              </a:defRPr>
            </a:pPr>
            <a:r>
              <a:rPr sz="1125" b="0">
                <a:solidFill>
                  <a:srgbClr val="58727C"/>
                </a:solidFill>
              </a:rPr>
              <a:t>El sistema deberá aplicar control de acceso según el rol del usuario, impidiendo que acceda o modifique información para la cual no está autorizado.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F684A8-4EC2-460C-A4D4-DA4B9E87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7C78"/>
                </a:solidFill>
              </a:defRPr>
            </a:pPr>
            <a:r>
              <a:rPr sz="1125" b="1">
                <a:solidFill>
                  <a:srgbClr val="0C7C78"/>
                </a:solidFill>
              </a:rPr>
              <a:t>ASR-SEG-02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DD5A3D-FBBA-4E72-8EB1-868BD4D4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625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D5C97C-37E3-46C3-B50E-932045C9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435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D3B"/>
                </a:solidFill>
              </a:defRPr>
            </a:pPr>
            <a:r>
              <a:rPr sz="1425" b="1">
                <a:solidFill>
                  <a:srgbClr val="0B2D3B"/>
                </a:solidFill>
              </a:rPr>
              <a:t>Administrador sin contenido clínico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F095A9-F77E-4A60-8774-52000641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124450"/>
            <a:ext cx="546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27C"/>
                </a:solidFill>
              </a:defRPr>
            </a:pPr>
            <a:r>
              <a:rPr sz="1125" b="0">
                <a:solidFill>
                  <a:srgbClr val="58727C"/>
                </a:solidFill>
              </a:rPr>
              <a:t>El sistema deberá permitir al rol Administrador gestionar turnos de cualquier cliente sin acceder en ningún caso al contenido clínico de las consultas, quedando su acceso limitado a los metadatos del turno.</a:t>
            </a:r>
          </a:p>
        </p:txBody>
      </p:sp>
    </p:spTree>
    <p:extLst>
      <p:ext uri="{BB962C8B-B14F-4D97-AF65-F5344CB8AC3E}">
        <p14:creationId xmlns:p14="http://schemas.microsoft.com/office/powerpoint/2010/main" val="6209930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F34549-087A-41E7-A9CC-672E9605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3F612-B976-4C0C-AA7F-B26BDA86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TÁCTICAS ELEGIDAS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215D1-E6A2-4512-9080-0C5EDC9F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CFA16-B197-4A47-91BB-8DCEB355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8CD6B9-9B20-4618-BCF6-0E90507B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Cuatro tácticas cubren dos atributos de calidad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B9F41-321B-43DF-BF50-B0405AD4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C7C78"/>
                </a:solidFill>
              </a:defRPr>
            </a:pPr>
            <a:r>
              <a:rPr sz="1275" b="1">
                <a:solidFill>
                  <a:srgbClr val="0C7C78"/>
                </a:solidFill>
              </a:rPr>
              <a:t>DISPONIBILIDAD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F582D-93B7-428B-BF70-4F85073E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6B5B"/>
                </a:solidFill>
              </a:defRPr>
            </a:pPr>
            <a:r>
              <a:rPr sz="1275" b="1">
                <a:solidFill>
                  <a:srgbClr val="F26B5B"/>
                </a:solidFill>
              </a:rPr>
              <a:t>SEGURIDAD · RESISTIR ATAQUES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26DBA-A791-434A-916F-8B7D9D6A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857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9525">
            <a:solidFill>
              <a:srgbClr val="BFE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F2592-F6BF-40C6-BC8E-E9F49D8B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D3B"/>
                </a:solidFill>
              </a:defRPr>
            </a:pPr>
            <a:r>
              <a:rPr sz="2175" b="1">
                <a:solidFill>
                  <a:srgbClr val="0B2D3B"/>
                </a:solidFill>
              </a:rPr>
              <a:t>Replicación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1529C-14A3-4095-91AE-B0713978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27C"/>
                </a:solidFill>
              </a:defRPr>
            </a:pPr>
            <a:r>
              <a:rPr sz="1350" b="0">
                <a:solidFill>
                  <a:srgbClr val="58727C"/>
                </a:solidFill>
              </a:rPr>
              <a:t>Dos instancias ejecutan la misma API; si una cae, la otra mantiene el servicio.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B66FF-0CF4-41DB-9AF3-E9801E41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4857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4FB4A-A73B-414D-8F4E-D80DE58D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D3B"/>
                </a:solidFill>
              </a:defRPr>
            </a:pPr>
            <a:r>
              <a:rPr sz="2175" b="1">
                <a:solidFill>
                  <a:srgbClr val="0B2D3B"/>
                </a:solidFill>
              </a:rPr>
              <a:t>Reintentos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279187-D49A-479A-8A89-2FA335D9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27C"/>
                </a:solidFill>
              </a:defRPr>
            </a:pPr>
            <a:r>
              <a:rPr sz="1350" b="0">
                <a:solidFill>
                  <a:srgbClr val="58727C"/>
                </a:solidFill>
              </a:rPr>
              <a:t>Una operación fallida se repite con espera y un límite explícito.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B154D-4E4B-4E4A-8D95-1CCC4634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90750"/>
            <a:ext cx="4857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E5DF"/>
          </a:solidFill>
          <a:ln xmlns:a="http://schemas.openxmlformats.org/drawingml/2006/main" w="9525">
            <a:solidFill>
              <a:srgbClr val="F5B7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5B981-D560-4AB0-A3D8-E55F961F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D3B"/>
                </a:solidFill>
              </a:defRPr>
            </a:pPr>
            <a:r>
              <a:rPr sz="2175" b="1">
                <a:solidFill>
                  <a:srgbClr val="0B2D3B"/>
                </a:solidFill>
              </a:rPr>
              <a:t>Autenticar actores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0D7AF-EDFA-4D3B-92DE-A61E216B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27C"/>
                </a:solidFill>
              </a:defRPr>
            </a:pPr>
            <a:r>
              <a:rPr sz="1350" b="0">
                <a:solidFill>
                  <a:srgbClr val="58727C"/>
                </a:solidFill>
              </a:rPr>
              <a:t>Correo y contraseña válidos permiten emitir un token JWT.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7B748-1D7A-41A4-BB73-5C9AC5DA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90950"/>
            <a:ext cx="4857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EDD5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890A8A-BE4C-436B-9D90-52754DF2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D3B"/>
                </a:solidFill>
              </a:defRPr>
            </a:pPr>
            <a:r>
              <a:rPr sz="2175" b="1">
                <a:solidFill>
                  <a:srgbClr val="0B2D3B"/>
                </a:solidFill>
              </a:rPr>
              <a:t>Autorizar actores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B0F409-09C0-4DA9-9566-F1368A49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27C"/>
                </a:solidFill>
              </a:defRPr>
            </a:pPr>
            <a:r>
              <a:rPr sz="1350" b="0">
                <a:solidFill>
                  <a:srgbClr val="58727C"/>
                </a:solidFill>
              </a:rPr>
              <a:t>El rol del token determina si una operación está permitida.</a:t>
            </a:r>
          </a:p>
        </p:txBody>
      </p:sp>
    </p:spTree>
    <p:extLst>
      <p:ext uri="{BB962C8B-B14F-4D97-AF65-F5344CB8AC3E}">
        <p14:creationId xmlns:p14="http://schemas.microsoft.com/office/powerpoint/2010/main" val="12319841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F8D4F-5112-42F4-8621-F993379E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3C4DD-6F14-4A47-9643-CD4156CF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ARQUITECTURA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9DD58-D465-40D2-85D5-7AEC1ADF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C5C5D-ED02-4D29-8EC4-BAAB5BF6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D915D1-5B40-4743-98A9-9F397ADC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La arquitectura vuelve observables las cuatro tácticas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961EF-2ECB-4133-B436-D09394AA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33dfaf8ef44ee"/>
          <a:stretch xmlns:a="http://schemas.openxmlformats.org/drawingml/2006/main"/>
        </p:blipFill>
        <p:spPr>
          <a:xfrm xmlns:a="http://schemas.openxmlformats.org/drawingml/2006/main">
            <a:off x="2254176" y="1581150"/>
            <a:ext cx="7683648" cy="4324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8345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7A7643-8F84-4045-8733-78FA993D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47350-F5DE-4A3B-BF3B-1FDE1D81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CÓMO ACTÚAN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69F6D-5D7F-44D6-A17F-429BC32C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AAA0E-012F-4E18-A86E-04CB9D74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7E3821-E679-43CC-82B6-C39DBE6F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Las tácticas se aplican en distintos momentos del pedido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AF996-A346-4AF9-AE62-DBC7836D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0668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B2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1F0FF-A074-4883-B031-6093A5CB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Postman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7A10D-9594-49C1-83F2-E4786FE6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95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6B5B"/>
                </a:solidFill>
              </a:defRPr>
            </a:pPr>
            <a:r>
              <a:rPr sz="2100" b="1">
                <a:solidFill>
                  <a:srgbClr val="F26B5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40730-7A24-4195-9A2F-CD97CADC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Nginx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722C8-0FA0-465B-9945-994B0585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6B5B"/>
                </a:solidFill>
              </a:defRPr>
            </a:pPr>
            <a:r>
              <a:rPr sz="2100" b="1">
                <a:solidFill>
                  <a:srgbClr val="F26B5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F3A6C-A356-49A9-8734-ED4FB50C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1205D-A883-44B9-BD2A-96271F0B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6B5B"/>
                </a:solidFill>
              </a:defRPr>
            </a:pPr>
            <a:r>
              <a:rPr sz="2100" b="1">
                <a:solidFill>
                  <a:srgbClr val="F26B5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2329E-192A-4F6F-85E0-F32E4F45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JWT + 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CB490-801D-4919-90A1-6EE57BD6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95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6B5B"/>
                </a:solidFill>
              </a:defRPr>
            </a:pPr>
            <a:r>
              <a:rPr sz="2100" b="1">
                <a:solidFill>
                  <a:srgbClr val="F26B5B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7B74A-651B-4CAD-8E05-6D8B3D08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591EAF-C472-4458-BF75-2B3A3525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B863A-C7E0-4F64-A9FE-513D5955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AF40F-128A-4AE6-9E92-9CD02003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D3B"/>
                </a:solidFill>
              </a:defRPr>
            </a:pPr>
            <a:r>
              <a:rPr sz="1725" b="1">
                <a:solidFill>
                  <a:srgbClr val="0B2D3B"/>
                </a:solidFill>
              </a:rPr>
              <a:t>Replicación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E71C6-750F-4A88-AE56-C5C67902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27C"/>
                </a:solidFill>
              </a:defRPr>
            </a:pPr>
            <a:r>
              <a:rPr sz="1350" b="0">
                <a:solidFill>
                  <a:srgbClr val="58727C"/>
                </a:solidFill>
              </a:rPr>
              <a:t>Nginx elige una réplica disponible.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22DB6-C7D0-4F40-81B1-7846161E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11EBD-D280-4490-B17C-17C6A381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B9D31C-E01D-4DE4-943B-FA7DBA85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62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D3B"/>
                </a:solidFill>
              </a:defRPr>
            </a:pPr>
            <a:r>
              <a:rPr sz="1725" b="1">
                <a:solidFill>
                  <a:srgbClr val="0B2D3B"/>
                </a:solidFill>
              </a:rPr>
              <a:t>Autenticación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ED43A-37E5-4764-809C-D16FD991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576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27C"/>
                </a:solidFill>
              </a:defRPr>
            </a:pPr>
            <a:r>
              <a:rPr sz="1350" b="0">
                <a:solidFill>
                  <a:srgbClr val="58727C"/>
                </a:solidFill>
              </a:rPr>
              <a:t>FastAPI comprueba la identidad y valida el JWT.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8C9F9-1356-4358-837A-A8C53864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A17D6E-4497-49B1-B058-1E8064BD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6D99F9-BF0B-4A2C-BC98-8F032BD3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D3B"/>
                </a:solidFill>
              </a:defRPr>
            </a:pPr>
            <a:r>
              <a:rPr sz="1725" b="1">
                <a:solidFill>
                  <a:srgbClr val="0B2D3B"/>
                </a:solidFill>
              </a:rPr>
              <a:t>Autorización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D64EBD-6403-4D5E-B3F0-22E67E8E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576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27C"/>
                </a:solidFill>
              </a:defRPr>
            </a:pPr>
            <a:r>
              <a:rPr sz="1350" b="0">
                <a:solidFill>
                  <a:srgbClr val="58727C"/>
                </a:solidFill>
              </a:rPr>
              <a:t>El rol habilita o rechaza la operación.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B12E36-CD8F-48FA-AEAB-DD56053B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C2EFEE-83F2-45CB-9E92-14BF238A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E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402C5E-045F-4FBB-9012-B5855B2E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623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D3B"/>
                </a:solidFill>
              </a:defRPr>
            </a:pPr>
            <a:r>
              <a:rPr sz="1725" b="1">
                <a:solidFill>
                  <a:srgbClr val="0B2D3B"/>
                </a:solidFill>
              </a:rPr>
              <a:t>Reintentos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027C17-2D8F-452A-85C5-494CBBD0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576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27C"/>
                </a:solidFill>
              </a:defRPr>
            </a:pPr>
            <a:r>
              <a:rPr sz="1350" b="0">
                <a:solidFill>
                  <a:srgbClr val="58727C"/>
                </a:solidFill>
              </a:rPr>
              <a:t>La conexión a datos se repite ante una falla transitoria.</a:t>
            </a:r>
          </a:p>
        </p:txBody>
      </p:sp>
    </p:spTree>
    <p:extLst>
      <p:ext uri="{BB962C8B-B14F-4D97-AF65-F5344CB8AC3E}">
        <p14:creationId xmlns:p14="http://schemas.microsoft.com/office/powerpoint/2010/main" val="6452381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2D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f8e0e75784649"/>
          <a:stretch xmlns:a="http://schemas.openxmlformats.org/drawingml/2006/main"/>
        </p:blipFill>
        <p:spPr>
          <a:xfrm xmlns:a="http://schemas.openxmlformats.org/drawingml/2006/main">
            <a:off x="646982" y="3733800"/>
            <a:ext cx="2306485" cy="2381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C694C-2E69-40A5-A80B-7A1F9B5E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FE4DF"/>
                </a:solidFill>
              </a:defRPr>
            </a:pPr>
            <a:r>
              <a:rPr sz="1125" b="1">
                <a:solidFill>
                  <a:srgbClr val="BFE4DF"/>
                </a:solidFill>
              </a:rPr>
              <a:t>DEMOSTRACIÓN EN VIVO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85D93-A500-4457-BB09-B8171034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572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De la decisión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a la evidencia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DB1B4-7C99-4F77-B58B-E3026F47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383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  Autenticación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B1440-B85C-4D8B-90BE-46FBBBF4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  Autorización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7B9A7-067C-4C6E-9712-42DB4A97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956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  Replicación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1F366-60F2-42E3-B2C0-69EE719F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  Reintentos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BD9C0-69D6-4A6C-B04F-B7BCD7AF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48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26B5B"/>
                </a:solidFill>
              </a:defRPr>
            </a:pPr>
            <a:r>
              <a:rPr sz="1500" b="0">
                <a:solidFill>
                  <a:srgbClr val="F26B5B"/>
                </a:solidFill>
              </a:rPr>
              <a:t>Postman + terminal · 7 minutos</a:t>
            </a:r>
          </a:p>
        </p:txBody>
      </p:sp>
    </p:spTree>
    <p:extLst>
      <p:ext uri="{BB962C8B-B14F-4D97-AF65-F5344CB8AC3E}">
        <p14:creationId xmlns:p14="http://schemas.microsoft.com/office/powerpoint/2010/main" val="14417877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08FAD-AC8D-43DA-AA74-3546DF00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A34FA-6A17-4C8D-BD08-7928C1D5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TÁCTICA · SEGURIDAD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DA3B9-5686-4249-92EE-B128A30D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4EFD9-127C-4554-A99C-4E68D02B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A977D0-A530-4E9C-B271-A04BE32D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Autenticar actores confirma la identidad antes de dar acceso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F9889-DDB7-4FE4-B8B8-7140D80D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0648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B2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0467A-3B56-4569-AA63-12BFFF4B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1005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Qué logramos: ningún endpoint protegido responde sin una identidad validada con JWT.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7B4DE-1917-41EF-91F9-B219AE81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5048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9525">
            <a:solidFill>
              <a:srgbClr val="BFE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A109A-2580-4BF6-A688-5746AECC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C7C78"/>
                </a:solidFill>
              </a:defRPr>
            </a:pPr>
            <a:r>
              <a:rPr sz="1950" b="1">
                <a:solidFill>
                  <a:srgbClr val="0C7C78"/>
                </a:solidFill>
              </a:rPr>
              <a:t>Ventaja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76DEF-7DEC-4708-AD56-C9BCA328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440"/>
                </a:solidFill>
              </a:defRPr>
            </a:pPr>
            <a:r>
              <a:rPr sz="1500" b="0">
                <a:solidFill>
                  <a:srgbClr val="163440"/>
                </a:solidFill>
              </a:rPr>
              <a:t>Es la base de todo el control de acceso: sin saber quién es el usuario, no se puede aplicar ningún permiso.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1E895-FE1C-4552-B3EE-216E3128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048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E5DF"/>
          </a:solidFill>
          <a:ln xmlns:a="http://schemas.openxmlformats.org/drawingml/2006/main" w="9525">
            <a:solidFill>
              <a:srgbClr val="F5B7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9DBFC-097F-4025-8AE9-B56FE284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6B5B"/>
                </a:solidFill>
              </a:defRPr>
            </a:pPr>
            <a:r>
              <a:rPr sz="1950" b="1">
                <a:solidFill>
                  <a:srgbClr val="F26B5B"/>
                </a:solidFill>
              </a:rPr>
              <a:t>Desventaja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0F733-F049-4080-A00E-9806B4C2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4210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440"/>
                </a:solidFill>
              </a:defRPr>
            </a:pPr>
            <a:r>
              <a:rPr sz="1500" b="0">
                <a:solidFill>
                  <a:srgbClr val="163440"/>
                </a:solidFill>
              </a:rPr>
              <a:t>Agrega fricción: iniciar sesión y verificar el token en cada request aumenta el trabajo del usuario y del sistema.</a:t>
            </a:r>
          </a:p>
        </p:txBody>
      </p:sp>
    </p:spTree>
    <p:extLst>
      <p:ext uri="{BB962C8B-B14F-4D97-AF65-F5344CB8AC3E}">
        <p14:creationId xmlns:p14="http://schemas.microsoft.com/office/powerpoint/2010/main" val="10023773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6FF87-BFD0-4F31-9EF1-EEACC69A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D1BD6-9FA6-468F-9E60-093CC152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TÁCTICA · SEGURIDAD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7F05B-604E-492F-B0A2-27555200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095BE-E7DF-474F-B056-BCA30C7D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3D3E4C-AACF-412C-BCCB-E3D15830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Autorizar actores aplica permisos a cada operación puntual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F6967-8257-47B4-AD32-8A588B4E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0648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B2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3DFDD-EEC8-4B65-81B8-EF12AF0A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Qué logramos: el rol habilita o rechaza acciones específicas, como gestionar turnos sin leer contenido clínico.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D95A4-104A-4877-9480-BC07C316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5048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9525">
            <a:solidFill>
              <a:srgbClr val="BFE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11512-1831-4E69-8EDB-676A5753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C7C78"/>
                </a:solidFill>
              </a:defRPr>
            </a:pPr>
            <a:r>
              <a:rPr sz="1950" b="1">
                <a:solidFill>
                  <a:srgbClr val="0C7C78"/>
                </a:solidFill>
              </a:rPr>
              <a:t>Ventaja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9B7A8-34EE-4B9A-BCBE-79F5A87C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440"/>
                </a:solidFill>
              </a:defRPr>
            </a:pPr>
            <a:r>
              <a:rPr sz="1500" b="0">
                <a:solidFill>
                  <a:srgbClr val="163440"/>
                </a:solidFill>
              </a:rPr>
              <a:t>Permite reglas de negocio finas: cada rol accede solo a la información y las operaciones que le corresponden.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5EA00-CC12-4A00-A0A8-9B466962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048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E5DF"/>
          </a:solidFill>
          <a:ln xmlns:a="http://schemas.openxmlformats.org/drawingml/2006/main" w="9525">
            <a:solidFill>
              <a:srgbClr val="F5B7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F7511-A893-4315-BBE4-F40E7F2B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6B5B"/>
                </a:solidFill>
              </a:defRPr>
            </a:pPr>
            <a:r>
              <a:rPr sz="1950" b="1">
                <a:solidFill>
                  <a:srgbClr val="F26B5B"/>
                </a:solidFill>
              </a:rPr>
              <a:t>Desventaja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43BF3-4A1F-468F-9F21-83416CE0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4210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440"/>
                </a:solidFill>
              </a:defRPr>
            </a:pPr>
            <a:r>
              <a:rPr sz="1500" b="0">
                <a:solidFill>
                  <a:srgbClr val="163440"/>
                </a:solidFill>
              </a:rPr>
              <a:t>Suma una verificación por request y obliga a mantener actualizada la relación entre roles y permisos al crecer.</a:t>
            </a:r>
          </a:p>
        </p:txBody>
      </p:sp>
    </p:spTree>
    <p:extLst>
      <p:ext uri="{BB962C8B-B14F-4D97-AF65-F5344CB8AC3E}">
        <p14:creationId xmlns:p14="http://schemas.microsoft.com/office/powerpoint/2010/main" val="5515270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58A07-8FBB-44D9-8806-B892C0A3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94AEB-0DF6-4BC6-9735-DB805DF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TÁCTICA · DISPONIBILIDAD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AC376-D56F-49F4-9E01-14A81772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AEEEF-5692-4CEE-B54D-C6810DA8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D40B2A-F318-4F8B-BB4C-74112A38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Replicación mantiene la API disponible ante la caída de una instancia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47336-5408-4155-A364-36B1D45F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0648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B2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1F14B-9029-4D43-A987-CA6B4434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1005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Qué logramos: varias instancias del backend atienden en paralelo y el tráfico se reparte entre ellas.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1B303-6207-4290-9B30-330E4195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5048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9525">
            <a:solidFill>
              <a:srgbClr val="BFE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6E33D-050B-45C7-9DC6-C6FE459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C7C78"/>
                </a:solidFill>
              </a:defRPr>
            </a:pPr>
            <a:r>
              <a:rPr sz="1950" b="1">
                <a:solidFill>
                  <a:srgbClr val="0C7C78"/>
                </a:solidFill>
              </a:rPr>
              <a:t>Ventaja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3DD59-F3C1-44AE-AF6F-7BA16C9B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440"/>
                </a:solidFill>
              </a:defRPr>
            </a:pPr>
            <a:r>
              <a:rPr sz="1500" b="0">
                <a:solidFill>
                  <a:srgbClr val="163440"/>
                </a:solidFill>
              </a:rPr>
              <a:t>El sistema tolera la falla de una instancia sin que el usuario note una interrupción del servicio.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6CD7C-E50D-42BB-8F7B-366782C3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048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E5DF"/>
          </a:solidFill>
          <a:ln xmlns:a="http://schemas.openxmlformats.org/drawingml/2006/main" w="9525">
            <a:solidFill>
              <a:srgbClr val="F5B7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FD39B-DB26-4311-9A7E-3193C58E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6B5B"/>
                </a:solidFill>
              </a:defRPr>
            </a:pPr>
            <a:r>
              <a:rPr sz="1950" b="1">
                <a:solidFill>
                  <a:srgbClr val="F26B5B"/>
                </a:solidFill>
              </a:rPr>
              <a:t>Desventaja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7804D-8025-4D92-84AF-3861270B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421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440"/>
                </a:solidFill>
              </a:defRPr>
            </a:pPr>
            <a:r>
              <a:rPr sz="1500" b="0">
                <a:solidFill>
                  <a:srgbClr val="163440"/>
                </a:solidFill>
              </a:rPr>
              <a:t>Cada réplica consume recursos y debe compartir el mismo estado; los datos locales impedirían que fueran intercambiables.</a:t>
            </a:r>
          </a:p>
        </p:txBody>
      </p:sp>
    </p:spTree>
    <p:extLst>
      <p:ext uri="{BB962C8B-B14F-4D97-AF65-F5344CB8AC3E}">
        <p14:creationId xmlns:p14="http://schemas.microsoft.com/office/powerpoint/2010/main" val="13951814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34B87-38FF-41A6-8571-F55FB288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02B10-FD92-4123-920C-50116380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TÁCTICA · DISPONIBILIDAD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A2432-25E1-49CD-85C2-7389F898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37FF2-F233-4208-A902-4F8D3E10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76516D-47CB-4B55-A155-844DFA86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Reintentos absorben fallas transitorias antes de devolver un error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771E3-356D-4205-B0AA-CAC8CBE3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0648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B2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178CD-9636-480F-B55B-351EE480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1005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Qué logramos: la conexión a PostgreSQL se reintenta automáticamente con espera creciente entre intentos.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F7E8C-4A2E-49B2-B12F-28BD6D9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5048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9525">
            <a:solidFill>
              <a:srgbClr val="BFE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46469-D5AA-4BEF-A4A4-3472E1F1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C7C78"/>
                </a:solidFill>
              </a:defRPr>
            </a:pPr>
            <a:r>
              <a:rPr sz="1950" b="1">
                <a:solidFill>
                  <a:srgbClr val="0C7C78"/>
                </a:solidFill>
              </a:rPr>
              <a:t>Ventaja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65632-4F07-4988-A059-CB89F4D4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440"/>
                </a:solidFill>
              </a:defRPr>
            </a:pPr>
            <a:r>
              <a:rPr sz="1500" b="0">
                <a:solidFill>
                  <a:srgbClr val="163440"/>
                </a:solidFill>
              </a:rPr>
              <a:t>Una falla breve puede quedar absorbida de forma transparente: el usuario recibe la respuesta sin repetir su operación.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7C035-C98F-4389-B943-C97DE984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048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E5DF"/>
          </a:solidFill>
          <a:ln xmlns:a="http://schemas.openxmlformats.org/drawingml/2006/main" w="9525">
            <a:solidFill>
              <a:srgbClr val="F5B7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EA632-34DD-4627-B2B8-5F76DE87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6B5B"/>
                </a:solidFill>
              </a:defRPr>
            </a:pPr>
            <a:r>
              <a:rPr sz="1950" b="1">
                <a:solidFill>
                  <a:srgbClr val="F26B5B"/>
                </a:solidFill>
              </a:rPr>
              <a:t>Desventaja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95C16-FE28-451D-A977-82885699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4210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3440"/>
                </a:solidFill>
              </a:defRPr>
            </a:pPr>
            <a:r>
              <a:rPr sz="1500" b="0">
                <a:solidFill>
                  <a:srgbClr val="163440"/>
                </a:solidFill>
              </a:rPr>
              <a:t>Sin límites puede ocultar un problema real. Por eso se usa un máximo de 3 intentos; luego se devuelve el error.</a:t>
            </a:r>
          </a:p>
        </p:txBody>
      </p:sp>
    </p:spTree>
    <p:extLst>
      <p:ext uri="{BB962C8B-B14F-4D97-AF65-F5344CB8AC3E}">
        <p14:creationId xmlns:p14="http://schemas.microsoft.com/office/powerpoint/2010/main" val="2699465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E6850-6BF1-4ADF-A6A9-9687F0BC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D4A60-580E-4003-BABD-5EE5ED9E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C7C78"/>
                </a:solidFill>
              </a:defRPr>
            </a:pPr>
            <a:r>
              <a:rPr sz="975" b="1">
                <a:solidFill>
                  <a:srgbClr val="0C7C78"/>
                </a:solidFill>
              </a:rPr>
              <a:t>CONCLUSIÓN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DD55F-3FC5-42D9-A22B-D4E3676C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727C"/>
                </a:solidFill>
              </a:defRPr>
            </a:pPr>
            <a:r>
              <a:rPr sz="975" b="1">
                <a:solidFill>
                  <a:srgbClr val="58727C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A2F13-3A0A-4192-98D8-0ABAC611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1819F8-AF90-4E49-A1F6-F4C40A29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10906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D3B"/>
                </a:solidFill>
              </a:defRPr>
            </a:pPr>
            <a:r>
              <a:rPr sz="2850" b="1">
                <a:solidFill>
                  <a:srgbClr val="0B2D3B"/>
                </a:solidFill>
              </a:rPr>
              <a:t>El resultado es observable, pero el alcance tiene límites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2CC05-8831-4C70-AB6C-645BF975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95300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0B2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29793-8BCE-4EA6-A877-874B8122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336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Lo que demostramos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B2C6B-065F-4F5A-9769-2C8B250B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3905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FE4DF"/>
                </a:solidFill>
              </a:defRPr>
            </a:pPr>
            <a:r>
              <a:rPr sz="1575" b="0">
                <a:solidFill>
                  <a:srgbClr val="BFE4DF"/>
                </a:solidFill>
              </a:rPr>
              <a:t>• Continuidad ante la caída de una API</a:t>
            </a:r>
          </a:p>
          <a:p xmlns:a="http://schemas.openxmlformats.org/drawingml/2006/main">
            <a:pPr algn="l">
              <a:defRPr sz="1575" b="0">
                <a:solidFill>
                  <a:srgbClr val="BFE4DF"/>
                </a:solidFill>
              </a:defRPr>
            </a:pPr>
            <a:r>
              <a:rPr sz="1575" b="0">
                <a:solidFill>
                  <a:srgbClr val="BFE4DF"/>
                </a:solidFill>
              </a:rPr>
              <a:t>• Recuperación ante fallas transitorias</a:t>
            </a:r>
          </a:p>
          <a:p xmlns:a="http://schemas.openxmlformats.org/drawingml/2006/main">
            <a:pPr algn="l">
              <a:defRPr sz="1575" b="0">
                <a:solidFill>
                  <a:srgbClr val="BFE4DF"/>
                </a:solidFill>
              </a:defRPr>
            </a:pPr>
            <a:r>
              <a:rPr sz="1575" b="0">
                <a:solidFill>
                  <a:srgbClr val="BFE4DF"/>
                </a:solidFill>
              </a:rPr>
              <a:t>• Identidad mediante JWT</a:t>
            </a:r>
          </a:p>
          <a:p xmlns:a="http://schemas.openxmlformats.org/drawingml/2006/main">
            <a:pPr algn="l">
              <a:defRPr sz="1575" b="0">
                <a:solidFill>
                  <a:srgbClr val="BFE4DF"/>
                </a:solidFill>
              </a:defRPr>
            </a:pPr>
            <a:r>
              <a:rPr sz="1575" b="0">
                <a:solidFill>
                  <a:srgbClr val="BFE4DF"/>
                </a:solidFill>
              </a:rPr>
              <a:t>• Permisos según 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0E876-237C-46E9-89B5-42A8FEB0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14350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F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2B8EE-CDF0-41EC-B402-79B468C1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336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D3B"/>
                </a:solidFill>
              </a:defRPr>
            </a:pPr>
            <a:r>
              <a:rPr sz="2025" b="1">
                <a:solidFill>
                  <a:srgbClr val="0B2D3B"/>
                </a:solidFill>
              </a:rPr>
              <a:t>Límite reconocido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2133A-C0FB-4E6A-8F35-D16C4E24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0350"/>
            <a:ext cx="4019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6B5B"/>
                </a:solidFill>
              </a:defRPr>
            </a:pPr>
            <a:r>
              <a:rPr sz="2025" b="1">
                <a:solidFill>
                  <a:srgbClr val="F26B5B"/>
                </a:solidFill>
              </a:rPr>
              <a:t>La API está replicada; PostgreSQL sigue siendo una única instancia.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2E48B-4E4C-461C-ABF6-AEFC3D23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195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27C"/>
                </a:solidFill>
              </a:defRPr>
            </a:pPr>
            <a:r>
              <a:rPr sz="1425" b="0">
                <a:solidFill>
                  <a:srgbClr val="58727C"/>
                </a:solidFill>
              </a:rPr>
              <a:t>La demo prueba continuidad de la capa de aplicación, no alta disponibilidad total.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9D6DC-DBB2-453E-9820-C595C27B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578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C7C78"/>
                </a:solidFill>
              </a:defRPr>
            </a:pPr>
            <a:r>
              <a:rPr sz="2175" b="1">
                <a:solidFill>
                  <a:srgbClr val="0C7C78"/>
                </a:solidFill>
              </a:rPr>
              <a:t>Las tácticas se notan menos cuando funcionan bien.</a:t>
            </a:r>
          </a:p>
        </p:txBody>
      </p:sp>
    </p:spTree>
    <p:extLst>
      <p:ext uri="{BB962C8B-B14F-4D97-AF65-F5344CB8AC3E}">
        <p14:creationId xmlns:p14="http://schemas.microsoft.com/office/powerpoint/2010/main" val="1567494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2026-09-02T14:28:23.8510000Z</dcterms:created>
  <dcterms:modified xsi:type="dcterms:W3CDTF">2026-09-02T14:28:23.8510000Z</dcterms:modified>
</coreProperties>
</file>