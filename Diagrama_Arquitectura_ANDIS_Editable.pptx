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s-U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Diagrama editable construido con formas y conectores nativos de PowerPoint. No utiliza una imagen de fondo.</a:t>
            </a:r>
          </a:p>
          <a:p>
            <a:endParaRPr/>
          </a:p>
          <a:p>
            <a:r>
              <a:t>[Sources]</a:t>
            </a:r>
          </a:p>
          <a:p>
            <a:r>
              <a:t>- Arquitectura de la demo ANDIS del repositorio local.</a:t>
            </a:r>
          </a:p>
          <a:p>
            <a:r>
              <a:t>- Diagrama de referencia provisto por la estudiante.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docker-compose">
            <a:extLst>
              <a:ext uri="{FF2B5EF4-FFF2-40B4-BE49-F238E27FC236}">
                <a16:creationId xmlns:a16="http://schemas.microsoft.com/office/drawing/2014/main" id="{6B7EC60E-B09B-4F09-8131-BD626288F3A1}"/>
              </a:ext>
            </a:extLst>
          </p:cNvPr>
          <p:cNvSpPr>
            <a:spLocks noGrp="1"/>
          </p:cNvSpPr>
          <p:nvPr/>
        </p:nvSpPr>
        <p:spPr>
          <a:xfrm>
            <a:off x="2686050" y="5105400"/>
            <a:ext cx="6362700" cy="6134100"/>
          </a:xfrm>
          <a:prstGeom prst="roundRect">
            <a:avLst>
              <a:gd name="adj" fmla="val 2623"/>
            </a:avLst>
          </a:prstGeom>
          <a:solidFill>
            <a:srgbClr val="F2F5FD"/>
          </a:solidFill>
          <a:ln w="14288">
            <a:solidFill>
              <a:srgbClr val="9CAAD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UY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A1417C3-9170-4225-AC0F-731413CBAA5A}"/>
              </a:ext>
            </a:extLst>
          </p:cNvPr>
          <p:cNvSpPr>
            <a:spLocks noGrp="1"/>
          </p:cNvSpPr>
          <p:nvPr/>
        </p:nvSpPr>
        <p:spPr>
          <a:xfrm>
            <a:off x="5334000" y="49530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0A1857"/>
                </a:solidFill>
              </a:defRPr>
            </a:pPr>
            <a:r>
              <a:rPr sz="1725" b="1">
                <a:solidFill>
                  <a:srgbClr val="0A1857"/>
                </a:solidFill>
              </a:rPr>
              <a:t>Docker Compose</a:t>
            </a:r>
          </a:p>
        </p:txBody>
      </p:sp>
      <p:sp>
        <p:nvSpPr>
          <p:cNvPr id="3" name="postman-client">
            <a:extLst>
              <a:ext uri="{FF2B5EF4-FFF2-40B4-BE49-F238E27FC236}">
                <a16:creationId xmlns:a16="http://schemas.microsoft.com/office/drawing/2014/main" id="{7086411E-25E5-424C-B168-9719CCA4CD81}"/>
              </a:ext>
            </a:extLst>
          </p:cNvPr>
          <p:cNvSpPr>
            <a:spLocks noGrp="1"/>
          </p:cNvSpPr>
          <p:nvPr/>
        </p:nvSpPr>
        <p:spPr>
          <a:xfrm>
            <a:off x="323850" y="838200"/>
            <a:ext cx="2190750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4288">
            <a:solidFill>
              <a:srgbClr val="F37B1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UY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31119FD7-9790-406A-A9BB-9E5E43A8782B}"/>
              </a:ext>
            </a:extLst>
          </p:cNvPr>
          <p:cNvSpPr>
            <a:spLocks noGrp="1"/>
          </p:cNvSpPr>
          <p:nvPr/>
        </p:nvSpPr>
        <p:spPr>
          <a:xfrm>
            <a:off x="457200" y="1019175"/>
            <a:ext cx="428625" cy="428625"/>
          </a:xfrm>
          <a:prstGeom prst="ellipse">
            <a:avLst/>
          </a:prstGeom>
          <a:solidFill>
            <a:srgbClr val="F37B14"/>
          </a:solidFill>
          <a:ln w="9525">
            <a:solidFill>
              <a:srgbClr val="F37B14"/>
            </a:solidFill>
            <a:prstDash val="solid"/>
          </a:ln>
        </p:spPr>
        <p:txBody>
          <a:bodyPr/>
          <a:lstStyle/>
          <a:p>
            <a:endParaRPr lang="es-UY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0B129BF-D881-44D0-BF0F-E918E712911D}"/>
              </a:ext>
            </a:extLst>
          </p:cNvPr>
          <p:cNvSpPr>
            <a:spLocks noGrp="1"/>
          </p:cNvSpPr>
          <p:nvPr/>
        </p:nvSpPr>
        <p:spPr>
          <a:xfrm>
            <a:off x="457200" y="1028700"/>
            <a:ext cx="42862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↗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E2DBCC6-347A-453F-A4C0-DA059EEEA6D5}"/>
              </a:ext>
            </a:extLst>
          </p:cNvPr>
          <p:cNvSpPr>
            <a:spLocks noGrp="1"/>
          </p:cNvSpPr>
          <p:nvPr/>
        </p:nvSpPr>
        <p:spPr>
          <a:xfrm>
            <a:off x="990600" y="1123950"/>
            <a:ext cx="138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0A1857"/>
                </a:solidFill>
              </a:defRPr>
            </a:pPr>
            <a:r>
              <a:rPr sz="1350" b="1">
                <a:solidFill>
                  <a:srgbClr val="0A1857"/>
                </a:solidFill>
              </a:rPr>
              <a:t>Postman / curl</a:t>
            </a:r>
          </a:p>
        </p:txBody>
      </p:sp>
      <p:sp>
        <p:nvSpPr>
          <p:cNvPr id="7" name="nginx-balanceador">
            <a:extLst>
              <a:ext uri="{FF2B5EF4-FFF2-40B4-BE49-F238E27FC236}">
                <a16:creationId xmlns:a16="http://schemas.microsoft.com/office/drawing/2014/main" id="{9BC2D026-A736-4EA0-94E1-618B4B79B34D}"/>
              </a:ext>
            </a:extLst>
          </p:cNvPr>
          <p:cNvSpPr>
            <a:spLocks noGrp="1"/>
          </p:cNvSpPr>
          <p:nvPr/>
        </p:nvSpPr>
        <p:spPr>
          <a:xfrm>
            <a:off x="4524375" y="857250"/>
            <a:ext cx="3143250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4288">
            <a:solidFill>
              <a:srgbClr val="12832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UY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8D548D9A-A928-4851-B8CD-E4E201349B70}"/>
              </a:ext>
            </a:extLst>
          </p:cNvPr>
          <p:cNvSpPr>
            <a:spLocks noGrp="1"/>
          </p:cNvSpPr>
          <p:nvPr/>
        </p:nvSpPr>
        <p:spPr>
          <a:xfrm>
            <a:off x="4714875" y="1009650"/>
            <a:ext cx="457200" cy="457200"/>
          </a:xfrm>
          <a:prstGeom prst="ellipse">
            <a:avLst/>
          </a:prstGeom>
          <a:solidFill>
            <a:srgbClr val="128329"/>
          </a:solidFill>
          <a:ln w="9525">
            <a:solidFill>
              <a:srgbClr val="128329"/>
            </a:solidFill>
            <a:prstDash val="solid"/>
          </a:ln>
        </p:spPr>
        <p:txBody>
          <a:bodyPr/>
          <a:lstStyle/>
          <a:p>
            <a:endParaRPr lang="es-UY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89FAF3D-B265-40BE-A5C3-A5A7D10AF7C0}"/>
              </a:ext>
            </a:extLst>
          </p:cNvPr>
          <p:cNvSpPr>
            <a:spLocks noGrp="1"/>
          </p:cNvSpPr>
          <p:nvPr/>
        </p:nvSpPr>
        <p:spPr>
          <a:xfrm>
            <a:off x="4714875" y="1019175"/>
            <a:ext cx="457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346DE19-273D-405F-9A10-375A44AEB740}"/>
              </a:ext>
            </a:extLst>
          </p:cNvPr>
          <p:cNvSpPr>
            <a:spLocks noGrp="1"/>
          </p:cNvSpPr>
          <p:nvPr/>
        </p:nvSpPr>
        <p:spPr>
          <a:xfrm>
            <a:off x="5314950" y="1123950"/>
            <a:ext cx="2133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A1857"/>
                </a:solidFill>
              </a:defRPr>
            </a:pPr>
            <a:r>
              <a:rPr sz="1500" b="1">
                <a:solidFill>
                  <a:srgbClr val="0A1857"/>
                </a:solidFill>
              </a:rPr>
              <a:t>Nginx · balanceador</a:t>
            </a:r>
          </a:p>
        </p:txBody>
      </p:sp>
      <p:sp>
        <p:nvSpPr>
          <p:cNvPr id="11" name="api-replica-1">
            <a:extLst>
              <a:ext uri="{FF2B5EF4-FFF2-40B4-BE49-F238E27FC236}">
                <a16:creationId xmlns:a16="http://schemas.microsoft.com/office/drawing/2014/main" id="{0345DDC4-C663-408E-AE2A-16A445EF9709}"/>
              </a:ext>
            </a:extLst>
          </p:cNvPr>
          <p:cNvSpPr>
            <a:spLocks noGrp="1"/>
          </p:cNvSpPr>
          <p:nvPr/>
        </p:nvSpPr>
        <p:spPr>
          <a:xfrm>
            <a:off x="3667125" y="2428875"/>
            <a:ext cx="2333625" cy="1962150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14288">
            <a:solidFill>
              <a:srgbClr val="00A2A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UY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1EE33BB2-6009-46CC-974E-48E3036FC99B}"/>
              </a:ext>
            </a:extLst>
          </p:cNvPr>
          <p:cNvSpPr>
            <a:spLocks noGrp="1"/>
          </p:cNvSpPr>
          <p:nvPr/>
        </p:nvSpPr>
        <p:spPr>
          <a:xfrm>
            <a:off x="3819525" y="2590800"/>
            <a:ext cx="409575" cy="409575"/>
          </a:xfrm>
          <a:prstGeom prst="ellipse">
            <a:avLst/>
          </a:prstGeom>
          <a:solidFill>
            <a:srgbClr val="00A2A6"/>
          </a:solidFill>
          <a:ln w="9525">
            <a:solidFill>
              <a:srgbClr val="00A2A6"/>
            </a:solidFill>
            <a:prstDash val="solid"/>
          </a:ln>
        </p:spPr>
        <p:txBody>
          <a:bodyPr/>
          <a:lstStyle/>
          <a:p>
            <a:endParaRPr lang="es-UY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3892E38-3575-4A1B-BD7C-1FC079862BA0}"/>
              </a:ext>
            </a:extLst>
          </p:cNvPr>
          <p:cNvSpPr>
            <a:spLocks noGrp="1"/>
          </p:cNvSpPr>
          <p:nvPr/>
        </p:nvSpPr>
        <p:spPr>
          <a:xfrm>
            <a:off x="3819525" y="2600325"/>
            <a:ext cx="4095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ϟ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2695A52-DEC1-4738-9C06-A9606AC90B19}"/>
              </a:ext>
            </a:extLst>
          </p:cNvPr>
          <p:cNvSpPr>
            <a:spLocks noGrp="1"/>
          </p:cNvSpPr>
          <p:nvPr/>
        </p:nvSpPr>
        <p:spPr>
          <a:xfrm>
            <a:off x="4314825" y="2705100"/>
            <a:ext cx="15049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0A1857"/>
                </a:solidFill>
              </a:defRPr>
            </a:pPr>
            <a:r>
              <a:rPr sz="1275" b="1" dirty="0" err="1">
                <a:solidFill>
                  <a:srgbClr val="0A1857"/>
                </a:solidFill>
              </a:rPr>
              <a:t>FastAPI</a:t>
            </a:r>
            <a:r>
              <a:rPr sz="1275" b="1" dirty="0">
                <a:solidFill>
                  <a:srgbClr val="0A1857"/>
                </a:solidFill>
              </a:rPr>
              <a:t> · </a:t>
            </a:r>
            <a:r>
              <a:rPr sz="1275" b="1" dirty="0" err="1">
                <a:solidFill>
                  <a:srgbClr val="0A1857"/>
                </a:solidFill>
              </a:rPr>
              <a:t>réplica</a:t>
            </a:r>
            <a:r>
              <a:rPr sz="1275" b="1" dirty="0">
                <a:solidFill>
                  <a:srgbClr val="0A1857"/>
                </a:solidFill>
              </a:rPr>
              <a:t> 1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00A6692A-BD69-44B9-A7F1-DC11ED366220}"/>
              </a:ext>
            </a:extLst>
          </p:cNvPr>
          <p:cNvSpPr>
            <a:spLocks noGrp="1"/>
          </p:cNvSpPr>
          <p:nvPr/>
        </p:nvSpPr>
        <p:spPr>
          <a:xfrm>
            <a:off x="3819525" y="3143250"/>
            <a:ext cx="20955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00A2A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UY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8F745B1-4561-4DF4-BE2F-241393362C4E}"/>
              </a:ext>
            </a:extLst>
          </p:cNvPr>
          <p:cNvSpPr>
            <a:spLocks noGrp="1"/>
          </p:cNvSpPr>
          <p:nvPr/>
        </p:nvSpPr>
        <p:spPr>
          <a:xfrm>
            <a:off x="3933825" y="3171825"/>
            <a:ext cx="2571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00A2A6"/>
                </a:solidFill>
              </a:defRPr>
            </a:pPr>
            <a:r>
              <a:rPr sz="1575" b="1">
                <a:solidFill>
                  <a:srgbClr val="00A2A6"/>
                </a:solidFill>
              </a:rPr>
              <a:t>♢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749819E-DEAD-4F29-989F-03E04C788D1C}"/>
              </a:ext>
            </a:extLst>
          </p:cNvPr>
          <p:cNvSpPr>
            <a:spLocks noGrp="1"/>
          </p:cNvSpPr>
          <p:nvPr/>
        </p:nvSpPr>
        <p:spPr>
          <a:xfrm>
            <a:off x="4257675" y="3190875"/>
            <a:ext cx="1562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0A1857"/>
                </a:solidFill>
              </a:defRPr>
            </a:pPr>
            <a:r>
              <a:rPr sz="975" b="0">
                <a:solidFill>
                  <a:srgbClr val="0A1857"/>
                </a:solidFill>
              </a:rPr>
              <a:t>Autenticación JWT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10B4DFB3-16C6-40CC-85B5-876484F532AD}"/>
              </a:ext>
            </a:extLst>
          </p:cNvPr>
          <p:cNvSpPr>
            <a:spLocks noGrp="1"/>
          </p:cNvSpPr>
          <p:nvPr/>
        </p:nvSpPr>
        <p:spPr>
          <a:xfrm>
            <a:off x="3819525" y="3571875"/>
            <a:ext cx="20955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00A2A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UY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13EDAE15-7E43-4E4C-BB57-F883CF5BA776}"/>
              </a:ext>
            </a:extLst>
          </p:cNvPr>
          <p:cNvSpPr>
            <a:spLocks noGrp="1"/>
          </p:cNvSpPr>
          <p:nvPr/>
        </p:nvSpPr>
        <p:spPr>
          <a:xfrm>
            <a:off x="3933825" y="3600450"/>
            <a:ext cx="2571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00A2A6"/>
                </a:solidFill>
              </a:defRPr>
            </a:pPr>
            <a:r>
              <a:rPr sz="1575" b="1">
                <a:solidFill>
                  <a:srgbClr val="00A2A6"/>
                </a:solidFill>
              </a:rPr>
              <a:t>♙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8BA1DDF3-B8B2-4E9E-9FAA-D54D55D4AB60}"/>
              </a:ext>
            </a:extLst>
          </p:cNvPr>
          <p:cNvSpPr>
            <a:spLocks noGrp="1"/>
          </p:cNvSpPr>
          <p:nvPr/>
        </p:nvSpPr>
        <p:spPr>
          <a:xfrm>
            <a:off x="4257675" y="3619500"/>
            <a:ext cx="1562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0A1857"/>
                </a:solidFill>
              </a:defRPr>
            </a:pPr>
            <a:r>
              <a:rPr sz="975" b="0">
                <a:solidFill>
                  <a:srgbClr val="0A1857"/>
                </a:solidFill>
              </a:rPr>
              <a:t>Autorización</a:t>
            </a:r>
            <a:r>
              <a:rPr sz="975" b="0" dirty="0">
                <a:solidFill>
                  <a:srgbClr val="0A1857"/>
                </a:solidFill>
              </a:rPr>
              <a:t> </a:t>
            </a:r>
            <a:r>
              <a:rPr sz="975" b="0" dirty="0" err="1">
                <a:solidFill>
                  <a:srgbClr val="0A1857"/>
                </a:solidFill>
              </a:rPr>
              <a:t>por</a:t>
            </a:r>
            <a:r>
              <a:rPr sz="975" b="0" dirty="0">
                <a:solidFill>
                  <a:srgbClr val="0A1857"/>
                </a:solidFill>
              </a:rPr>
              <a:t> roles</a:t>
            </a: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0E8B26EB-6E53-4B04-B625-1E6BFA26A1E2}"/>
              </a:ext>
            </a:extLst>
          </p:cNvPr>
          <p:cNvSpPr>
            <a:spLocks noGrp="1"/>
          </p:cNvSpPr>
          <p:nvPr/>
        </p:nvSpPr>
        <p:spPr>
          <a:xfrm>
            <a:off x="3819525" y="4000500"/>
            <a:ext cx="20955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00A2A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UY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DA915C30-1040-4887-9B51-CE6AF0D6A0AE}"/>
              </a:ext>
            </a:extLst>
          </p:cNvPr>
          <p:cNvSpPr>
            <a:spLocks noGrp="1"/>
          </p:cNvSpPr>
          <p:nvPr/>
        </p:nvSpPr>
        <p:spPr>
          <a:xfrm>
            <a:off x="3933825" y="4029075"/>
            <a:ext cx="2571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00A2A6"/>
                </a:solidFill>
              </a:defRPr>
            </a:pPr>
            <a:r>
              <a:rPr sz="1575" b="1">
                <a:solidFill>
                  <a:srgbClr val="00A2A6"/>
                </a:solidFill>
              </a:rPr>
              <a:t>↻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BDEBE3EB-F0C5-46C8-86F7-ED29ED8B7A43}"/>
              </a:ext>
            </a:extLst>
          </p:cNvPr>
          <p:cNvSpPr>
            <a:spLocks noGrp="1"/>
          </p:cNvSpPr>
          <p:nvPr/>
        </p:nvSpPr>
        <p:spPr>
          <a:xfrm>
            <a:off x="4257675" y="4048125"/>
            <a:ext cx="1562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0A1857"/>
                </a:solidFill>
              </a:defRPr>
            </a:pPr>
            <a:r>
              <a:rPr sz="975" b="0">
                <a:solidFill>
                  <a:srgbClr val="0A1857"/>
                </a:solidFill>
              </a:rPr>
              <a:t>Reintentos de conexión</a:t>
            </a:r>
          </a:p>
        </p:txBody>
      </p:sp>
      <p:sp>
        <p:nvSpPr>
          <p:cNvPr id="24" name="api-replica-2">
            <a:extLst>
              <a:ext uri="{FF2B5EF4-FFF2-40B4-BE49-F238E27FC236}">
                <a16:creationId xmlns:a16="http://schemas.microsoft.com/office/drawing/2014/main" id="{3C9EC739-880B-498C-97C4-03ADAC09CE7C}"/>
              </a:ext>
            </a:extLst>
          </p:cNvPr>
          <p:cNvSpPr>
            <a:spLocks noGrp="1"/>
          </p:cNvSpPr>
          <p:nvPr/>
        </p:nvSpPr>
        <p:spPr>
          <a:xfrm>
            <a:off x="6572250" y="2428875"/>
            <a:ext cx="2333625" cy="1962150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14288">
            <a:solidFill>
              <a:srgbClr val="00A2A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UY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A4F8D312-4D4B-4899-A99A-003B859886D8}"/>
              </a:ext>
            </a:extLst>
          </p:cNvPr>
          <p:cNvSpPr>
            <a:spLocks noGrp="1"/>
          </p:cNvSpPr>
          <p:nvPr/>
        </p:nvSpPr>
        <p:spPr>
          <a:xfrm>
            <a:off x="6724650" y="2590800"/>
            <a:ext cx="409575" cy="409575"/>
          </a:xfrm>
          <a:prstGeom prst="ellipse">
            <a:avLst/>
          </a:prstGeom>
          <a:solidFill>
            <a:srgbClr val="00A2A6"/>
          </a:solidFill>
          <a:ln w="9525">
            <a:solidFill>
              <a:srgbClr val="00A2A6"/>
            </a:solidFill>
            <a:prstDash val="solid"/>
          </a:ln>
        </p:spPr>
        <p:txBody>
          <a:bodyPr/>
          <a:lstStyle/>
          <a:p>
            <a:endParaRPr lang="es-UY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225A7E99-DAD1-42DB-B4FA-4813F7DD6BB1}"/>
              </a:ext>
            </a:extLst>
          </p:cNvPr>
          <p:cNvSpPr>
            <a:spLocks noGrp="1"/>
          </p:cNvSpPr>
          <p:nvPr/>
        </p:nvSpPr>
        <p:spPr>
          <a:xfrm>
            <a:off x="6724650" y="2600325"/>
            <a:ext cx="4095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ϟ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FBA31487-012F-449A-B368-F4B6B581B5E8}"/>
              </a:ext>
            </a:extLst>
          </p:cNvPr>
          <p:cNvSpPr>
            <a:spLocks noGrp="1"/>
          </p:cNvSpPr>
          <p:nvPr/>
        </p:nvSpPr>
        <p:spPr>
          <a:xfrm>
            <a:off x="7219950" y="2705100"/>
            <a:ext cx="15049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0A1857"/>
                </a:solidFill>
              </a:defRPr>
            </a:pPr>
            <a:r>
              <a:rPr sz="1275" b="1">
                <a:solidFill>
                  <a:srgbClr val="0A1857"/>
                </a:solidFill>
              </a:rPr>
              <a:t>FastAPI · réplica 2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1C448851-D4FD-45DA-BDB6-A60040F35CE5}"/>
              </a:ext>
            </a:extLst>
          </p:cNvPr>
          <p:cNvSpPr>
            <a:spLocks noGrp="1"/>
          </p:cNvSpPr>
          <p:nvPr/>
        </p:nvSpPr>
        <p:spPr>
          <a:xfrm>
            <a:off x="6724650" y="3143250"/>
            <a:ext cx="20955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00A2A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UY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303FD44-E3F4-46E6-86B0-A75367269F4D}"/>
              </a:ext>
            </a:extLst>
          </p:cNvPr>
          <p:cNvSpPr>
            <a:spLocks noGrp="1"/>
          </p:cNvSpPr>
          <p:nvPr/>
        </p:nvSpPr>
        <p:spPr>
          <a:xfrm>
            <a:off x="6838950" y="3171825"/>
            <a:ext cx="2571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00A2A6"/>
                </a:solidFill>
              </a:defRPr>
            </a:pPr>
            <a:r>
              <a:rPr sz="1575" b="1">
                <a:solidFill>
                  <a:srgbClr val="00A2A6"/>
                </a:solidFill>
              </a:rPr>
              <a:t>♢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6947B7F-550D-42C2-89A4-1E00274526D2}"/>
              </a:ext>
            </a:extLst>
          </p:cNvPr>
          <p:cNvSpPr>
            <a:spLocks noGrp="1"/>
          </p:cNvSpPr>
          <p:nvPr/>
        </p:nvSpPr>
        <p:spPr>
          <a:xfrm>
            <a:off x="7162800" y="3190875"/>
            <a:ext cx="1562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0A1857"/>
                </a:solidFill>
              </a:defRPr>
            </a:pPr>
            <a:r>
              <a:rPr sz="975" b="0">
                <a:solidFill>
                  <a:srgbClr val="0A1857"/>
                </a:solidFill>
              </a:rPr>
              <a:t>Autenticación JWT</a:t>
            </a: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787021E8-64F5-4BC7-937A-C0889A06501E}"/>
              </a:ext>
            </a:extLst>
          </p:cNvPr>
          <p:cNvSpPr>
            <a:spLocks noGrp="1"/>
          </p:cNvSpPr>
          <p:nvPr/>
        </p:nvSpPr>
        <p:spPr>
          <a:xfrm>
            <a:off x="6724650" y="3571875"/>
            <a:ext cx="20955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00A2A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UY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D2FC2261-4CAE-48E2-B1DB-758955E10760}"/>
              </a:ext>
            </a:extLst>
          </p:cNvPr>
          <p:cNvSpPr>
            <a:spLocks noGrp="1"/>
          </p:cNvSpPr>
          <p:nvPr/>
        </p:nvSpPr>
        <p:spPr>
          <a:xfrm>
            <a:off x="6838950" y="3600450"/>
            <a:ext cx="2571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00A2A6"/>
                </a:solidFill>
              </a:defRPr>
            </a:pPr>
            <a:r>
              <a:rPr sz="1575" b="1">
                <a:solidFill>
                  <a:srgbClr val="00A2A6"/>
                </a:solidFill>
              </a:rPr>
              <a:t>♙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D4B886F9-83A4-4E1E-B28C-C54FDA5BC609}"/>
              </a:ext>
            </a:extLst>
          </p:cNvPr>
          <p:cNvSpPr>
            <a:spLocks noGrp="1"/>
          </p:cNvSpPr>
          <p:nvPr/>
        </p:nvSpPr>
        <p:spPr>
          <a:xfrm>
            <a:off x="7162800" y="3619500"/>
            <a:ext cx="1562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0A1857"/>
                </a:solidFill>
              </a:defRPr>
            </a:pPr>
            <a:r>
              <a:rPr sz="975" b="0">
                <a:solidFill>
                  <a:srgbClr val="0A1857"/>
                </a:solidFill>
              </a:rPr>
              <a:t>Autorización por roles</a:t>
            </a:r>
          </a:p>
        </p:txBody>
      </p:sp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6890141C-600A-4020-AFCC-E8B3066552F4}"/>
              </a:ext>
            </a:extLst>
          </p:cNvPr>
          <p:cNvSpPr>
            <a:spLocks noGrp="1"/>
          </p:cNvSpPr>
          <p:nvPr/>
        </p:nvSpPr>
        <p:spPr>
          <a:xfrm>
            <a:off x="6724650" y="4000500"/>
            <a:ext cx="20955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00A2A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UY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641F8BFA-C8D7-4E71-92D3-FE85E543599A}"/>
              </a:ext>
            </a:extLst>
          </p:cNvPr>
          <p:cNvSpPr>
            <a:spLocks noGrp="1"/>
          </p:cNvSpPr>
          <p:nvPr/>
        </p:nvSpPr>
        <p:spPr>
          <a:xfrm>
            <a:off x="6838950" y="4029075"/>
            <a:ext cx="2571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00A2A6"/>
                </a:solidFill>
              </a:defRPr>
            </a:pPr>
            <a:r>
              <a:rPr sz="1575" b="1">
                <a:solidFill>
                  <a:srgbClr val="00A2A6"/>
                </a:solidFill>
              </a:rPr>
              <a:t>↻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853FBBFE-7FD6-4A26-B5A9-4CF33F0E614B}"/>
              </a:ext>
            </a:extLst>
          </p:cNvPr>
          <p:cNvSpPr>
            <a:spLocks noGrp="1"/>
          </p:cNvSpPr>
          <p:nvPr/>
        </p:nvSpPr>
        <p:spPr>
          <a:xfrm>
            <a:off x="7162800" y="4048125"/>
            <a:ext cx="1562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0A1857"/>
                </a:solidFill>
              </a:defRPr>
            </a:pPr>
            <a:r>
              <a:rPr sz="975" b="0">
                <a:solidFill>
                  <a:srgbClr val="0A1857"/>
                </a:solidFill>
              </a:rPr>
              <a:t>Reintentos de conexión</a:t>
            </a:r>
          </a:p>
        </p:txBody>
      </p:sp>
      <p:sp>
        <p:nvSpPr>
          <p:cNvPr id="37" name="postgresql">
            <a:extLst>
              <a:ext uri="{FF2B5EF4-FFF2-40B4-BE49-F238E27FC236}">
                <a16:creationId xmlns:a16="http://schemas.microsoft.com/office/drawing/2014/main" id="{AEBC4615-EDF4-44AB-8C33-368BB46240A4}"/>
              </a:ext>
            </a:extLst>
          </p:cNvPr>
          <p:cNvSpPr>
            <a:spLocks noGrp="1"/>
          </p:cNvSpPr>
          <p:nvPr/>
        </p:nvSpPr>
        <p:spPr>
          <a:xfrm>
            <a:off x="5143500" y="5000625"/>
            <a:ext cx="2000250" cy="704850"/>
          </a:xfrm>
          <a:prstGeom prst="roundRect">
            <a:avLst>
              <a:gd name="adj" fmla="val 16216"/>
            </a:avLst>
          </a:prstGeom>
          <a:solidFill>
            <a:srgbClr val="EAF2FF"/>
          </a:solidFill>
          <a:ln w="14288">
            <a:solidFill>
              <a:srgbClr val="17429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UY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F79F4305-4D04-45FB-8D77-BCA64006DF6C}"/>
              </a:ext>
            </a:extLst>
          </p:cNvPr>
          <p:cNvSpPr>
            <a:spLocks noGrp="1"/>
          </p:cNvSpPr>
          <p:nvPr/>
        </p:nvSpPr>
        <p:spPr>
          <a:xfrm>
            <a:off x="5314950" y="5172075"/>
            <a:ext cx="400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325" b="1">
                <a:solidFill>
                  <a:srgbClr val="17429D"/>
                </a:solidFill>
              </a:defRPr>
            </a:pPr>
            <a:r>
              <a:rPr sz="2325" b="1">
                <a:solidFill>
                  <a:srgbClr val="17429D"/>
                </a:solidFill>
              </a:rPr>
              <a:t>♞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4083A919-A8EF-4DB8-99C0-926108E3F5A9}"/>
              </a:ext>
            </a:extLst>
          </p:cNvPr>
          <p:cNvSpPr>
            <a:spLocks noGrp="1"/>
          </p:cNvSpPr>
          <p:nvPr/>
        </p:nvSpPr>
        <p:spPr>
          <a:xfrm>
            <a:off x="5924550" y="5219700"/>
            <a:ext cx="1095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0A1857"/>
                </a:solidFill>
              </a:defRPr>
            </a:pPr>
            <a:r>
              <a:rPr sz="1425" b="1">
                <a:solidFill>
                  <a:srgbClr val="0A1857"/>
                </a:solidFill>
              </a:rPr>
              <a:t>PostgreSQL</a:t>
            </a:r>
          </a:p>
        </p:txBody>
      </p:sp>
      <p:sp>
        <p:nvSpPr>
          <p:cNvPr id="40" name="persistent-volume">
            <a:extLst>
              <a:ext uri="{FF2B5EF4-FFF2-40B4-BE49-F238E27FC236}">
                <a16:creationId xmlns:a16="http://schemas.microsoft.com/office/drawing/2014/main" id="{75ACBBFF-30F5-420D-8315-286411B11AB7}"/>
              </a:ext>
            </a:extLst>
          </p:cNvPr>
          <p:cNvSpPr>
            <a:spLocks noGrp="1"/>
          </p:cNvSpPr>
          <p:nvPr/>
        </p:nvSpPr>
        <p:spPr>
          <a:xfrm>
            <a:off x="5143500" y="5962650"/>
            <a:ext cx="2000250" cy="523875"/>
          </a:xfrm>
          <a:prstGeom prst="roundRect">
            <a:avLst>
              <a:gd name="adj" fmla="val 21818"/>
            </a:avLst>
          </a:prstGeom>
          <a:solidFill>
            <a:srgbClr val="EAF2FF"/>
          </a:solidFill>
          <a:ln w="14288">
            <a:solidFill>
              <a:srgbClr val="17429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UY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1D1067A7-D7C8-45BF-A698-E73835EDA962}"/>
              </a:ext>
            </a:extLst>
          </p:cNvPr>
          <p:cNvSpPr>
            <a:spLocks noGrp="1"/>
          </p:cNvSpPr>
          <p:nvPr/>
        </p:nvSpPr>
        <p:spPr>
          <a:xfrm>
            <a:off x="5334000" y="6076950"/>
            <a:ext cx="323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17429D"/>
                </a:solidFill>
              </a:defRPr>
            </a:pPr>
            <a:r>
              <a:rPr sz="1800" b="1">
                <a:solidFill>
                  <a:srgbClr val="17429D"/>
                </a:solidFill>
              </a:rPr>
              <a:t>▱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1DB49D51-8F4A-47F4-86CA-331493BB3D2D}"/>
              </a:ext>
            </a:extLst>
          </p:cNvPr>
          <p:cNvSpPr>
            <a:spLocks noGrp="1"/>
          </p:cNvSpPr>
          <p:nvPr/>
        </p:nvSpPr>
        <p:spPr>
          <a:xfrm>
            <a:off x="5753100" y="6096000"/>
            <a:ext cx="1238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0A1857"/>
                </a:solidFill>
              </a:defRPr>
            </a:pPr>
            <a:r>
              <a:rPr sz="1200" b="1">
                <a:solidFill>
                  <a:srgbClr val="0A1857"/>
                </a:solidFill>
              </a:rPr>
              <a:t>Volumen persistente</a:t>
            </a:r>
          </a:p>
        </p:txBody>
      </p:sp>
      <p:sp>
        <p:nvSpPr>
          <p:cNvPr id="43" name="secrets">
            <a:extLst>
              <a:ext uri="{FF2B5EF4-FFF2-40B4-BE49-F238E27FC236}">
                <a16:creationId xmlns:a16="http://schemas.microsoft.com/office/drawing/2014/main" id="{0A2EE37E-1F55-43D7-BA18-3CC68C04E850}"/>
              </a:ext>
            </a:extLst>
          </p:cNvPr>
          <p:cNvSpPr>
            <a:spLocks noGrp="1"/>
          </p:cNvSpPr>
          <p:nvPr/>
        </p:nvSpPr>
        <p:spPr>
          <a:xfrm>
            <a:off x="9667875" y="2505075"/>
            <a:ext cx="2047875" cy="1809750"/>
          </a:xfrm>
          <a:prstGeom prst="roundRect">
            <a:avLst>
              <a:gd name="adj" fmla="val 6316"/>
            </a:avLst>
          </a:prstGeom>
          <a:solidFill>
            <a:srgbClr val="FFF8E8"/>
          </a:solidFill>
          <a:ln w="14288">
            <a:solidFill>
              <a:srgbClr val="D8910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UY"/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4456C232-E7A8-4D5B-BA96-61C92CEEC474}"/>
              </a:ext>
            </a:extLst>
          </p:cNvPr>
          <p:cNvSpPr>
            <a:spLocks noGrp="1"/>
          </p:cNvSpPr>
          <p:nvPr/>
        </p:nvSpPr>
        <p:spPr>
          <a:xfrm>
            <a:off x="9810750" y="2667000"/>
            <a:ext cx="371475" cy="371475"/>
          </a:xfrm>
          <a:prstGeom prst="ellipse">
            <a:avLst/>
          </a:prstGeom>
          <a:solidFill>
            <a:srgbClr val="D89100"/>
          </a:solidFill>
          <a:ln w="9525">
            <a:solidFill>
              <a:srgbClr val="D89100"/>
            </a:solidFill>
            <a:prstDash val="solid"/>
          </a:ln>
        </p:spPr>
        <p:txBody>
          <a:bodyPr/>
          <a:lstStyle/>
          <a:p>
            <a:endParaRPr lang="es-UY"/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16C0E80E-77AF-4E84-BF64-EF55C615B79A}"/>
              </a:ext>
            </a:extLst>
          </p:cNvPr>
          <p:cNvSpPr>
            <a:spLocks noGrp="1"/>
          </p:cNvSpPr>
          <p:nvPr/>
        </p:nvSpPr>
        <p:spPr>
          <a:xfrm>
            <a:off x="9810750" y="2676525"/>
            <a:ext cx="3714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▣</a:t>
            </a: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085A4353-9EB3-4CFD-A53A-4B397B027FFD}"/>
              </a:ext>
            </a:extLst>
          </p:cNvPr>
          <p:cNvSpPr>
            <a:spLocks noGrp="1"/>
          </p:cNvSpPr>
          <p:nvPr/>
        </p:nvSpPr>
        <p:spPr>
          <a:xfrm>
            <a:off x="10306050" y="278130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0A1857"/>
                </a:solidFill>
              </a:defRPr>
            </a:pPr>
            <a:r>
              <a:rPr sz="1425" b="1">
                <a:solidFill>
                  <a:srgbClr val="0A1857"/>
                </a:solidFill>
              </a:rPr>
              <a:t>Secrets</a:t>
            </a:r>
          </a:p>
        </p:txBody>
      </p:sp>
      <p:sp>
        <p:nvSpPr>
          <p:cNvPr id="47" name="db-password">
            <a:extLst>
              <a:ext uri="{FF2B5EF4-FFF2-40B4-BE49-F238E27FC236}">
                <a16:creationId xmlns:a16="http://schemas.microsoft.com/office/drawing/2014/main" id="{9E44BEA0-4B8C-4607-A745-B808E63CAB22}"/>
              </a:ext>
            </a:extLst>
          </p:cNvPr>
          <p:cNvSpPr>
            <a:spLocks noGrp="1"/>
          </p:cNvSpPr>
          <p:nvPr/>
        </p:nvSpPr>
        <p:spPr>
          <a:xfrm>
            <a:off x="9848850" y="3143250"/>
            <a:ext cx="1676400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E2B65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UY"/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C777DB7A-DFD4-4CC0-B6A7-A94017741B02}"/>
              </a:ext>
            </a:extLst>
          </p:cNvPr>
          <p:cNvSpPr>
            <a:spLocks noGrp="1"/>
          </p:cNvSpPr>
          <p:nvPr/>
        </p:nvSpPr>
        <p:spPr>
          <a:xfrm>
            <a:off x="9953625" y="3238500"/>
            <a:ext cx="28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D89100"/>
                </a:solidFill>
              </a:defRPr>
            </a:pPr>
            <a:r>
              <a:rPr sz="1650" b="1">
                <a:solidFill>
                  <a:srgbClr val="D89100"/>
                </a:solidFill>
              </a:rPr>
              <a:t>⚿</a:t>
            </a: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FA69CE0B-3324-463D-8AA5-72DF07E6A337}"/>
              </a:ext>
            </a:extLst>
          </p:cNvPr>
          <p:cNvSpPr>
            <a:spLocks noGrp="1"/>
          </p:cNvSpPr>
          <p:nvPr/>
        </p:nvSpPr>
        <p:spPr>
          <a:xfrm>
            <a:off x="10287000" y="3257550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0A1857"/>
                </a:solidFill>
              </a:defRPr>
            </a:pPr>
            <a:r>
              <a:rPr sz="1050" b="0">
                <a:solidFill>
                  <a:srgbClr val="0A1857"/>
                </a:solidFill>
              </a:rPr>
              <a:t>Contraseña de BD</a:t>
            </a:r>
          </a:p>
        </p:txBody>
      </p:sp>
      <p:sp>
        <p:nvSpPr>
          <p:cNvPr id="50" name="jwt-key">
            <a:extLst>
              <a:ext uri="{FF2B5EF4-FFF2-40B4-BE49-F238E27FC236}">
                <a16:creationId xmlns:a16="http://schemas.microsoft.com/office/drawing/2014/main" id="{BF748841-FF08-4E55-B317-99DD9373114F}"/>
              </a:ext>
            </a:extLst>
          </p:cNvPr>
          <p:cNvSpPr>
            <a:spLocks noGrp="1"/>
          </p:cNvSpPr>
          <p:nvPr/>
        </p:nvSpPr>
        <p:spPr>
          <a:xfrm>
            <a:off x="9848850" y="3657600"/>
            <a:ext cx="1676400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E2B65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UY"/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805F2C13-76E1-4438-B7C3-F874DE28E7BB}"/>
              </a:ext>
            </a:extLst>
          </p:cNvPr>
          <p:cNvSpPr>
            <a:spLocks noGrp="1"/>
          </p:cNvSpPr>
          <p:nvPr/>
        </p:nvSpPr>
        <p:spPr>
          <a:xfrm>
            <a:off x="9953625" y="3752850"/>
            <a:ext cx="28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D89100"/>
                </a:solidFill>
              </a:defRPr>
            </a:pPr>
            <a:r>
              <a:rPr sz="1650" b="1">
                <a:solidFill>
                  <a:srgbClr val="D89100"/>
                </a:solidFill>
              </a:rPr>
              <a:t>⚿</a:t>
            </a:r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3D936615-3E12-4AE2-820E-9B93FD2DA19F}"/>
              </a:ext>
            </a:extLst>
          </p:cNvPr>
          <p:cNvSpPr>
            <a:spLocks noGrp="1"/>
          </p:cNvSpPr>
          <p:nvPr/>
        </p:nvSpPr>
        <p:spPr>
          <a:xfrm>
            <a:off x="10287000" y="3771900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0A1857"/>
                </a:solidFill>
              </a:defRPr>
            </a:pPr>
            <a:r>
              <a:rPr sz="1050" b="0">
                <a:solidFill>
                  <a:srgbClr val="0A1857"/>
                </a:solidFill>
              </a:rPr>
              <a:t>Clave JWT</a:t>
            </a:r>
          </a:p>
        </p:txBody>
      </p:sp>
      <p:cxnSp>
        <p:nvCxnSpPr>
          <p:cNvPr id="119" name="Conector recto de flecha 118"/>
          <p:cNvCxnSpPr>
            <a:stCxn id="3" idx="3"/>
            <a:endCxn id="7" idx="1"/>
          </p:cNvCxnSpPr>
          <p:nvPr/>
        </p:nvCxnSpPr>
        <p:spPr>
          <a:xfrm>
            <a:off x="2514600" y="1257300"/>
            <a:ext cx="2009775" cy="19050"/>
          </a:xfrm>
          <a:prstGeom prst="straightConnector1">
            <a:avLst/>
          </a:prstGeom>
          <a:ln w="28575">
            <a:solidFill>
              <a:srgbClr val="0A1857"/>
            </a:solidFill>
            <a:prstDash val="solid"/>
            <a:tailEnd type="triangle" w="med" len="med"/>
          </a:ln>
        </p:spPr>
      </p:cxnSp>
      <p:sp>
        <p:nvSpPr>
          <p:cNvPr id="54" name="Rectángulo 53">
            <a:extLst>
              <a:ext uri="{FF2B5EF4-FFF2-40B4-BE49-F238E27FC236}">
                <a16:creationId xmlns:a16="http://schemas.microsoft.com/office/drawing/2014/main" id="{9234DA20-16E2-4A30-A100-49EBB2C5F4E0}"/>
              </a:ext>
            </a:extLst>
          </p:cNvPr>
          <p:cNvSpPr>
            <a:spLocks noGrp="1"/>
          </p:cNvSpPr>
          <p:nvPr/>
        </p:nvSpPr>
        <p:spPr>
          <a:xfrm>
            <a:off x="2686050" y="9906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0A1857"/>
                </a:solidFill>
              </a:defRPr>
            </a:pPr>
            <a:r>
              <a:rPr sz="1275" b="0">
                <a:solidFill>
                  <a:srgbClr val="0A1857"/>
                </a:solidFill>
              </a:rPr>
              <a:t>HTTP · localhost:8000</a:t>
            </a:r>
          </a:p>
        </p:txBody>
      </p:sp>
      <p:cxnSp>
        <p:nvCxnSpPr>
          <p:cNvPr id="121" name="Conector: angular 120"/>
          <p:cNvCxnSpPr>
            <a:stCxn id="7" idx="2"/>
            <a:endCxn id="11" idx="0"/>
          </p:cNvCxnSpPr>
          <p:nvPr/>
        </p:nvCxnSpPr>
        <p:spPr>
          <a:xfrm flipH="1">
            <a:off x="4833938" y="1695450"/>
            <a:ext cx="1262063" cy="733425"/>
          </a:xfrm>
          <a:prstGeom prst="bentConnector4">
            <a:avLst>
              <a:gd name="adj1" fmla="val 0"/>
              <a:gd name="adj2" fmla="val 50000"/>
            </a:avLst>
          </a:prstGeom>
          <a:ln w="28575">
            <a:solidFill>
              <a:srgbClr val="0A1857"/>
            </a:solidFill>
            <a:prstDash val="solid"/>
            <a:tailEnd type="triangle" w="med" len="med"/>
          </a:ln>
        </p:spPr>
      </p:cxnSp>
      <p:cxnSp>
        <p:nvCxnSpPr>
          <p:cNvPr id="122" name="Conector: angular 121"/>
          <p:cNvCxnSpPr>
            <a:stCxn id="7" idx="2"/>
            <a:endCxn id="24" idx="0"/>
          </p:cNvCxnSpPr>
          <p:nvPr/>
        </p:nvCxnSpPr>
        <p:spPr>
          <a:xfrm>
            <a:off x="6096000" y="1695450"/>
            <a:ext cx="1643063" cy="733425"/>
          </a:xfrm>
          <a:prstGeom prst="bentConnector4">
            <a:avLst>
              <a:gd name="adj1" fmla="val 0"/>
              <a:gd name="adj2" fmla="val 50000"/>
            </a:avLst>
          </a:prstGeom>
          <a:ln w="28575">
            <a:solidFill>
              <a:srgbClr val="0A1857"/>
            </a:solidFill>
            <a:prstDash val="solid"/>
            <a:tailEnd type="triangle" w="med" len="med"/>
          </a:ln>
        </p:spPr>
      </p:cxnSp>
      <p:cxnSp>
        <p:nvCxnSpPr>
          <p:cNvPr id="123" name="Conector: angular 122"/>
          <p:cNvCxnSpPr>
            <a:stCxn id="11" idx="2"/>
            <a:endCxn id="37" idx="0"/>
          </p:cNvCxnSpPr>
          <p:nvPr/>
        </p:nvCxnSpPr>
        <p:spPr>
          <a:xfrm>
            <a:off x="4833938" y="4391025"/>
            <a:ext cx="1309688" cy="609600"/>
          </a:xfrm>
          <a:prstGeom prst="bentConnector4">
            <a:avLst>
              <a:gd name="adj1" fmla="val 0"/>
              <a:gd name="adj2" fmla="val 50000"/>
            </a:avLst>
          </a:prstGeom>
          <a:ln w="28575">
            <a:solidFill>
              <a:srgbClr val="0A1857"/>
            </a:solidFill>
            <a:prstDash val="solid"/>
            <a:tailEnd type="triangle" w="med" len="med"/>
          </a:ln>
        </p:spPr>
      </p:cxnSp>
      <p:cxnSp>
        <p:nvCxnSpPr>
          <p:cNvPr id="124" name="Conector: angular 123"/>
          <p:cNvCxnSpPr>
            <a:stCxn id="24" idx="2"/>
            <a:endCxn id="37" idx="0"/>
          </p:cNvCxnSpPr>
          <p:nvPr/>
        </p:nvCxnSpPr>
        <p:spPr>
          <a:xfrm flipH="1">
            <a:off x="6143625" y="4391025"/>
            <a:ext cx="1595438" cy="609600"/>
          </a:xfrm>
          <a:prstGeom prst="bentConnector4">
            <a:avLst>
              <a:gd name="adj1" fmla="val 0"/>
              <a:gd name="adj2" fmla="val 50000"/>
            </a:avLst>
          </a:prstGeom>
          <a:ln w="28575">
            <a:solidFill>
              <a:srgbClr val="0A1857"/>
            </a:solidFill>
            <a:prstDash val="solid"/>
            <a:tailEnd type="triangle" w="med" len="med"/>
          </a:ln>
        </p:spPr>
      </p:cxnSp>
      <p:cxnSp>
        <p:nvCxnSpPr>
          <p:cNvPr id="125" name="Conector recto de flecha 124"/>
          <p:cNvCxnSpPr>
            <a:stCxn id="37" idx="2"/>
            <a:endCxn id="40" idx="0"/>
          </p:cNvCxnSpPr>
          <p:nvPr/>
        </p:nvCxnSpPr>
        <p:spPr>
          <a:xfrm>
            <a:off x="6143625" y="5705475"/>
            <a:ext cx="0" cy="257175"/>
          </a:xfrm>
          <a:prstGeom prst="straightConnector1">
            <a:avLst/>
          </a:prstGeom>
          <a:ln w="28575">
            <a:solidFill>
              <a:srgbClr val="0A1857"/>
            </a:solidFill>
            <a:prstDash val="solid"/>
            <a:tailEnd type="triangle" w="med" len="med"/>
          </a:ln>
        </p:spPr>
      </p:cxnSp>
      <p:cxnSp>
        <p:nvCxnSpPr>
          <p:cNvPr id="126" name="Conector recto de flecha 125"/>
          <p:cNvCxnSpPr>
            <a:stCxn id="43" idx="1"/>
            <a:endCxn id="24" idx="3"/>
          </p:cNvCxnSpPr>
          <p:nvPr/>
        </p:nvCxnSpPr>
        <p:spPr>
          <a:xfrm flipH="1">
            <a:off x="8905875" y="3409950"/>
            <a:ext cx="762000" cy="0"/>
          </a:xfrm>
          <a:prstGeom prst="straightConnector1">
            <a:avLst/>
          </a:prstGeom>
          <a:ln w="19050">
            <a:solidFill>
              <a:srgbClr val="D89100"/>
            </a:solidFill>
            <a:prstDash val="dash"/>
            <a:tailEnd type="triangle" w="med" len="med"/>
          </a:ln>
        </p:spPr>
      </p:cxnSp>
      <p:cxnSp>
        <p:nvCxnSpPr>
          <p:cNvPr id="127" name="Conector: angular 126"/>
          <p:cNvCxnSpPr>
            <a:stCxn id="43" idx="2"/>
            <a:endCxn id="37" idx="3"/>
          </p:cNvCxnSpPr>
          <p:nvPr/>
        </p:nvCxnSpPr>
        <p:spPr>
          <a:xfrm flipH="1">
            <a:off x="7143750" y="4314825"/>
            <a:ext cx="3548063" cy="1038225"/>
          </a:xfrm>
          <a:prstGeom prst="bentConnector3">
            <a:avLst>
              <a:gd name="adj1" fmla="val 0"/>
            </a:avLst>
          </a:prstGeom>
          <a:ln w="19050">
            <a:solidFill>
              <a:srgbClr val="D89100"/>
            </a:solidFill>
            <a:prstDash val="dash"/>
            <a:tailEnd type="triangle" w="med" len="med"/>
          </a:ln>
        </p:spPr>
      </p:cxnSp>
      <p:sp>
        <p:nvSpPr>
          <p:cNvPr id="62" name="Rectángulo: esquinas redondeadas 61">
            <a:extLst>
              <a:ext uri="{FF2B5EF4-FFF2-40B4-BE49-F238E27FC236}">
                <a16:creationId xmlns:a16="http://schemas.microsoft.com/office/drawing/2014/main" id="{50AB742D-F5EF-4224-A1EC-9A10F420978A}"/>
              </a:ext>
            </a:extLst>
          </p:cNvPr>
          <p:cNvSpPr>
            <a:spLocks noGrp="1"/>
          </p:cNvSpPr>
          <p:nvPr/>
        </p:nvSpPr>
        <p:spPr>
          <a:xfrm>
            <a:off x="5810250" y="3086100"/>
            <a:ext cx="1238250" cy="590550"/>
          </a:xfrm>
          <a:prstGeom prst="roundRect">
            <a:avLst>
              <a:gd name="adj" fmla="val 19355"/>
            </a:avLst>
          </a:prstGeom>
          <a:solidFill>
            <a:srgbClr val="F2F5FD"/>
          </a:solidFill>
          <a:ln w="0">
            <a:noFill/>
            <a:prstDash val="solid"/>
          </a:ln>
        </p:spPr>
        <p:txBody>
          <a:bodyPr/>
          <a:lstStyle/>
          <a:p>
            <a:endParaRPr lang="es-UY"/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6E0AC843-863E-4FA5-A520-421FAD55B614}"/>
              </a:ext>
            </a:extLst>
          </p:cNvPr>
          <p:cNvSpPr>
            <a:spLocks noGrp="1"/>
          </p:cNvSpPr>
          <p:nvPr/>
        </p:nvSpPr>
        <p:spPr>
          <a:xfrm>
            <a:off x="5810250" y="3181350"/>
            <a:ext cx="123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0A1857"/>
                </a:solidFill>
              </a:defRPr>
            </a:pPr>
            <a:r>
              <a:rPr sz="1125" b="0" dirty="0" err="1">
                <a:solidFill>
                  <a:srgbClr val="0A1857"/>
                </a:solidFill>
              </a:rPr>
              <a:t>Misma</a:t>
            </a:r>
            <a:r>
              <a:rPr sz="1125" b="0" dirty="0">
                <a:solidFill>
                  <a:srgbClr val="0A1857"/>
                </a:solidFill>
              </a:rPr>
              <a:t> API y</a:t>
            </a:r>
          </a:p>
          <a:p>
            <a:pPr algn="ctr">
              <a:defRPr sz="1125" b="0">
                <a:solidFill>
                  <a:srgbClr val="0A1857"/>
                </a:solidFill>
              </a:defRPr>
            </a:pPr>
            <a:r>
              <a:rPr sz="1125" b="0" dirty="0" err="1">
                <a:solidFill>
                  <a:srgbClr val="0A1857"/>
                </a:solidFill>
              </a:rPr>
              <a:t>misma</a:t>
            </a:r>
            <a:r>
              <a:rPr sz="1125" b="0" dirty="0">
                <a:solidFill>
                  <a:srgbClr val="0A1857"/>
                </a:solidFill>
              </a:rPr>
              <a:t> </a:t>
            </a:r>
            <a:r>
              <a:rPr sz="1125" b="0" dirty="0" err="1">
                <a:solidFill>
                  <a:srgbClr val="0A1857"/>
                </a:solidFill>
              </a:rPr>
              <a:t>versión</a:t>
            </a:r>
            <a:endParaRPr sz="1125" b="0" dirty="0">
              <a:solidFill>
                <a:srgbClr val="0A1857"/>
              </a:solidFill>
            </a:endParaRPr>
          </a:p>
        </p:txBody>
      </p:sp>
      <p:sp>
        <p:nvSpPr>
          <p:cNvPr id="64" name="Rectángulo: esquinas redondeadas 63">
            <a:extLst>
              <a:ext uri="{FF2B5EF4-FFF2-40B4-BE49-F238E27FC236}">
                <a16:creationId xmlns:a16="http://schemas.microsoft.com/office/drawing/2014/main" id="{F3159FA8-596D-45B5-A7F9-0891EDA7AF18}"/>
              </a:ext>
            </a:extLst>
          </p:cNvPr>
          <p:cNvSpPr>
            <a:spLocks noGrp="1"/>
          </p:cNvSpPr>
          <p:nvPr/>
        </p:nvSpPr>
        <p:spPr>
          <a:xfrm>
            <a:off x="5905500" y="3057525"/>
            <a:ext cx="1066800" cy="19050"/>
          </a:xfrm>
          <a:prstGeom prst="roundRect">
            <a:avLst>
              <a:gd name="adj" fmla="val 50000"/>
            </a:avLst>
          </a:prstGeom>
          <a:solidFill>
            <a:srgbClr val="00A2A6"/>
          </a:solidFill>
          <a:ln w="0">
            <a:noFill/>
            <a:prstDash val="solid"/>
          </a:ln>
        </p:spPr>
        <p:txBody>
          <a:bodyPr/>
          <a:lstStyle/>
          <a:p>
            <a:endParaRPr lang="es-UY"/>
          </a:p>
        </p:txBody>
      </p:sp>
      <p:sp>
        <p:nvSpPr>
          <p:cNvPr id="65" name="Rectángulo: esquinas redondeadas 64">
            <a:extLst>
              <a:ext uri="{FF2B5EF4-FFF2-40B4-BE49-F238E27FC236}">
                <a16:creationId xmlns:a16="http://schemas.microsoft.com/office/drawing/2014/main" id="{4F0CF124-009B-40FA-94BB-676A71399B3D}"/>
              </a:ext>
            </a:extLst>
          </p:cNvPr>
          <p:cNvSpPr>
            <a:spLocks noGrp="1"/>
          </p:cNvSpPr>
          <p:nvPr/>
        </p:nvSpPr>
        <p:spPr>
          <a:xfrm>
            <a:off x="5905500" y="3667125"/>
            <a:ext cx="1066800" cy="19050"/>
          </a:xfrm>
          <a:prstGeom prst="roundRect">
            <a:avLst>
              <a:gd name="adj" fmla="val 50000"/>
            </a:avLst>
          </a:prstGeom>
          <a:solidFill>
            <a:srgbClr val="00A2A6"/>
          </a:solidFill>
          <a:ln w="0">
            <a:noFill/>
            <a:prstDash val="solid"/>
          </a:ln>
        </p:spPr>
        <p:txBody>
          <a:bodyPr/>
          <a:lstStyle/>
          <a:p>
            <a:endParaRPr lang="es-UY"/>
          </a:p>
        </p:txBody>
      </p:sp>
      <p:sp>
        <p:nvSpPr>
          <p:cNvPr id="66" name="Rectángulo 65">
            <a:extLst>
              <a:ext uri="{FF2B5EF4-FFF2-40B4-BE49-F238E27FC236}">
                <a16:creationId xmlns:a16="http://schemas.microsoft.com/office/drawing/2014/main" id="{435FA43A-AF3A-4784-A49A-9D8075DA36D8}"/>
              </a:ext>
            </a:extLst>
          </p:cNvPr>
          <p:cNvSpPr>
            <a:spLocks noGrp="1"/>
          </p:cNvSpPr>
          <p:nvPr/>
        </p:nvSpPr>
        <p:spPr>
          <a:xfrm>
            <a:off x="6438900" y="1752600"/>
            <a:ext cx="2686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0">
                <a:solidFill>
                  <a:srgbClr val="53617D"/>
                </a:solidFill>
              </a:defRPr>
            </a:pPr>
            <a:r>
              <a:rPr sz="900" b="0">
                <a:solidFill>
                  <a:srgbClr val="53617D"/>
                </a:solidFill>
              </a:rPr>
              <a:t>distribuye cada petición entre las réplicas</a:t>
            </a:r>
          </a:p>
        </p:txBody>
      </p:sp>
    </p:spTree>
    <p:extLst>
      <p:ext uri="{BB962C8B-B14F-4D97-AF65-F5344CB8AC3E}">
        <p14:creationId xmlns:p14="http://schemas.microsoft.com/office/powerpoint/2010/main" val="169532359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</Words>
  <Application>Microsoft Office PowerPoint</Application>
  <DocSecurity>0</DocSecurity>
  <PresentationFormat>Panorámica</PresentationFormat>
  <Paragraphs>40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3" baseType="lpstr">
      <vt:lpstr>Calibri</vt:lpstr>
      <vt:lpstr>ChatGPT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Constanza Sofia Blanco Zufiría</cp:lastModifiedBy>
  <cp:revision>1</cp:revision>
  <dcterms:created xsi:type="dcterms:W3CDTF">2026-09-02T14:55:28Z</dcterms:created>
  <dcterms:modified xsi:type="dcterms:W3CDTF">2026-09-02T14:58:45Z</dcterms:modified>
</cp:coreProperties>
</file>