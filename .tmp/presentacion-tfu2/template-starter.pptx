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177b3ea9144565" /><Relationship Type="http://schemas.openxmlformats.org/officeDocument/2006/relationships/extended-properties" Target="/docProps/app.xml" Id="R21dbf07334924274" /><Relationship Type="http://schemas.openxmlformats.org/officeDocument/2006/relationships/officeDocument" Target="/ppt/presentation.xml" Id="Raa1d61419fb34f43"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440486ba10a436d"/>
  </p:sldMasterIdLst>
  <p:notesMasterIdLst>
    <p:notesMasterId xmlns:r="http://schemas.openxmlformats.org/officeDocument/2006/relationships" r:id="R978892776e314763"/>
  </p:notesMasterIdLst>
  <p:sldIdLst>
    <p:sldId xmlns:r="http://schemas.openxmlformats.org/officeDocument/2006/relationships" id="256" r:id="Reb09ed4486444697"/>
    <p:sldId xmlns:r="http://schemas.openxmlformats.org/officeDocument/2006/relationships" id="257" r:id="Rcaa1aaeac6b04fea"/>
    <p:sldId xmlns:r="http://schemas.openxmlformats.org/officeDocument/2006/relationships" id="258" r:id="Rd670bcc28bea4054"/>
    <p:sldId xmlns:r="http://schemas.openxmlformats.org/officeDocument/2006/relationships" id="259" r:id="R6060f09cbd0649d5"/>
    <p:sldId xmlns:r="http://schemas.openxmlformats.org/officeDocument/2006/relationships" id="260" r:id="Reb5225c6bd8c4229"/>
    <p:sldId xmlns:r="http://schemas.openxmlformats.org/officeDocument/2006/relationships" id="261" r:id="Ra5deaa0bb41b4748"/>
    <p:sldId xmlns:r="http://schemas.openxmlformats.org/officeDocument/2006/relationships" id="262" r:id="Ra252eed45978414a"/>
    <p:sldId xmlns:r="http://schemas.openxmlformats.org/officeDocument/2006/relationships" id="263" r:id="R4fa28cf91f504ede"/>
    <p:sldId xmlns:r="http://schemas.openxmlformats.org/officeDocument/2006/relationships" id="264" r:id="Rf58838d0c5cd4e53"/>
    <p:sldId xmlns:r="http://schemas.openxmlformats.org/officeDocument/2006/relationships" id="265" r:id="R314da650ff6c4348"/>
    <p:sldId xmlns:r="http://schemas.openxmlformats.org/officeDocument/2006/relationships" id="266" r:id="Re5d262b1a77648fe"/>
    <p:sldId xmlns:r="http://schemas.openxmlformats.org/officeDocument/2006/relationships" id="267" r:id="R00df374e8e164373"/>
  </p:sldIdLst>
  <p:sldSz cx="18288000" cy="10287000"/>
  <p:notesSz cx="6858000" cy="9144000"/>
  <p:embeddedFontLst>
    <p:embeddedFont>
      <p:font typeface="Bricolage Grotesque Bold"/>
      <p:regular xmlns:r="http://schemas.openxmlformats.org/officeDocument/2006/relationships" r:id="Rd3df80663a7144e4"/>
    </p:embeddedFont>
    <p:embeddedFont>
      <p:font typeface="Inter"/>
      <p:regular xmlns:r="http://schemas.openxmlformats.org/officeDocument/2006/relationships" r:id="Re6a21d5b97104803"/>
    </p:embeddedFont>
    <p:embeddedFont>
      <p:font typeface="Inter Medium"/>
      <p:regular xmlns:r="http://schemas.openxmlformats.org/officeDocument/2006/relationships" r:id="Rf684b8bbbaa34456"/>
    </p:embeddedFont>
    <p:embeddedFont>
      <p:font typeface="Inter Bold"/>
      <p:regular xmlns:r="http://schemas.openxmlformats.org/officeDocument/2006/relationships" r:id="Rb5e8af4bc6d14557"/>
    </p:embeddedFont>
    <p:embeddedFont>
      <p:font typeface="Canva Sans"/>
      <p:regular xmlns:r="http://schemas.openxmlformats.org/officeDocument/2006/relationships" r:id="Rd89dd398f6094cdb"/>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87abab05f98449a" /><Relationship Type="http://schemas.openxmlformats.org/officeDocument/2006/relationships/slideMaster" Target="/ppt/slideMasters/slideMaster1.xml" Id="Rf440486ba10a436d" /><Relationship Type="http://schemas.openxmlformats.org/officeDocument/2006/relationships/notesMaster" Target="/ppt/notesMasters/notesMaster1.xml" Id="R978892776e314763" /><Relationship Type="http://schemas.openxmlformats.org/officeDocument/2006/relationships/presProps" Target="/ppt/presProps.xml" Id="Re300f6e0e2cd4e90" /><Relationship Type="http://schemas.openxmlformats.org/officeDocument/2006/relationships/viewProps" Target="/ppt/viewProps.xml" Id="R31f12151833945f6" /><Relationship Type="http://schemas.openxmlformats.org/officeDocument/2006/relationships/tableStyles" Target="/ppt/tableStyles.xml" Id="R7cb172b8b1f34795" /><Relationship Type="http://schemas.openxmlformats.org/officeDocument/2006/relationships/font" Target="/ppt/fonts/font.dat" Id="Rd3df80663a7144e4" /><Relationship Type="http://schemas.openxmlformats.org/officeDocument/2006/relationships/font" Target="/ppt/fonts/font2.dat" Id="Re6a21d5b97104803" /><Relationship Type="http://schemas.openxmlformats.org/officeDocument/2006/relationships/font" Target="/ppt/fonts/font3.dat" Id="Rf684b8bbbaa34456" /><Relationship Type="http://schemas.openxmlformats.org/officeDocument/2006/relationships/font" Target="/ppt/fonts/font4.dat" Id="Rb5e8af4bc6d14557" /><Relationship Type="http://schemas.openxmlformats.org/officeDocument/2006/relationships/font" Target="/ppt/fonts/font5.dat" Id="Rd89dd398f6094cdb" /><Relationship Type="http://schemas.openxmlformats.org/officeDocument/2006/relationships/slide" Target="/ppt/slides/slide1.xml" Id="Reb09ed4486444697" /><Relationship Type="http://schemas.openxmlformats.org/officeDocument/2006/relationships/slide" Target="/ppt/slides/slide2.xml" Id="Rcaa1aaeac6b04fea" /><Relationship Type="http://schemas.openxmlformats.org/officeDocument/2006/relationships/slide" Target="/ppt/slides/slide3.xml" Id="Rd670bcc28bea4054" /><Relationship Type="http://schemas.openxmlformats.org/officeDocument/2006/relationships/slide" Target="/ppt/slides/slide4.xml" Id="R6060f09cbd0649d5" /><Relationship Type="http://schemas.openxmlformats.org/officeDocument/2006/relationships/slide" Target="/ppt/slides/slide5.xml" Id="Reb5225c6bd8c4229" /><Relationship Type="http://schemas.openxmlformats.org/officeDocument/2006/relationships/slide" Target="/ppt/slides/slide6.xml" Id="Ra5deaa0bb41b4748" /><Relationship Type="http://schemas.openxmlformats.org/officeDocument/2006/relationships/slide" Target="/ppt/slides/slide7.xml" Id="Ra252eed45978414a" /><Relationship Type="http://schemas.openxmlformats.org/officeDocument/2006/relationships/slide" Target="/ppt/slides/slide8.xml" Id="R4fa28cf91f504ede" /><Relationship Type="http://schemas.openxmlformats.org/officeDocument/2006/relationships/slide" Target="/ppt/slides/slide9.xml" Id="Rf58838d0c5cd4e53" /><Relationship Type="http://schemas.openxmlformats.org/officeDocument/2006/relationships/slide" Target="/ppt/slides/slide10.xml" Id="R314da650ff6c4348" /><Relationship Type="http://schemas.openxmlformats.org/officeDocument/2006/relationships/slide" Target="/ppt/slides/slide11.xml" Id="Re5d262b1a77648fe" /><Relationship Type="http://schemas.openxmlformats.org/officeDocument/2006/relationships/slide" Target="/ppt/slides/slide12.xml" Id="R00df374e8e1643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4024595f7645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8efed6aa86454c" /><Relationship Type="http://schemas.openxmlformats.org/officeDocument/2006/relationships/notesMaster" Target="/ppt/notesMasters/notesMaster1.xml" Id="R4f7c909fc59a4e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c4dcaa96f24d0f" /><Relationship Type="http://schemas.openxmlformats.org/officeDocument/2006/relationships/notesMaster" Target="/ppt/notesMasters/notesMaster1.xml" Id="Rf6a2bb7365d64e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4773729cc94a78" /><Relationship Type="http://schemas.openxmlformats.org/officeDocument/2006/relationships/notesMaster" Target="/ppt/notesMasters/notesMaster1.xml" Id="R76d99a22b63f4b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dcfd79bf39c49e3" /><Relationship Type="http://schemas.openxmlformats.org/officeDocument/2006/relationships/notesMaster" Target="/ppt/notesMasters/notesMaster1.xml" Id="Rf8595c4b4170492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bcee5902ed4497" /><Relationship Type="http://schemas.openxmlformats.org/officeDocument/2006/relationships/notesMaster" Target="/ppt/notesMasters/notesMaster1.xml" Id="R47dc9c26e4c04c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d2d1e6679d46fc" /><Relationship Type="http://schemas.openxmlformats.org/officeDocument/2006/relationships/notesMaster" Target="/ppt/notesMasters/notesMaster1.xml" Id="R439a74b3daca42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cf397514c34123" /><Relationship Type="http://schemas.openxmlformats.org/officeDocument/2006/relationships/notesMaster" Target="/ppt/notesMasters/notesMaster1.xml" Id="Rfc69c7d0df454f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31c5710f8d35440b" /><Relationship Type="http://schemas.openxmlformats.org/officeDocument/2006/relationships/notesMaster" Target="/ppt/notesMasters/notesMaster1.xml" Id="R9cef538a1e5d412d" /></Relationships>
</file>

<file path=ppt/notesSlides/_rels/notesSlide9.xml.rels>&#65279;<?xml version="1.0" encoding="utf-8"?><Relationships xmlns="http://schemas.openxmlformats.org/package/2006/relationships"><Relationship Type="http://schemas.openxmlformats.org/officeDocument/2006/relationships/slide" Target="/ppt/slides/slide9.xml" Id="R73a27d34d6b54e99" /><Relationship Type="http://schemas.openxmlformats.org/officeDocument/2006/relationships/notesMaster" Target="/ppt/notesMasters/notesMaster1.xml" Id="R7c41fd49d34341b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93f280532d54d7f" /><Relationship Type="http://schemas.openxmlformats.org/officeDocument/2006/relationships/notesMaster" Target="/ppt/notesMasters/notesMaster1.xml" Id="R65f7951f485d490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0735d1638b94a3f" /><Relationship Type="http://schemas.openxmlformats.org/officeDocument/2006/relationships/notesMaster" Target="/ppt/notesMasters/notesMaster1.xml" Id="R01db77f43f7c443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07471b779554243" /><Relationship Type="http://schemas.openxmlformats.org/officeDocument/2006/relationships/notesMaster" Target="/ppt/notesMasters/notesMaster1.xml" Id="Re38f8b84638549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Buenos días. Para este trabajo final elegimos como ejemplo una aplicación para la gestión de una clínica veterinaria. La idea es analizarla desde el punto de vista de la arquitectura, partiendo de las historias de usuario y llegando a requerimientos arquitectónicamente significativos. La aplicación no se limita solo a sacar turnos: también centraliza mascotas, clientes, veterinarios e historiales médicos.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contexto es una clínica veterinaria que atiende mascotas todos los días. Hoy, muchas clínicas pueden manejar turnos por llamadas, mensajes o planillas, y los historiales médicos pueden quedar separados. Eso genera problemas: se pierde tiempo, puede faltar información al momento de atender y se pueden duplicar datos.</a:t>
            </a:r>
          </a:p>
          <a:p xmlns:a="http://schemas.openxmlformats.org/drawingml/2006/main">
            <a:r>
              <a:t/>
            </a:r>
          </a:p>
          <a:p xmlns:a="http://schemas.openxmlformats.org/drawingml/2006/main">
            <a:r>
              <a:t>El objetivo de la aplicación es digitalizar y centralizar estos procesos: clientes, mascotas, turnos y consultas médicas. De esa forma, cada usuario accede a lo que necesita según su 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flujo principal es simple: primero el cliente registra su mascota. Luego consulta disponibilidad y solicita un turno. Cuando llega el momento de la atención, el veterinario abre el turno y consulta los antecedentes. Finalmente registra la consulta y esa información queda asociada al historial médico.</a:t>
            </a:r>
          </a:p>
          <a:p xmlns:a="http://schemas.openxmlformats.org/drawingml/2006/main">
            <a:r>
              <a:t/>
            </a:r>
          </a:p>
          <a:p xmlns:a="http://schemas.openxmlformats.org/drawingml/2006/main">
            <a:r>
              <a:t>Este flujo nos marca funciones críticas. Por ejemplo, el sistema no puede permitir dos turnos para el mismo veterinario en el mismo horario, y tampoco puede guardar una consulta médica a medias. Por eso aparecen requerimientos de rendimiento, disponibilidad, protección y seguridad.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partir de ese contexto definimos tres tipos de usuarios. El cliente es el dueño de una o más mascotas. Necesita registrarlas, pedir turnos, cambiar horarios y consultar información histórica.</a:t>
            </a:r>
          </a:p>
          <a:p xmlns:a="http://schemas.openxmlformats.org/drawingml/2006/main">
            <a:r>
              <a:t/>
            </a:r>
          </a:p>
          <a:p xmlns:a="http://schemas.openxmlformats.org/drawingml/2006/main">
            <a:r>
              <a:t>El veterinario necesita ver su agenda, abrir el historial de la mascota y registrar la atención. Esto incluye diagnóstico, observaciones, tratamiento y recomendaciones.</a:t>
            </a:r>
          </a:p>
          <a:p xmlns:a="http://schemas.openxmlformats.org/drawingml/2006/main">
            <a:r>
              <a:t/>
            </a:r>
          </a:p>
          <a:p xmlns:a="http://schemas.openxmlformats.org/drawingml/2006/main">
            <a:r>
              <a:t>El administrador mantiene la operación general: carga veterinarios, configura horarios disponibles, gestiona usuarios y administra turnos. Estas historias nos permiten después justificar los requerimientos no funcionales.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contexto es una clínica veterinaria que atiende mascotas todos los días. Hoy, muchas clínicas pueden manejar turnos por llamadas, mensajes o planillas, y los historiales médicos pueden quedar separados. Eso genera problemas: se pierde tiempo, puede faltar información al momento de atender y se pueden duplicar datos.</a:t>
            </a:r>
          </a:p>
          <a:p xmlns:a="http://schemas.openxmlformats.org/drawingml/2006/main">
            <a:r>
              <a:t/>
            </a:r>
          </a:p>
          <a:p xmlns:a="http://schemas.openxmlformats.org/drawingml/2006/main">
            <a:r>
              <a:t>El objetivo de la aplicación es digitalizar y centralizar estos procesos: clientes, mascotas, turnos y consultas médicas. De esa forma, cada usuario accede a lo que necesita según su 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contexto es una clínica veterinaria que atiende mascotas todos los días. Hoy, muchas clínicas pueden manejar turnos por llamadas, mensajes o planillas, y los historiales médicos pueden quedar separados. Eso genera problemas: se pierde tiempo, puede faltar información al momento de atender y se pueden duplicar datos.</a:t>
            </a:r>
          </a:p>
          <a:p xmlns:a="http://schemas.openxmlformats.org/drawingml/2006/main">
            <a:r>
              <a:t/>
            </a:r>
          </a:p>
          <a:p xmlns:a="http://schemas.openxmlformats.org/drawingml/2006/main">
            <a:r>
              <a:t>El objetivo de la aplicación es digitalizar y centralizar estos procesos: clientes, mascotas, turnos y consultas médicas. De esa forma, cada usuario accede a lo que necesita según su 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flujo principal es simple: primero el cliente registra su mascota. Luego consulta disponibilidad y solicita un turno. Cuando llega el momento de la atención, el veterinario abre el turno y consulta los antecedentes. Finalmente registra la consulta y esa información queda asociada al historial médico.</a:t>
            </a:r>
          </a:p>
          <a:p xmlns:a="http://schemas.openxmlformats.org/drawingml/2006/main">
            <a:r>
              <a:t/>
            </a:r>
          </a:p>
          <a:p xmlns:a="http://schemas.openxmlformats.org/drawingml/2006/main">
            <a:r>
              <a:t>Este flujo nos marca funciones críticas. Por ejemplo, el sistema no puede permitir dos turnos para el mismo veterinario en el mismo horario, y tampoco puede guardar una consulta médica a medias. Por eso aparecen requerimientos de rendimiento, disponibilidad, protección y seguridad.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flujo principal es simple: primero el cliente registra su mascota. Luego consulta disponibilidad y solicita un turno. Cuando llega el momento de la atención, el veterinario abre el turno y consulta los antecedentes. Finalmente registra la consulta y esa información queda asociada al historial médico.</a:t>
            </a:r>
          </a:p>
          <a:p xmlns:a="http://schemas.openxmlformats.org/drawingml/2006/main">
            <a:r>
              <a:t/>
            </a:r>
          </a:p>
          <a:p xmlns:a="http://schemas.openxmlformats.org/drawingml/2006/main">
            <a:r>
              <a:t>Este flujo nos marca funciones críticas. Por ejemplo, el sistema no puede permitir dos turnos para el mismo veterinario en el mismo horario, y tampoco puede guardar una consulta médica a medias. Por eso aparecen requerimientos de rendimiento, disponibilidad, protección y seguridad.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1f60260c1e4e7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ac7d51120084e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28b12fb8551401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e158ed366774df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e980300bbe244b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b4fafccb1db4a7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0ed642ab99c431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bc03d6ed80241a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d3e67433ca346f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2bfbd6b205c464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e8cba2f7d49442a"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077277-2909-47BF-9189-685888A851FC}"/>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FDCC3A95-A8AE-43C4-A811-8B2AACDA5943}"/>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9894ECF4-5B28-4E2D-B686-2CD8318BF8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7CBABA5B-1609-42A2-A9C3-6F529847A91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CE91576-21AF-430E-9C90-1C5680E8859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5425F9-F25E-4146-BD30-C77FB05597F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55A9AA65-D0A2-4DD7-95DD-7FA6DB104D1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0AA9DA6-1041-4D84-A6DE-67CAE1E1999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973991E2-1358-4D89-8A59-BC4ADC92F8B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AEBB6B6-EB1B-4396-86B7-292A1F4CA09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EA99EA0-FDE9-4B6E-9284-471238911FB0}"/>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9823D84-5DE9-427E-B4A0-05DD4ECCF880}"/>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2321B0B-DA98-409C-A615-44A11FC7775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8E311201-643B-4907-9C6C-C9D948F4C3B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ED557DB-4881-4F3C-8CEB-F747A6310A9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7F9D777-B570-490A-BB83-1E79FB8E15C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2D5F91A-9C9E-4771-B8AA-807AC4B03255}"/>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78AE66D7-D61C-4F29-8478-156DBD80AB3B}"/>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EB6DC2CC-7B4B-413F-B81B-D07CCCE4D5B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FAAE172A-DF11-4540-8555-ADA162D995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05C28A7-EF7C-4136-B930-5AFACC7E20E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8A68A11-2A46-4FF6-98A2-ABFDBBE39ED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D89BC6A-B466-4764-AEDD-7555B544D770}"/>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FD693355-C36C-43E1-80FA-E1C2FB233B84}"/>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11078E40-C1A9-443F-B866-6784BE21D62B}"/>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1F28A5D6-A061-4FA9-BE78-7F126981CC0B}"/>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C9A8BA86-EA31-4D4E-B554-F21069B25C7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D83EA7F4-B72A-4AF5-9CC8-3BFD06006E6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714B9699-2912-4CD1-BCDA-9CCB8A0F359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CFFB4EC-D86C-4726-95DE-74346DAC105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824A0C4E-18A9-446A-9DD1-4DA78E6B018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49EC3ABE-A7E3-4B4E-9372-2E23993CD6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2D06421B-4879-4A37-89A1-203F4F4AA64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6AD4CF7-EA6E-4572-BE2D-D3F949409B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DF9178E2-6E34-4B5F-912B-EE88B91D9B8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5044F99E-5CE9-4543-937D-E702268A081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6E82DE7-BEE3-4F8D-B0FA-C3B87BB63E39}"/>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04F130EE-A5A6-4398-A7EC-D6933829BF45}"/>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711540C3-440A-4715-917E-081C41DE1122}"/>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1A0D168B-0C62-42BB-A50C-0EEAEDA5D0E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1E372241-00FE-43A2-8245-148DA673CA9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B14903F-D5C3-43AF-A687-C564628492E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FA74352-9CD0-4C6F-86F1-67A0F9B6BBF5}"/>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95AA3528-9110-40C2-8B7B-C1E5DC438A0D}"/>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720F7C47-523A-4FDF-8715-B65BE1DAD09A}"/>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099E32A-AC9C-4DBB-8B64-4BA27BC459A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3C5D4D42-078F-4F76-A9E8-DAF1F1EF6EC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1E3DFD6-F393-48C5-B8FB-7F1D850966C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2734BD6-0242-47DF-AD13-73D701B47AD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A714114C-50E3-4311-A3BF-7AC2D5298E4A}"/>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C84F72F-079A-40B3-AE1C-2E412F71D20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CF5C4A72-99AD-483E-9CD6-4E23739347E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B1F9BB6-02A4-4B86-977F-5154D784601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6475D6EB-0417-4170-B02A-5F637A4362B8}"/>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A2D5C057-DB57-46CB-9A33-0A388924D37A}"/>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214577C-B8D4-49F0-8CF5-A5F5F191CBF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4FE8AA42-A8B1-4961-89D6-7789A0DC3F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883B620-1011-4160-85DC-B3D68C770E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74c866e2a94514" /><Relationship Type="http://schemas.openxmlformats.org/officeDocument/2006/relationships/slideLayout" Target="/ppt/slideLayouts/slideLayout1.xml" Id="R3f8ee2158bef4208" /><Relationship Type="http://schemas.openxmlformats.org/officeDocument/2006/relationships/slideLayout" Target="/ppt/slideLayouts/slideLayout2.xml" Id="R19a7d4a347064fb3" /><Relationship Type="http://schemas.openxmlformats.org/officeDocument/2006/relationships/slideLayout" Target="/ppt/slideLayouts/slideLayout3.xml" Id="Rb31899470d5547a9" /><Relationship Type="http://schemas.openxmlformats.org/officeDocument/2006/relationships/slideLayout" Target="/ppt/slideLayouts/slideLayout4.xml" Id="R0822bb9a8c7d4bcf" /><Relationship Type="http://schemas.openxmlformats.org/officeDocument/2006/relationships/slideLayout" Target="/ppt/slideLayouts/slideLayout5.xml" Id="R65e324a37f634940" /><Relationship Type="http://schemas.openxmlformats.org/officeDocument/2006/relationships/slideLayout" Target="/ppt/slideLayouts/slideLayout6.xml" Id="R7e8036ffed9f4234" /><Relationship Type="http://schemas.openxmlformats.org/officeDocument/2006/relationships/slideLayout" Target="/ppt/slideLayouts/slideLayout7.xml" Id="R4a2ae0d4113c4ebc" /><Relationship Type="http://schemas.openxmlformats.org/officeDocument/2006/relationships/slideLayout" Target="/ppt/slideLayouts/slideLayout8.xml" Id="Rff4bb9b9233f4db9" /><Relationship Type="http://schemas.openxmlformats.org/officeDocument/2006/relationships/slideLayout" Target="/ppt/slideLayouts/slideLayout9.xml" Id="R71fe6780b6da483c" /><Relationship Type="http://schemas.openxmlformats.org/officeDocument/2006/relationships/slideLayout" Target="/ppt/slideLayouts/slideLayout10.xml" Id="R92b3d54b4a054c35" /><Relationship Type="http://schemas.openxmlformats.org/officeDocument/2006/relationships/slideLayout" Target="/ppt/slideLayouts/slideLayout11.xml" Id="Rf9bbaa4026624ff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7B3F64DC-D5D3-42A7-B329-C93A6EFC051B}"/>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90FEE78-F5FD-49D2-A133-8EEA4D540B80}"/>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252C28D-1C1C-42DA-BB9E-8CDB43AD32BA}"/>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081EB1E5-DFF8-48F2-BE39-9BBEF4DC71AC}"/>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5E61083-00AC-4BC1-9EF7-75DE32C94F5A}"/>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8ee2158bef4208"/>
    <p:sldLayoutId xmlns:r="http://schemas.openxmlformats.org/officeDocument/2006/relationships" id="2147483650" r:id="R19a7d4a347064fb3"/>
    <p:sldLayoutId xmlns:r="http://schemas.openxmlformats.org/officeDocument/2006/relationships" id="2147483651" r:id="Rb31899470d5547a9"/>
    <p:sldLayoutId xmlns:r="http://schemas.openxmlformats.org/officeDocument/2006/relationships" id="2147483652" r:id="R0822bb9a8c7d4bcf"/>
    <p:sldLayoutId xmlns:r="http://schemas.openxmlformats.org/officeDocument/2006/relationships" id="2147483653" r:id="R65e324a37f634940"/>
    <p:sldLayoutId xmlns:r="http://schemas.openxmlformats.org/officeDocument/2006/relationships" id="2147483654" r:id="R7e8036ffed9f4234"/>
    <p:sldLayoutId xmlns:r="http://schemas.openxmlformats.org/officeDocument/2006/relationships" id="2147483655" r:id="R4a2ae0d4113c4ebc"/>
    <p:sldLayoutId xmlns:r="http://schemas.openxmlformats.org/officeDocument/2006/relationships" id="2147483656" r:id="Rff4bb9b9233f4db9"/>
    <p:sldLayoutId xmlns:r="http://schemas.openxmlformats.org/officeDocument/2006/relationships" id="2147483657" r:id="R71fe6780b6da483c"/>
    <p:sldLayoutId xmlns:r="http://schemas.openxmlformats.org/officeDocument/2006/relationships" id="2147483658" r:id="R92b3d54b4a054c35"/>
    <p:sldLayoutId xmlns:r="http://schemas.openxmlformats.org/officeDocument/2006/relationships" id="2147483659" r:id="Rf9bbaa4026624ff6"/>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5b679fe8cc014d6a" /><Relationship Type="http://schemas.openxmlformats.org/officeDocument/2006/relationships/image" Target="/ppt/media/image.png" Id="R01aedd88a3654f92" /><Relationship Type="http://schemas.openxmlformats.org/officeDocument/2006/relationships/image" Target="/ppt/media/image.svg" Id="R1eb266257f4146a0" /><Relationship Type="http://schemas.openxmlformats.org/officeDocument/2006/relationships/image" Target="/ppt/media/image2.png" Id="R5e702731a17f4a13" /><Relationship Type="http://schemas.openxmlformats.org/officeDocument/2006/relationships/image" Target="/ppt/media/image2.svg" Id="Rd408836821c5449e" /><Relationship Type="http://schemas.openxmlformats.org/officeDocument/2006/relationships/image" Target="/ppt/media/image3.png" Id="Rba19fe48b5524677" /><Relationship Type="http://schemas.openxmlformats.org/officeDocument/2006/relationships/image" Target="/ppt/media/image3.svg" Id="Rbed462797ea346e7" /><Relationship Type="http://schemas.openxmlformats.org/officeDocument/2006/relationships/notesSlide" Target="/ppt/notesSlides/notesSlide1.xml" Id="R8b058347942642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0b9bb6974b764d01" /><Relationship Type="http://schemas.openxmlformats.org/officeDocument/2006/relationships/image" Target="/ppt/media/image.png" Id="R1c1eb7a59b4241d5" /><Relationship Type="http://schemas.openxmlformats.org/officeDocument/2006/relationships/image" Target="/ppt/media/image.svg" Id="Rc2684205bc694100" /><Relationship Type="http://schemas.openxmlformats.org/officeDocument/2006/relationships/image" Target="/ppt/media/image3.png" Id="Rcd864bb3383646cf" /><Relationship Type="http://schemas.openxmlformats.org/officeDocument/2006/relationships/image" Target="/ppt/media/image3.svg" Id="R36732d1bc21e4b9a" /><Relationship Type="http://schemas.openxmlformats.org/officeDocument/2006/relationships/notesSlide" Target="/ppt/notesSlides/notesSlide2.xml" Id="R43080309aa1747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18f09cc496b146a3" /><Relationship Type="http://schemas.openxmlformats.org/officeDocument/2006/relationships/image" Target="/ppt/media/image.png" Id="Rb42096984c9e41e7" /><Relationship Type="http://schemas.openxmlformats.org/officeDocument/2006/relationships/image" Target="/ppt/media/image.svg" Id="R1a3ed5b93ce44c8b" /><Relationship Type="http://schemas.openxmlformats.org/officeDocument/2006/relationships/image" Target="/ppt/media/image.jpeg" Id="Rc4bd63800c4a418b" /><Relationship Type="http://schemas.openxmlformats.org/officeDocument/2006/relationships/notesSlide" Target="/ppt/notesSlides/notesSlide3.xml" Id="R08c5cee16eab46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ac3ae103963745af" /><Relationship Type="http://schemas.openxmlformats.org/officeDocument/2006/relationships/image" Target="/ppt/media/image.png" Id="R65653d29ca944310" /><Relationship Type="http://schemas.openxmlformats.org/officeDocument/2006/relationships/image" Target="/ppt/media/image.svg" Id="Rf6ff18b63bf246fe" /><Relationship Type="http://schemas.openxmlformats.org/officeDocument/2006/relationships/image" Target="/ppt/media/image4.png" Id="Ra012d2274f3247ee" /><Relationship Type="http://schemas.openxmlformats.org/officeDocument/2006/relationships/image" Target="/ppt/media/image4.svg" Id="R4393be8c66a945c4" /><Relationship Type="http://schemas.openxmlformats.org/officeDocument/2006/relationships/image" Target="/ppt/media/image5.png" Id="Rec244cc049654686" /><Relationship Type="http://schemas.openxmlformats.org/officeDocument/2006/relationships/image" Target="/ppt/media/image5.svg" Id="R6c26d91aef094dc0" /><Relationship Type="http://schemas.openxmlformats.org/officeDocument/2006/relationships/notesSlide" Target="/ppt/notesSlides/notesSlide4.xml" Id="Rc2546d5f8ff84d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ec0bbb3abe5046ed" /><Relationship Type="http://schemas.openxmlformats.org/officeDocument/2006/relationships/image" Target="/ppt/media/image.png" Id="R884471e7b03949e1" /><Relationship Type="http://schemas.openxmlformats.org/officeDocument/2006/relationships/image" Target="/ppt/media/image.svg" Id="Rb95332ecfe8a4afe" /><Relationship Type="http://schemas.openxmlformats.org/officeDocument/2006/relationships/image" Target="/ppt/media/image6.png" Id="R0ed786a47b4645b0" /><Relationship Type="http://schemas.openxmlformats.org/officeDocument/2006/relationships/image" Target="/ppt/media/image6.svg" Id="Rcf09c6c2c569409c" /><Relationship Type="http://schemas.openxmlformats.org/officeDocument/2006/relationships/image" Target="/ppt/media/image7.png" Id="Rbe4518804eae4936" /><Relationship Type="http://schemas.openxmlformats.org/officeDocument/2006/relationships/image" Target="/ppt/media/image7.svg" Id="Ref8be4209ca54d34" /><Relationship Type="http://schemas.openxmlformats.org/officeDocument/2006/relationships/image" Target="/ppt/media/image8.png" Id="Rf95d8af4bee34560" /><Relationship Type="http://schemas.openxmlformats.org/officeDocument/2006/relationships/image" Target="/ppt/media/image8.svg" Id="R1faf1ba449d24b4c" /><Relationship Type="http://schemas.openxmlformats.org/officeDocument/2006/relationships/notesSlide" Target="/ppt/notesSlides/notesSlide5.xml" Id="Ra852815719584f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240a027bcd0246b5" /><Relationship Type="http://schemas.openxmlformats.org/officeDocument/2006/relationships/image" Target="/ppt/media/image.png" Id="R52b658548c0e4310" /><Relationship Type="http://schemas.openxmlformats.org/officeDocument/2006/relationships/image" Target="/ppt/media/image.svg" Id="Rff939dfe401e409d" /><Relationship Type="http://schemas.openxmlformats.org/officeDocument/2006/relationships/notesSlide" Target="/ppt/notesSlides/notesSlide6.xml" Id="R33c60f0d9afe4e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92b3608098d44531" /><Relationship Type="http://schemas.openxmlformats.org/officeDocument/2006/relationships/image" Target="/ppt/media/image.png" Id="R53127c82a4464791" /><Relationship Type="http://schemas.openxmlformats.org/officeDocument/2006/relationships/image" Target="/ppt/media/image.svg" Id="R07bd4507a98040ff" /><Relationship Type="http://schemas.openxmlformats.org/officeDocument/2006/relationships/image" Target="/ppt/media/image3.png" Id="R906167fdd8cb43bc" /><Relationship Type="http://schemas.openxmlformats.org/officeDocument/2006/relationships/image" Target="/ppt/media/image3.svg" Id="R02d54702c6af4e35" /><Relationship Type="http://schemas.openxmlformats.org/officeDocument/2006/relationships/notesSlide" Target="/ppt/notesSlides/notesSlide7.xml" Id="Ra055a834063e4f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e9de67d11ea343e2" /><Relationship Type="http://schemas.openxmlformats.org/officeDocument/2006/relationships/image" Target="/ppt/media/image.png" Id="Rbff57692ca4d483d" /><Relationship Type="http://schemas.openxmlformats.org/officeDocument/2006/relationships/image" Target="/ppt/media/image.svg" Id="R045e652b6e974a1b" /><Relationship Type="http://schemas.openxmlformats.org/officeDocument/2006/relationships/image" Target="/ppt/media/image3.png" Id="R1d364cc006c84590" /><Relationship Type="http://schemas.openxmlformats.org/officeDocument/2006/relationships/image" Target="/ppt/media/image3.svg" Id="R87529a4d444f401a" /><Relationship Type="http://schemas.openxmlformats.org/officeDocument/2006/relationships/notesSlide" Target="/ppt/notesSlides/notesSlide8.xml" Id="R2b0bd888253f455b"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7e28ab9a4c5d4c97" /><Relationship Type="http://schemas.openxmlformats.org/officeDocument/2006/relationships/image" Target="/ppt/media/image.png" Id="Rbd296ba959534156" /><Relationship Type="http://schemas.openxmlformats.org/officeDocument/2006/relationships/image" Target="/ppt/media/image.svg" Id="Rcdfd39fece4b4180" /><Relationship Type="http://schemas.openxmlformats.org/officeDocument/2006/relationships/image" Target="/ppt/media/image4.png" Id="R4ac98923c1144717" /><Relationship Type="http://schemas.openxmlformats.org/officeDocument/2006/relationships/image" Target="/ppt/media/image4.svg" Id="R878c751529c54a3f" /><Relationship Type="http://schemas.openxmlformats.org/officeDocument/2006/relationships/image" Target="/ppt/media/image5.png" Id="R1bf90bb11d1d4ee1" /><Relationship Type="http://schemas.openxmlformats.org/officeDocument/2006/relationships/image" Target="/ppt/media/image5.svg" Id="Ra4f57c9315e34e24" /><Relationship Type="http://schemas.openxmlformats.org/officeDocument/2006/relationships/notesSlide" Target="/ppt/notesSlides/notesSlide9.xml" Id="R30620a1ed9cd4b2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acdc8f826c4144b6" /><Relationship Type="http://schemas.openxmlformats.org/officeDocument/2006/relationships/image" Target="/ppt/media/image.png" Id="R6f21c821fd804dd7" /><Relationship Type="http://schemas.openxmlformats.org/officeDocument/2006/relationships/image" Target="/ppt/media/image.svg" Id="R072463bafa314ba4" /><Relationship Type="http://schemas.openxmlformats.org/officeDocument/2006/relationships/image" Target="/ppt/media/image4.png" Id="R483fd9b4fcc24cd3" /><Relationship Type="http://schemas.openxmlformats.org/officeDocument/2006/relationships/image" Target="/ppt/media/image4.svg" Id="R2a4e19fa9e4d4502" /><Relationship Type="http://schemas.openxmlformats.org/officeDocument/2006/relationships/image" Target="/ppt/media/image5.png" Id="R49235cf16d094695" /><Relationship Type="http://schemas.openxmlformats.org/officeDocument/2006/relationships/image" Target="/ppt/media/image5.svg" Id="R2d68c99eedbb443f" /><Relationship Type="http://schemas.openxmlformats.org/officeDocument/2006/relationships/notesSlide" Target="/ppt/notesSlides/notesSlide10.xml" Id="Rba767fc18d934a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2c0c88ca0fff45a4" /><Relationship Type="http://schemas.openxmlformats.org/officeDocument/2006/relationships/image" Target="/ppt/media/image.png" Id="R5d905dd852ed499f" /><Relationship Type="http://schemas.openxmlformats.org/officeDocument/2006/relationships/image" Target="/ppt/media/image.svg" Id="R28660e125843434f" /><Relationship Type="http://schemas.openxmlformats.org/officeDocument/2006/relationships/image" Target="/ppt/media/image.jpeg" Id="R99f3c54368c54663" /><Relationship Type="http://schemas.openxmlformats.org/officeDocument/2006/relationships/notesSlide" Target="/ppt/notesSlides/notesSlide11.xml" Id="R0aef234dde1b42b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a4317505844d4b47" /><Relationship Type="http://schemas.openxmlformats.org/officeDocument/2006/relationships/image" Target="/ppt/media/image.png" Id="R4eb98fe62ee74255" /><Relationship Type="http://schemas.openxmlformats.org/officeDocument/2006/relationships/image" Target="/ppt/media/image.svg" Id="Re2a74f1f6192484a" /><Relationship Type="http://schemas.openxmlformats.org/officeDocument/2006/relationships/image" Target="/ppt/media/image2.jpeg" Id="Rbfe14d1bc6e341e2" /><Relationship Type="http://schemas.openxmlformats.org/officeDocument/2006/relationships/notesSlide" Target="/ppt/notesSlides/notesSlide12.xml" Id="Ra7db022c52bd4d0c" /></Relationships>
</file>

<file path=ppt/slides/slide1.xml><?xml version="1.0" encoding="utf-8"?>
<p:sld xmlns:p="http://schemas.openxmlformats.org/presentationml/2006/main">
  <p:cSld>
    <p:bg>
      <p:bgPr>
        <a:solidFill xmlns:a="http://schemas.openxmlformats.org/drawingml/2006/main">
          <a:srgbClr val="022135"/>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FCD2C32E-52A5-445E-9C34-1CB7FAE771CC}"/>
              </a:ext>
            </a:extLst>
          </p:cNvPr>
          <p:cNvSpPr>
            <a:spLocks xmlns:a="http://schemas.openxmlformats.org/drawingml/2006/main" noGrp="1"/>
          </p:cNvSpPr>
          <p:nvPr/>
        </p:nvSpPr>
        <p:spPr>
          <a:xfrm xmlns:a="http://schemas.openxmlformats.org/drawingml/2006/main" rot="0" flipH="0" flipV="0">
            <a:off x="1028700" y="6167844"/>
            <a:ext cx="254200" cy="1162177"/>
          </a:xfrm>
          <a:custGeom xmlns:a="http://schemas.openxmlformats.org/drawingml/2006/main">
            <a:rect l="l" t="t" r="r" b="b"/>
            <a:pathLst>
              <a:path w="66950" h="306088">
                <a:moveTo>
                  <a:pt x="33475" y="0"/>
                </a:moveTo>
                <a:lnTo>
                  <a:pt x="33475" y="0"/>
                </a:lnTo>
                <a:cubicBezTo>
                  <a:pt x="42353" y="0"/>
                  <a:pt x="50868" y="3527"/>
                  <a:pt x="57145" y="9805"/>
                </a:cubicBezTo>
                <a:cubicBezTo>
                  <a:pt x="63423" y="16082"/>
                  <a:pt x="66950" y="24597"/>
                  <a:pt x="66950" y="33475"/>
                </a:cubicBezTo>
                <a:lnTo>
                  <a:pt x="66950" y="272613"/>
                </a:lnTo>
                <a:cubicBezTo>
                  <a:pt x="66950" y="291100"/>
                  <a:pt x="51963" y="306088"/>
                  <a:pt x="33475" y="306088"/>
                </a:cubicBezTo>
                <a:lnTo>
                  <a:pt x="33475" y="306088"/>
                </a:lnTo>
                <a:cubicBezTo>
                  <a:pt x="14987" y="306088"/>
                  <a:pt x="0" y="291100"/>
                  <a:pt x="0" y="272613"/>
                </a:cubicBezTo>
                <a:lnTo>
                  <a:pt x="0" y="33475"/>
                </a:lnTo>
                <a:cubicBezTo>
                  <a:pt x="0" y="14987"/>
                  <a:pt x="14987" y="0"/>
                  <a:pt x="33475" y="0"/>
                </a:cubicBezTo>
                <a:close/>
              </a:path>
            </a:pathLst>
          </a:custGeom>
          <a:solidFill xmlns:a="http://schemas.openxmlformats.org/drawingml/2006/main">
            <a:srgbClr val="FFFFFF"/>
          </a:solidFill>
        </p:spPr>
      </p:sp>
      <p:sp>
        <p:nvSpPr>
          <p:cNvPr id="4" name="TextBox 4">
            <a:extLst xmlns:a="http://schemas.openxmlformats.org/drawingml/2006/main">
              <a:ext uri="{FF2B5EF4-FFF2-40B4-BE49-F238E27FC236}">
                <a16:creationId xmlns:a16="http://schemas.microsoft.com/office/drawing/2014/main" id="{9BC823A1-696B-4B94-BD86-126EBEB233DA}"/>
              </a:ext>
            </a:extLst>
          </p:cNvPr>
          <p:cNvSpPr>
            <a:spLocks xmlns:a="http://schemas.openxmlformats.org/drawingml/2006/main" noGrp="1"/>
          </p:cNvSpPr>
          <p:nvPr/>
        </p:nvSpPr>
        <p:spPr>
          <a:xfrm xmlns:a="http://schemas.openxmlformats.org/drawingml/2006/main" rot="0" flipH="0" flipV="0">
            <a:off x="1028700" y="6023184"/>
            <a:ext cx="254200" cy="1306837"/>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spcBef>
                <a:spcPct val="0"/>
              </a:spcBef>
              <a:buNone/>
            </a:pPr>
          </a:p>
        </p:txBody>
      </p:sp>
      <p:sp>
        <p:nvSpPr>
          <p:cNvPr id="5" name="Freeform 5">
            <a:extLst xmlns:a="http://schemas.openxmlformats.org/drawingml/2006/main">
              <a:ext uri="{FF2B5EF4-FFF2-40B4-BE49-F238E27FC236}">
                <a16:creationId xmlns:a16="http://schemas.microsoft.com/office/drawing/2014/main" id="{53883F11-956B-4939-B682-7F49B3500DAA}"/>
              </a:ext>
            </a:extLst>
          </p:cNvPr>
          <p:cNvSpPr>
            <a:spLocks xmlns:a="http://schemas.openxmlformats.org/drawingml/2006/main" noGrp="1"/>
          </p:cNvSpPr>
          <p:nvPr/>
        </p:nvSpPr>
        <p:spPr>
          <a:xfrm xmlns:a="http://schemas.openxmlformats.org/drawingml/2006/main" rot="0" flipH="0" flipV="0">
            <a:off x="14954174" y="7197560"/>
            <a:ext cx="3746991" cy="3627755"/>
          </a:xfrm>
          <a:custGeom xmlns:a="http://schemas.openxmlformats.org/drawingml/2006/main">
            <a:rect l="l" t="t" r="r" b="b"/>
            <a:pathLst>
              <a:path w="3746991" h="3627755">
                <a:moveTo>
                  <a:pt x="0" y="0"/>
                </a:moveTo>
                <a:lnTo>
                  <a:pt x="3746991" y="0"/>
                </a:lnTo>
                <a:lnTo>
                  <a:pt x="3746991" y="3627755"/>
                </a:lnTo>
                <a:lnTo>
                  <a:pt x="0" y="3627755"/>
                </a:lnTo>
                <a:lnTo>
                  <a:pt x="0" y="0"/>
                </a:lnTo>
                <a:close/>
              </a:path>
            </a:pathLst>
          </a:custGeom>
          <a:blipFill xmlns:a="http://schemas.openxmlformats.org/drawingml/2006/main">
            <a:blip xmlns:r="http://schemas.openxmlformats.org/officeDocument/2006/relationships" r:embed="R01aedd88a3654f92">
              <a:extLst>
                <a:ext uri="{96DAC541-7B7A-43D3-8B79-37D633B846F1}">
                  <asvg:svgBlip xmlns:asvg="http://schemas.microsoft.com/office/drawing/2016/SVG/main" r:embed="R1eb266257f4146a0"/>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EAD051AE-682A-46E1-AD70-CAF2B394E57A}"/>
              </a:ext>
            </a:extLst>
          </p:cNvPr>
          <p:cNvSpPr>
            <a:spLocks xmlns:a="http://schemas.openxmlformats.org/drawingml/2006/main" noGrp="1"/>
          </p:cNvSpPr>
          <p:nvPr/>
        </p:nvSpPr>
        <p:spPr>
          <a:xfrm xmlns:a="http://schemas.openxmlformats.org/drawingml/2006/main" rot="0" flipH="1" flipV="0">
            <a:off x="8200407" y="1080998"/>
            <a:ext cx="2249680" cy="2178091"/>
          </a:xfrm>
          <a:custGeom xmlns:a="http://schemas.openxmlformats.org/drawingml/2006/main">
            <a:rect l="l" t="t" r="r" b="b"/>
            <a:pathLst>
              <a:path w="2249680" h="2178091">
                <a:moveTo>
                  <a:pt x="2249680" y="0"/>
                </a:moveTo>
                <a:lnTo>
                  <a:pt x="0" y="0"/>
                </a:lnTo>
                <a:lnTo>
                  <a:pt x="0" y="2178091"/>
                </a:lnTo>
                <a:lnTo>
                  <a:pt x="2249680" y="2178091"/>
                </a:lnTo>
                <a:lnTo>
                  <a:pt x="2249680" y="0"/>
                </a:lnTo>
                <a:close/>
              </a:path>
            </a:pathLst>
          </a:custGeom>
          <a:blipFill xmlns:a="http://schemas.openxmlformats.org/drawingml/2006/main">
            <a:blip xmlns:r="http://schemas.openxmlformats.org/officeDocument/2006/relationships" r:embed="R01aedd88a3654f92">
              <a:extLst>
                <a:ext uri="{96DAC541-7B7A-43D3-8B79-37D633B846F1}">
                  <asvg:svgBlip xmlns:asvg="http://schemas.microsoft.com/office/drawing/2016/SVG/main" r:embed="R1eb266257f4146a0"/>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224DB13D-15C2-4EB2-9AFE-A06D271910C8}"/>
              </a:ext>
            </a:extLst>
          </p:cNvPr>
          <p:cNvSpPr>
            <a:spLocks xmlns:a="http://schemas.openxmlformats.org/drawingml/2006/main" noGrp="1"/>
          </p:cNvSpPr>
          <p:nvPr/>
        </p:nvSpPr>
        <p:spPr>
          <a:xfrm xmlns:a="http://schemas.openxmlformats.org/drawingml/2006/main" rot="0" flipH="0" flipV="0">
            <a:off x="10161875" y="1701003"/>
            <a:ext cx="5935913" cy="7557297"/>
          </a:xfrm>
          <a:custGeom xmlns:a="http://schemas.openxmlformats.org/drawingml/2006/main">
            <a:rect l="l" t="t" r="r" b="b"/>
            <a:pathLst>
              <a:path w="5935913" h="7557297">
                <a:moveTo>
                  <a:pt x="0" y="0"/>
                </a:moveTo>
                <a:lnTo>
                  <a:pt x="5935914" y="0"/>
                </a:lnTo>
                <a:lnTo>
                  <a:pt x="5935914" y="7557297"/>
                </a:lnTo>
                <a:lnTo>
                  <a:pt x="0" y="7557297"/>
                </a:lnTo>
                <a:lnTo>
                  <a:pt x="0" y="0"/>
                </a:lnTo>
                <a:close/>
              </a:path>
            </a:pathLst>
          </a:custGeom>
          <a:blipFill xmlns:a="http://schemas.openxmlformats.org/drawingml/2006/main">
            <a:blip xmlns:r="http://schemas.openxmlformats.org/officeDocument/2006/relationships" r:embed="R5e702731a17f4a13">
              <a:extLst>
                <a:ext uri="{96DAC541-7B7A-43D3-8B79-37D633B846F1}">
                  <asvg:svgBlip xmlns:asvg="http://schemas.microsoft.com/office/drawing/2016/SVG/main" r:embed="Rd408836821c5449e"/>
                </a:ext>
              </a:extLst>
            </a:blip>
            <a:stretch>
              <a:fillRect l="0" t="0" r="0" b="0"/>
            </a:stretch>
          </a:blipFill>
        </p:spPr>
      </p:sp>
      <p:sp>
        <p:nvSpPr>
          <p:cNvPr id="8" name="Freeform 8">
            <a:extLst xmlns:a="http://schemas.openxmlformats.org/drawingml/2006/main">
              <a:ext uri="{FF2B5EF4-FFF2-40B4-BE49-F238E27FC236}">
                <a16:creationId xmlns:a16="http://schemas.microsoft.com/office/drawing/2014/main" id="{E1A99F6F-CB4E-475E-991A-4D4FEB390C89}"/>
              </a:ext>
            </a:extLst>
          </p:cNvPr>
          <p:cNvSpPr>
            <a:spLocks xmlns:a="http://schemas.openxmlformats.org/drawingml/2006/main" noGrp="1"/>
          </p:cNvSpPr>
          <p:nvPr/>
        </p:nvSpPr>
        <p:spPr>
          <a:xfrm xmlns:a="http://schemas.openxmlformats.org/drawingml/2006/main" rot="0" flipH="0" flipV="0">
            <a:off x="10828978" y="3417404"/>
            <a:ext cx="1410345" cy="1365465"/>
          </a:xfrm>
          <a:custGeom xmlns:a="http://schemas.openxmlformats.org/drawingml/2006/main">
            <a:rect l="l" t="t" r="r" b="b"/>
            <a:pathLst>
              <a:path w="1410345" h="1365465">
                <a:moveTo>
                  <a:pt x="0" y="0"/>
                </a:moveTo>
                <a:lnTo>
                  <a:pt x="1410345" y="0"/>
                </a:lnTo>
                <a:lnTo>
                  <a:pt x="1410345" y="1365466"/>
                </a:lnTo>
                <a:lnTo>
                  <a:pt x="0" y="1365466"/>
                </a:lnTo>
                <a:lnTo>
                  <a:pt x="0" y="0"/>
                </a:lnTo>
                <a:close/>
              </a:path>
            </a:pathLst>
          </a:custGeom>
          <a:blipFill xmlns:a="http://schemas.openxmlformats.org/drawingml/2006/main">
            <a:blip xmlns:r="http://schemas.openxmlformats.org/officeDocument/2006/relationships" r:embed="Rba19fe48b5524677">
              <a:extLst>
                <a:ext uri="{96DAC541-7B7A-43D3-8B79-37D633B846F1}">
                  <asvg:svgBlip xmlns:asvg="http://schemas.microsoft.com/office/drawing/2016/SVG/main" r:embed="Rbed462797ea346e7"/>
                </a:ext>
              </a:extLst>
            </a:blip>
            <a:stretch>
              <a:fillRect l="0" t="0" r="0" b="0"/>
            </a:stretch>
          </a:blipFill>
        </p:spPr>
      </p:sp>
      <p:sp>
        <p:nvSpPr>
          <p:cNvPr id="9" name="TextBox 9">
            <a:extLst xmlns:a="http://schemas.openxmlformats.org/drawingml/2006/main">
              <a:ext uri="{FF2B5EF4-FFF2-40B4-BE49-F238E27FC236}">
                <a16:creationId xmlns:a16="http://schemas.microsoft.com/office/drawing/2014/main" id="{33366370-BAE0-4936-A0FE-F1B6886800DA}"/>
              </a:ext>
            </a:extLst>
          </p:cNvPr>
          <p:cNvSpPr>
            <a:spLocks xmlns:a="http://schemas.openxmlformats.org/drawingml/2006/main" noGrp="1"/>
          </p:cNvSpPr>
          <p:nvPr/>
        </p:nvSpPr>
        <p:spPr>
          <a:xfrm xmlns:a="http://schemas.openxmlformats.org/drawingml/2006/main" rot="0">
            <a:off x="1028700" y="4458952"/>
            <a:ext cx="7744715" cy="155089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12692"/>
              </a:lnSpc>
              <a:spcBef>
                <a:spcPct val="0"/>
              </a:spcBef>
              <a:buNone/>
            </a:pPr>
            <a:r>
              <a:rPr sz="9066" b="1">
                <a:solidFill>
                  <a:srgbClr val="FFFFFF"/>
                </a:solidFill>
                <a:latin typeface="Bricolage Grotesque Bold"/>
                <a:ea typeface="Bricolage Grotesque Bold"/>
                <a:cs typeface="Bricolage Grotesque Bold"/>
              </a:rPr>
              <a:t>Pet - Core</a:t>
            </a:r>
          </a:p>
        </p:txBody>
      </p:sp>
      <p:sp>
        <p:nvSpPr>
          <p:cNvPr id="10" name="TextBox 10">
            <a:extLst xmlns:a="http://schemas.openxmlformats.org/drawingml/2006/main">
              <a:ext uri="{FF2B5EF4-FFF2-40B4-BE49-F238E27FC236}">
                <a16:creationId xmlns:a16="http://schemas.microsoft.com/office/drawing/2014/main" id="{FB34AAE5-43B4-4AF5-B681-86A6CC6FAFE5}"/>
              </a:ext>
            </a:extLst>
          </p:cNvPr>
          <p:cNvSpPr>
            <a:spLocks xmlns:a="http://schemas.openxmlformats.org/drawingml/2006/main" noGrp="1"/>
          </p:cNvSpPr>
          <p:nvPr/>
        </p:nvSpPr>
        <p:spPr>
          <a:xfrm xmlns:a="http://schemas.openxmlformats.org/drawingml/2006/main" rot="0">
            <a:off x="1471297" y="6466103"/>
            <a:ext cx="7853951" cy="73145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997"/>
              </a:lnSpc>
              <a:spcBef>
                <a:spcPct val="0"/>
              </a:spcBef>
              <a:buNone/>
            </a:pPr>
            <a:r>
              <a:rPr sz="2141">
                <a:solidFill>
                  <a:srgbClr val="FFFFFF"/>
                </a:solidFill>
                <a:latin typeface="Inter"/>
                <a:ea typeface="Inter"/>
                <a:cs typeface="Inter"/>
              </a:rPr>
              <a:t>Constanza Blanco, Manuel Cabrera, Diego de Oliveira, Martin Mujica</a:t>
            </a:r>
          </a:p>
        </p:txBody>
      </p:sp>
      <p:sp>
        <p:nvSpPr>
          <p:cNvPr id="11" name="TextBox 11">
            <a:extLst xmlns:a="http://schemas.openxmlformats.org/drawingml/2006/main">
              <a:ext uri="{FF2B5EF4-FFF2-40B4-BE49-F238E27FC236}">
                <a16:creationId xmlns:a16="http://schemas.microsoft.com/office/drawing/2014/main" id="{968006A8-E9E5-4947-91CF-6D123CFCCE33}"/>
              </a:ext>
            </a:extLst>
          </p:cNvPr>
          <p:cNvSpPr>
            <a:spLocks xmlns:a="http://schemas.openxmlformats.org/drawingml/2006/main" noGrp="1"/>
          </p:cNvSpPr>
          <p:nvPr/>
        </p:nvSpPr>
        <p:spPr>
          <a:xfrm xmlns:a="http://schemas.openxmlformats.org/drawingml/2006/main" rot="0">
            <a:off x="1028700" y="990600"/>
            <a:ext cx="4403092" cy="35628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940"/>
              </a:lnSpc>
              <a:spcBef>
                <a:spcPct val="0"/>
              </a:spcBef>
              <a:buNone/>
            </a:pPr>
            <a:r>
              <a:rPr sz="2100" b="1">
                <a:solidFill>
                  <a:srgbClr val="FFFFFF"/>
                </a:solidFill>
                <a:latin typeface="Inter Medium"/>
                <a:ea typeface="Inter Medium"/>
                <a:cs typeface="Inter Medium"/>
              </a:rPr>
              <a:t>Grupo Rendimiento (que no rinde)</a:t>
            </a:r>
          </a:p>
        </p:txBody>
      </p:sp>
      <p:sp>
        <p:nvSpPr>
          <p:cNvPr id="13" name="AutoShape 13">
            <a:extLst xmlns:a="http://schemas.openxmlformats.org/drawingml/2006/main">
              <a:ext uri="{FF2B5EF4-FFF2-40B4-BE49-F238E27FC236}">
                <a16:creationId xmlns:a16="http://schemas.microsoft.com/office/drawing/2014/main" id="{CA3BB544-4426-4201-A49A-83D42EF9CD8F}"/>
              </a:ext>
            </a:extLst>
          </p:cNvPr>
          <p:cNvSpPr>
            <a:spLocks xmlns:a="http://schemas.openxmlformats.org/drawingml/2006/main" noGrp="1"/>
          </p:cNvSpPr>
          <p:nvPr/>
        </p:nvSpPr>
        <p:spPr>
          <a:xfrm xmlns:a="http://schemas.openxmlformats.org/drawingml/2006/main" rot="0" flipH="0" flipV="0">
            <a:off x="16827670" y="10477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14" name="AutoShape 14">
            <a:extLst xmlns:a="http://schemas.openxmlformats.org/drawingml/2006/main">
              <a:ext uri="{FF2B5EF4-FFF2-40B4-BE49-F238E27FC236}">
                <a16:creationId xmlns:a16="http://schemas.microsoft.com/office/drawing/2014/main" id="{118F468F-9B76-4C54-87F4-6B3CF55CF2F8}"/>
              </a:ext>
            </a:extLst>
          </p:cNvPr>
          <p:cNvSpPr>
            <a:spLocks xmlns:a="http://schemas.openxmlformats.org/drawingml/2006/main" noGrp="1"/>
          </p:cNvSpPr>
          <p:nvPr/>
        </p:nvSpPr>
        <p:spPr>
          <a:xfrm xmlns:a="http://schemas.openxmlformats.org/drawingml/2006/main" rot="0" flipH="0" flipV="0">
            <a:off x="16827670" y="12001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15" name="AutoShape 15">
            <a:extLst xmlns:a="http://schemas.openxmlformats.org/drawingml/2006/main">
              <a:ext uri="{FF2B5EF4-FFF2-40B4-BE49-F238E27FC236}">
                <a16:creationId xmlns:a16="http://schemas.microsoft.com/office/drawing/2014/main" id="{51050509-5C3E-4FBC-A013-A25849F57E94}"/>
              </a:ext>
            </a:extLst>
          </p:cNvPr>
          <p:cNvSpPr>
            <a:spLocks xmlns:a="http://schemas.openxmlformats.org/drawingml/2006/main" noGrp="1"/>
          </p:cNvSpPr>
          <p:nvPr/>
        </p:nvSpPr>
        <p:spPr>
          <a:xfrm xmlns:a="http://schemas.openxmlformats.org/drawingml/2006/main" rot="0" flipH="0" flipV="0">
            <a:off x="16827670" y="13525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Tree>
    <p:extLst>
      <p:ext uri="{BB962C8B-B14F-4D97-AF65-F5344CB8AC3E}">
        <p14:creationId xmlns:p14="http://schemas.microsoft.com/office/powerpoint/2010/main" val="594436869"/>
      </p:ext>
    </p:extLst>
  </p:cSld>
</p:sld>
</file>

<file path=ppt/slides/slide2.xml><?xml version="1.0" encoding="utf-8"?>
<p:sld xmlns:p="http://schemas.openxmlformats.org/presentationml/2006/main">
  <p:cSld>
    <p:bg>
      <p:bgPr>
        <a:solidFill xmlns:a="http://schemas.openxmlformats.org/drawingml/2006/main">
          <a:srgbClr val="022135"/>
        </a:solidFill>
      </p:bgPr>
    </p:bg>
    <p:spTree>
      <p:nvGrpSpPr>
        <p:cNvPr id="1" name=""/>
        <p:cNvGrpSpPr/>
        <p:nvPr/>
      </p:nvGrpSpPr>
      <p:grpSpPr>
        <a:xfrm xmlns:a="http://schemas.openxmlformats.org/drawingml/2006/main"/>
      </p:grpSpPr>
      <p:sp>
        <p:nvSpPr>
          <p:cNvPr id="3" name="AutoShape 3">
            <a:extLst xmlns:a="http://schemas.openxmlformats.org/drawingml/2006/main">
              <a:ext uri="{FF2B5EF4-FFF2-40B4-BE49-F238E27FC236}">
                <a16:creationId xmlns:a16="http://schemas.microsoft.com/office/drawing/2014/main" id="{3644F7A7-0BFA-47A8-AA41-9C773B45DF07}"/>
              </a:ext>
            </a:extLst>
          </p:cNvPr>
          <p:cNvSpPr>
            <a:spLocks xmlns:a="http://schemas.openxmlformats.org/drawingml/2006/main" noGrp="1"/>
          </p:cNvSpPr>
          <p:nvPr/>
        </p:nvSpPr>
        <p:spPr>
          <a:xfrm xmlns:a="http://schemas.openxmlformats.org/drawingml/2006/main" rot="0" flipH="0" flipV="0">
            <a:off x="16827670" y="10477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4" name="AutoShape 4">
            <a:extLst xmlns:a="http://schemas.openxmlformats.org/drawingml/2006/main">
              <a:ext uri="{FF2B5EF4-FFF2-40B4-BE49-F238E27FC236}">
                <a16:creationId xmlns:a16="http://schemas.microsoft.com/office/drawing/2014/main" id="{C79319A3-1C5B-4396-9306-A724E4A86B42}"/>
              </a:ext>
            </a:extLst>
          </p:cNvPr>
          <p:cNvSpPr>
            <a:spLocks xmlns:a="http://schemas.openxmlformats.org/drawingml/2006/main" noGrp="1"/>
          </p:cNvSpPr>
          <p:nvPr/>
        </p:nvSpPr>
        <p:spPr>
          <a:xfrm xmlns:a="http://schemas.openxmlformats.org/drawingml/2006/main" rot="0" flipH="0" flipV="0">
            <a:off x="16827670" y="12001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5" name="AutoShape 5">
            <a:extLst xmlns:a="http://schemas.openxmlformats.org/drawingml/2006/main">
              <a:ext uri="{FF2B5EF4-FFF2-40B4-BE49-F238E27FC236}">
                <a16:creationId xmlns:a16="http://schemas.microsoft.com/office/drawing/2014/main" id="{A882B02C-2245-46B0-B787-3791ACC2D80F}"/>
              </a:ext>
            </a:extLst>
          </p:cNvPr>
          <p:cNvSpPr>
            <a:spLocks xmlns:a="http://schemas.openxmlformats.org/drawingml/2006/main" noGrp="1"/>
          </p:cNvSpPr>
          <p:nvPr/>
        </p:nvSpPr>
        <p:spPr>
          <a:xfrm xmlns:a="http://schemas.openxmlformats.org/drawingml/2006/main" rot="0" flipH="0" flipV="0">
            <a:off x="16827670" y="13525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7" name="TextBox 7">
            <a:extLst xmlns:a="http://schemas.openxmlformats.org/drawingml/2006/main">
              <a:ext uri="{FF2B5EF4-FFF2-40B4-BE49-F238E27FC236}">
                <a16:creationId xmlns:a16="http://schemas.microsoft.com/office/drawing/2014/main" id="{28C7502F-4068-4FB4-9540-7B07155EA0C5}"/>
              </a:ext>
            </a:extLst>
          </p:cNvPr>
          <p:cNvSpPr>
            <a:spLocks xmlns:a="http://schemas.openxmlformats.org/drawingml/2006/main" noGrp="1"/>
          </p:cNvSpPr>
          <p:nvPr/>
        </p:nvSpPr>
        <p:spPr>
          <a:xfrm xmlns:a="http://schemas.openxmlformats.org/drawingml/2006/main" rot="0" flipH="0" flipV="0">
            <a:off x="955400" y="3321349"/>
            <a:ext cx="7017108" cy="256460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10499"/>
              </a:lnSpc>
              <a:spcBef>
                <a:spcPct val="0"/>
              </a:spcBef>
              <a:buNone/>
            </a:pPr>
            <a:r>
              <a:rPr sz="7499" b="1">
                <a:solidFill>
                  <a:srgbClr val="FFFFFF"/>
                </a:solidFill>
                <a:latin typeface="Bricolage Grotesque Bold"/>
                <a:ea typeface="Bricolage Grotesque Bold"/>
                <a:cs typeface="Bricolage Grotesque Bold"/>
              </a:rPr>
              <a:t>¿Qué es Pet-Core?</a:t>
            </a:r>
          </a:p>
        </p:txBody>
      </p:sp>
      <p:sp>
        <p:nvSpPr>
          <p:cNvPr id="8" name="TextBox 8">
            <a:extLst xmlns:a="http://schemas.openxmlformats.org/drawingml/2006/main">
              <a:ext uri="{FF2B5EF4-FFF2-40B4-BE49-F238E27FC236}">
                <a16:creationId xmlns:a16="http://schemas.microsoft.com/office/drawing/2014/main" id="{A9ACAAA0-12BE-4D34-A546-1E21D35BE1EE}"/>
              </a:ext>
            </a:extLst>
          </p:cNvPr>
          <p:cNvSpPr>
            <a:spLocks xmlns:a="http://schemas.openxmlformats.org/drawingml/2006/main" noGrp="1"/>
          </p:cNvSpPr>
          <p:nvPr/>
        </p:nvSpPr>
        <p:spPr>
          <a:xfrm xmlns:a="http://schemas.openxmlformats.org/drawingml/2006/main" rot="0" flipH="0" flipV="0">
            <a:off x="955400" y="6204390"/>
            <a:ext cx="7017108" cy="37734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219"/>
              </a:lnSpc>
              <a:spcBef>
                <a:spcPct val="0"/>
              </a:spcBef>
              <a:buNone/>
            </a:pPr>
            <a:r>
              <a:rPr sz="2299">
                <a:solidFill>
                  <a:srgbClr val="FFFFFF"/>
                </a:solidFill>
                <a:latin typeface="Inter"/>
                <a:ea typeface="Inter"/>
                <a:cs typeface="Inter"/>
              </a:rPr>
              <a:t>Sistema de gestión para una clínica veterinaria</a:t>
            </a:r>
          </a:p>
        </p:txBody>
      </p:sp>
      <p:sp>
        <p:nvSpPr>
          <p:cNvPr id="9" name="Freeform 9">
            <a:extLst xmlns:a="http://schemas.openxmlformats.org/drawingml/2006/main">
              <a:ext uri="{FF2B5EF4-FFF2-40B4-BE49-F238E27FC236}">
                <a16:creationId xmlns:a16="http://schemas.microsoft.com/office/drawing/2014/main" id="{83F3B9D8-603C-4AAB-8B52-765B7D592FF9}"/>
              </a:ext>
            </a:extLst>
          </p:cNvPr>
          <p:cNvSpPr>
            <a:spLocks xmlns:a="http://schemas.openxmlformats.org/drawingml/2006/main" noGrp="1"/>
          </p:cNvSpPr>
          <p:nvPr/>
        </p:nvSpPr>
        <p:spPr>
          <a:xfrm xmlns:a="http://schemas.openxmlformats.org/drawingml/2006/main" rot="0" flipH="1" flipV="0">
            <a:off x="6352930" y="599065"/>
            <a:ext cx="3385756" cy="3278015"/>
          </a:xfrm>
          <a:custGeom xmlns:a="http://schemas.openxmlformats.org/drawingml/2006/main">
            <a:rect l="l" t="t" r="r" b="b"/>
            <a:pathLst>
              <a:path w="3385756" h="3278015">
                <a:moveTo>
                  <a:pt x="3385756" y="0"/>
                </a:moveTo>
                <a:lnTo>
                  <a:pt x="0" y="0"/>
                </a:lnTo>
                <a:lnTo>
                  <a:pt x="0" y="3278015"/>
                </a:lnTo>
                <a:lnTo>
                  <a:pt x="3385756" y="3278015"/>
                </a:lnTo>
                <a:lnTo>
                  <a:pt x="3385756" y="0"/>
                </a:lnTo>
                <a:close/>
              </a:path>
            </a:pathLst>
          </a:custGeom>
          <a:blipFill xmlns:a="http://schemas.openxmlformats.org/drawingml/2006/main">
            <a:blip xmlns:r="http://schemas.openxmlformats.org/officeDocument/2006/relationships" r:embed="R1c1eb7a59b4241d5">
              <a:extLst>
                <a:ext uri="{96DAC541-7B7A-43D3-8B79-37D633B846F1}">
                  <asvg:svgBlip xmlns:asvg="http://schemas.microsoft.com/office/drawing/2016/SVG/main" r:embed="Rc2684205bc694100"/>
                </a:ext>
              </a:extLst>
            </a:blip>
            <a:stretch>
              <a:fillRect l="0" t="0" r="0" b="0"/>
            </a:stretch>
          </a:blipFill>
        </p:spPr>
      </p:sp>
      <p:sp>
        <p:nvSpPr>
          <p:cNvPr id="11" name="TextBox 11">
            <a:extLst xmlns:a="http://schemas.openxmlformats.org/drawingml/2006/main">
              <a:ext uri="{FF2B5EF4-FFF2-40B4-BE49-F238E27FC236}">
                <a16:creationId xmlns:a16="http://schemas.microsoft.com/office/drawing/2014/main" id="{4E2F1B5E-64AC-45EF-9090-8657BC764C90}"/>
              </a:ext>
            </a:extLst>
          </p:cNvPr>
          <p:cNvSpPr>
            <a:spLocks xmlns:a="http://schemas.openxmlformats.org/drawingml/2006/main" noGrp="1"/>
          </p:cNvSpPr>
          <p:nvPr/>
        </p:nvSpPr>
        <p:spPr>
          <a:xfrm xmlns:a="http://schemas.openxmlformats.org/drawingml/2006/main" rot="0" flipH="0" flipV="0">
            <a:off x="10343119" y="1784992"/>
            <a:ext cx="5463638" cy="53070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479"/>
              </a:lnSpc>
              <a:spcBef>
                <a:spcPct val="0"/>
              </a:spcBef>
              <a:buNone/>
            </a:pPr>
            <a:r>
              <a:rPr sz="3199" b="1">
                <a:solidFill>
                  <a:srgbClr val="FFFFFF"/>
                </a:solidFill>
                <a:latin typeface="Inter Bold"/>
                <a:ea typeface="Inter Bold"/>
                <a:cs typeface="Inter Bold"/>
              </a:rPr>
              <a:t>Centraliza 2 procesos</a:t>
            </a:r>
          </a:p>
        </p:txBody>
      </p:sp>
      <p:sp>
        <p:nvSpPr>
          <p:cNvPr id="12" name="TextBox 12">
            <a:extLst xmlns:a="http://schemas.openxmlformats.org/drawingml/2006/main">
              <a:ext uri="{FF2B5EF4-FFF2-40B4-BE49-F238E27FC236}">
                <a16:creationId xmlns:a16="http://schemas.microsoft.com/office/drawing/2014/main" id="{94509387-2CE7-4ABD-8CA8-F70DFCF41CD4}"/>
              </a:ext>
            </a:extLst>
          </p:cNvPr>
          <p:cNvSpPr>
            <a:spLocks xmlns:a="http://schemas.openxmlformats.org/drawingml/2006/main" noGrp="1"/>
          </p:cNvSpPr>
          <p:nvPr/>
        </p:nvSpPr>
        <p:spPr>
          <a:xfrm xmlns:a="http://schemas.openxmlformats.org/drawingml/2006/main" rot="0" flipH="0" flipV="0">
            <a:off x="10100986" y="2472494"/>
            <a:ext cx="6897554" cy="18721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582925" lvl="1" indent="-291463" algn="l">
              <a:lnSpc>
                <a:spcPts val="3779"/>
              </a:lnSpc>
              <a:buFont typeface="Arial"/>
              <a:buChar char="•"/>
            </a:pPr>
            <a:r>
              <a:rPr sz="2699">
                <a:solidFill>
                  <a:srgbClr val="FFFFFF"/>
                </a:solidFill>
                <a:latin typeface="Inter"/>
                <a:ea typeface="Inter"/>
                <a:cs typeface="Inter"/>
              </a:rPr>
              <a:t>Reserva de turnos e historial clínico de las mascotas.</a:t>
            </a:r>
          </a:p>
          <a:p xmlns:a="http://schemas.openxmlformats.org/drawingml/2006/main">
            <a:pPr marL="582925" lvl="1" indent="-291463" algn="l">
              <a:lnSpc>
                <a:spcPts val="3779"/>
              </a:lnSpc>
              <a:buFont typeface="Arial"/>
              <a:buChar char="•"/>
            </a:pPr>
            <a:r>
              <a:rPr sz="2699">
                <a:solidFill>
                  <a:srgbClr val="FFFFFF"/>
                </a:solidFill>
                <a:latin typeface="Inter"/>
                <a:ea typeface="Inter"/>
                <a:cs typeface="Inter"/>
              </a:rPr>
              <a:t>Actualmente estos procesos se manejas de manera dispersa</a:t>
            </a:r>
          </a:p>
        </p:txBody>
      </p:sp>
      <p:sp>
        <p:nvSpPr>
          <p:cNvPr id="14" name="Freeform 14">
            <a:extLst xmlns:a="http://schemas.openxmlformats.org/drawingml/2006/main">
              <a:ext uri="{FF2B5EF4-FFF2-40B4-BE49-F238E27FC236}">
                <a16:creationId xmlns:a16="http://schemas.microsoft.com/office/drawing/2014/main" id="{6B31E1B7-A636-440F-A524-450A8AD77423}"/>
              </a:ext>
            </a:extLst>
          </p:cNvPr>
          <p:cNvSpPr>
            <a:spLocks xmlns:a="http://schemas.openxmlformats.org/drawingml/2006/main" noGrp="1"/>
          </p:cNvSpPr>
          <p:nvPr/>
        </p:nvSpPr>
        <p:spPr>
          <a:xfrm xmlns:a="http://schemas.openxmlformats.org/drawingml/2006/main" rot="0" flipH="0" flipV="0">
            <a:off x="9840349" y="2315693"/>
            <a:ext cx="260637" cy="2505189"/>
          </a:xfrm>
          <a:custGeom xmlns:a="http://schemas.openxmlformats.org/drawingml/2006/main">
            <a:rect l="l" t="t" r="r" b="b"/>
            <a:pathLst>
              <a:path w="68645" h="659803">
                <a:moveTo>
                  <a:pt x="34323" y="0"/>
                </a:moveTo>
                <a:lnTo>
                  <a:pt x="34323" y="0"/>
                </a:lnTo>
                <a:cubicBezTo>
                  <a:pt x="43426" y="0"/>
                  <a:pt x="52156" y="3616"/>
                  <a:pt x="58592" y="10053"/>
                </a:cubicBezTo>
                <a:cubicBezTo>
                  <a:pt x="65029" y="16490"/>
                  <a:pt x="68645" y="25220"/>
                  <a:pt x="68645" y="34323"/>
                </a:cubicBezTo>
                <a:lnTo>
                  <a:pt x="68645" y="625480"/>
                </a:lnTo>
                <a:cubicBezTo>
                  <a:pt x="68645" y="644436"/>
                  <a:pt x="53279" y="659803"/>
                  <a:pt x="34323" y="659803"/>
                </a:cubicBezTo>
                <a:lnTo>
                  <a:pt x="34323" y="659803"/>
                </a:lnTo>
                <a:cubicBezTo>
                  <a:pt x="15367" y="659803"/>
                  <a:pt x="0" y="644436"/>
                  <a:pt x="0" y="625480"/>
                </a:cubicBezTo>
                <a:lnTo>
                  <a:pt x="0" y="34323"/>
                </a:lnTo>
                <a:cubicBezTo>
                  <a:pt x="0" y="15367"/>
                  <a:pt x="15367" y="0"/>
                  <a:pt x="34323" y="0"/>
                </a:cubicBezTo>
                <a:close/>
              </a:path>
            </a:pathLst>
          </a:custGeom>
          <a:solidFill xmlns:a="http://schemas.openxmlformats.org/drawingml/2006/main">
            <a:srgbClr val="FFFFFF"/>
          </a:solidFill>
        </p:spPr>
      </p:sp>
      <p:sp>
        <p:nvSpPr>
          <p:cNvPr id="15" name="TextBox 15">
            <a:extLst xmlns:a="http://schemas.openxmlformats.org/drawingml/2006/main">
              <a:ext uri="{FF2B5EF4-FFF2-40B4-BE49-F238E27FC236}">
                <a16:creationId xmlns:a16="http://schemas.microsoft.com/office/drawing/2014/main" id="{E2E0473D-C164-4EE3-ADD7-1101E290F9AC}"/>
              </a:ext>
            </a:extLst>
          </p:cNvPr>
          <p:cNvSpPr>
            <a:spLocks xmlns:a="http://schemas.openxmlformats.org/drawingml/2006/main" noGrp="1"/>
          </p:cNvSpPr>
          <p:nvPr/>
        </p:nvSpPr>
        <p:spPr>
          <a:xfrm xmlns:a="http://schemas.openxmlformats.org/drawingml/2006/main" rot="0" flipH="0" flipV="0">
            <a:off x="9840349" y="2171033"/>
            <a:ext cx="260637" cy="2649850"/>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spcBef>
                <a:spcPct val="0"/>
              </a:spcBef>
              <a:buNone/>
            </a:pPr>
          </a:p>
        </p:txBody>
      </p:sp>
      <p:sp>
        <p:nvSpPr>
          <p:cNvPr id="16" name="Freeform 16">
            <a:extLst xmlns:a="http://schemas.openxmlformats.org/drawingml/2006/main">
              <a:ext uri="{FF2B5EF4-FFF2-40B4-BE49-F238E27FC236}">
                <a16:creationId xmlns:a16="http://schemas.microsoft.com/office/drawing/2014/main" id="{652DBD1E-58E3-444C-B279-CC13AD0D6DF7}"/>
              </a:ext>
            </a:extLst>
          </p:cNvPr>
          <p:cNvSpPr>
            <a:spLocks xmlns:a="http://schemas.openxmlformats.org/drawingml/2006/main" noGrp="1"/>
          </p:cNvSpPr>
          <p:nvPr/>
        </p:nvSpPr>
        <p:spPr>
          <a:xfrm xmlns:a="http://schemas.openxmlformats.org/drawingml/2006/main" rot="0" flipH="0" flipV="0">
            <a:off x="4837421" y="7619293"/>
            <a:ext cx="3385756" cy="3278015"/>
          </a:xfrm>
          <a:custGeom xmlns:a="http://schemas.openxmlformats.org/drawingml/2006/main">
            <a:rect l="l" t="t" r="r" b="b"/>
            <a:pathLst>
              <a:path w="3385756" h="3278015">
                <a:moveTo>
                  <a:pt x="0" y="0"/>
                </a:moveTo>
                <a:lnTo>
                  <a:pt x="3385755" y="0"/>
                </a:lnTo>
                <a:lnTo>
                  <a:pt x="3385755" y="3278014"/>
                </a:lnTo>
                <a:lnTo>
                  <a:pt x="0" y="3278014"/>
                </a:lnTo>
                <a:lnTo>
                  <a:pt x="0" y="0"/>
                </a:lnTo>
                <a:close/>
              </a:path>
            </a:pathLst>
          </a:custGeom>
          <a:blipFill xmlns:a="http://schemas.openxmlformats.org/drawingml/2006/main">
            <a:blip xmlns:r="http://schemas.openxmlformats.org/officeDocument/2006/relationships" r:embed="R1c1eb7a59b4241d5">
              <a:extLst>
                <a:ext uri="{96DAC541-7B7A-43D3-8B79-37D633B846F1}">
                  <asvg:svgBlip xmlns:asvg="http://schemas.microsoft.com/office/drawing/2016/SVG/main" r:embed="Rc2684205bc694100"/>
                </a:ext>
              </a:extLst>
            </a:blip>
            <a:stretch>
              <a:fillRect l="0" t="0" r="0" b="0"/>
            </a:stretch>
          </a:blipFill>
        </p:spPr>
      </p:sp>
      <p:sp>
        <p:nvSpPr>
          <p:cNvPr id="17" name="Freeform 17">
            <a:extLst xmlns:a="http://schemas.openxmlformats.org/drawingml/2006/main">
              <a:ext uri="{FF2B5EF4-FFF2-40B4-BE49-F238E27FC236}">
                <a16:creationId xmlns:a16="http://schemas.microsoft.com/office/drawing/2014/main" id="{B3BC4C87-85D4-443A-89CA-F7C7675E891D}"/>
              </a:ext>
            </a:extLst>
          </p:cNvPr>
          <p:cNvSpPr>
            <a:spLocks xmlns:a="http://schemas.openxmlformats.org/drawingml/2006/main" noGrp="1"/>
          </p:cNvSpPr>
          <p:nvPr/>
        </p:nvSpPr>
        <p:spPr>
          <a:xfrm xmlns:a="http://schemas.openxmlformats.org/drawingml/2006/main" rot="0" flipH="1" flipV="0">
            <a:off x="1056012" y="8361045"/>
            <a:ext cx="926746" cy="897255"/>
          </a:xfrm>
          <a:custGeom xmlns:a="http://schemas.openxmlformats.org/drawingml/2006/main">
            <a:rect l="l" t="t" r="r" b="b"/>
            <a:pathLst>
              <a:path w="926746" h="897255">
                <a:moveTo>
                  <a:pt x="926746" y="0"/>
                </a:moveTo>
                <a:lnTo>
                  <a:pt x="0" y="0"/>
                </a:lnTo>
                <a:lnTo>
                  <a:pt x="0" y="897255"/>
                </a:lnTo>
                <a:lnTo>
                  <a:pt x="926746" y="897255"/>
                </a:lnTo>
                <a:lnTo>
                  <a:pt x="926746" y="0"/>
                </a:lnTo>
                <a:close/>
              </a:path>
            </a:pathLst>
          </a:custGeom>
          <a:blipFill xmlns:a="http://schemas.openxmlformats.org/drawingml/2006/main">
            <a:blip xmlns:r="http://schemas.openxmlformats.org/officeDocument/2006/relationships" r:embed="Rcd864bb3383646cf">
              <a:extLst>
                <a:ext uri="{96DAC541-7B7A-43D3-8B79-37D633B846F1}">
                  <asvg:svgBlip xmlns:asvg="http://schemas.microsoft.com/office/drawing/2016/SVG/main" r:embed="R36732d1bc21e4b9a"/>
                </a:ext>
              </a:extLst>
            </a:blip>
            <a:stretch>
              <a:fillRect l="0" t="0" r="0" b="0"/>
            </a:stretch>
          </a:blipFill>
        </p:spPr>
      </p:sp>
      <p:sp>
        <p:nvSpPr>
          <p:cNvPr id="20" name="Freeform 20">
            <a:extLst xmlns:a="http://schemas.openxmlformats.org/drawingml/2006/main">
              <a:ext uri="{FF2B5EF4-FFF2-40B4-BE49-F238E27FC236}">
                <a16:creationId xmlns:a16="http://schemas.microsoft.com/office/drawing/2014/main" id="{EAB3D4F8-B5A4-4A6E-BBCA-9FFE2F2AC116}"/>
              </a:ext>
            </a:extLst>
          </p:cNvPr>
          <p:cNvSpPr>
            <a:spLocks xmlns:a="http://schemas.openxmlformats.org/drawingml/2006/main" noGrp="1"/>
          </p:cNvSpPr>
          <p:nvPr/>
        </p:nvSpPr>
        <p:spPr>
          <a:xfrm xmlns:a="http://schemas.openxmlformats.org/drawingml/2006/main" rot="0" flipH="0" flipV="0">
            <a:off x="9858975" y="7201737"/>
            <a:ext cx="260637" cy="1995485"/>
          </a:xfrm>
          <a:custGeom xmlns:a="http://schemas.openxmlformats.org/drawingml/2006/main">
            <a:rect l="l" t="t" r="r" b="b"/>
            <a:pathLst>
              <a:path w="68645" h="525560">
                <a:moveTo>
                  <a:pt x="34323" y="0"/>
                </a:moveTo>
                <a:lnTo>
                  <a:pt x="34323" y="0"/>
                </a:lnTo>
                <a:cubicBezTo>
                  <a:pt x="43426" y="0"/>
                  <a:pt x="52156" y="3616"/>
                  <a:pt x="58592" y="10053"/>
                </a:cubicBezTo>
                <a:cubicBezTo>
                  <a:pt x="65029" y="16490"/>
                  <a:pt x="68645" y="25220"/>
                  <a:pt x="68645" y="34323"/>
                </a:cubicBezTo>
                <a:lnTo>
                  <a:pt x="68645" y="491237"/>
                </a:lnTo>
                <a:cubicBezTo>
                  <a:pt x="68645" y="510193"/>
                  <a:pt x="53279" y="525560"/>
                  <a:pt x="34323" y="525560"/>
                </a:cubicBezTo>
                <a:lnTo>
                  <a:pt x="34323" y="525560"/>
                </a:lnTo>
                <a:cubicBezTo>
                  <a:pt x="25220" y="525560"/>
                  <a:pt x="16490" y="521944"/>
                  <a:pt x="10053" y="515507"/>
                </a:cubicBezTo>
                <a:cubicBezTo>
                  <a:pt x="3616" y="509070"/>
                  <a:pt x="0" y="500340"/>
                  <a:pt x="0" y="491237"/>
                </a:cubicBezTo>
                <a:lnTo>
                  <a:pt x="0" y="34323"/>
                </a:lnTo>
                <a:cubicBezTo>
                  <a:pt x="0" y="15367"/>
                  <a:pt x="15367" y="0"/>
                  <a:pt x="34323" y="0"/>
                </a:cubicBezTo>
                <a:close/>
              </a:path>
            </a:pathLst>
          </a:custGeom>
          <a:solidFill xmlns:a="http://schemas.openxmlformats.org/drawingml/2006/main">
            <a:srgbClr val="FFFFFF"/>
          </a:solidFill>
        </p:spPr>
      </p:sp>
      <p:sp>
        <p:nvSpPr>
          <p:cNvPr id="21" name="TextBox 21">
            <a:extLst xmlns:a="http://schemas.openxmlformats.org/drawingml/2006/main">
              <a:ext uri="{FF2B5EF4-FFF2-40B4-BE49-F238E27FC236}">
                <a16:creationId xmlns:a16="http://schemas.microsoft.com/office/drawing/2014/main" id="{A1073F8F-3B20-4D36-8032-237F3B8FEAB1}"/>
              </a:ext>
            </a:extLst>
          </p:cNvPr>
          <p:cNvSpPr>
            <a:spLocks xmlns:a="http://schemas.openxmlformats.org/drawingml/2006/main" noGrp="1"/>
          </p:cNvSpPr>
          <p:nvPr/>
        </p:nvSpPr>
        <p:spPr>
          <a:xfrm xmlns:a="http://schemas.openxmlformats.org/drawingml/2006/main" rot="0" flipH="0" flipV="0">
            <a:off x="9858975" y="7057077"/>
            <a:ext cx="260637" cy="2140146"/>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spcBef>
                <a:spcPct val="0"/>
              </a:spcBef>
              <a:buNone/>
            </a:pPr>
          </a:p>
        </p:txBody>
      </p:sp>
      <p:sp>
        <p:nvSpPr>
          <p:cNvPr id="22" name="TextBox 22">
            <a:extLst xmlns:a="http://schemas.openxmlformats.org/drawingml/2006/main">
              <a:ext uri="{FF2B5EF4-FFF2-40B4-BE49-F238E27FC236}">
                <a16:creationId xmlns:a16="http://schemas.microsoft.com/office/drawing/2014/main" id="{178614A7-90FF-4E6E-A91F-D9B09F5E0AC2}"/>
              </a:ext>
            </a:extLst>
          </p:cNvPr>
          <p:cNvSpPr>
            <a:spLocks xmlns:a="http://schemas.openxmlformats.org/drawingml/2006/main" noGrp="1"/>
          </p:cNvSpPr>
          <p:nvPr/>
        </p:nvSpPr>
        <p:spPr>
          <a:xfrm xmlns:a="http://schemas.openxmlformats.org/drawingml/2006/main" rot="0" flipH="0" flipV="0">
            <a:off x="10361745" y="6671036"/>
            <a:ext cx="5463638" cy="53070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479"/>
              </a:lnSpc>
              <a:spcBef>
                <a:spcPct val="0"/>
              </a:spcBef>
              <a:buNone/>
            </a:pPr>
            <a:r>
              <a:rPr sz="3199" b="1">
                <a:solidFill>
                  <a:srgbClr val="FFFFFF"/>
                </a:solidFill>
                <a:latin typeface="Inter Bold"/>
                <a:ea typeface="Inter Bold"/>
                <a:cs typeface="Inter Bold"/>
              </a:rPr>
              <a:t>3 Roles</a:t>
            </a:r>
          </a:p>
        </p:txBody>
      </p:sp>
      <p:sp>
        <p:nvSpPr>
          <p:cNvPr id="23" name="TextBox 23">
            <a:extLst xmlns:a="http://schemas.openxmlformats.org/drawingml/2006/main">
              <a:ext uri="{FF2B5EF4-FFF2-40B4-BE49-F238E27FC236}">
                <a16:creationId xmlns:a16="http://schemas.microsoft.com/office/drawing/2014/main" id="{907FAF96-0A82-48F2-81F3-369FD3780824}"/>
              </a:ext>
            </a:extLst>
          </p:cNvPr>
          <p:cNvSpPr>
            <a:spLocks xmlns:a="http://schemas.openxmlformats.org/drawingml/2006/main" noGrp="1"/>
          </p:cNvSpPr>
          <p:nvPr/>
        </p:nvSpPr>
        <p:spPr>
          <a:xfrm xmlns:a="http://schemas.openxmlformats.org/drawingml/2006/main" rot="0" flipH="0" flipV="0">
            <a:off x="10361745" y="7386160"/>
            <a:ext cx="6897554" cy="18721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582925" lvl="1" indent="-291463" algn="l">
              <a:lnSpc>
                <a:spcPts val="3779"/>
              </a:lnSpc>
              <a:buFont typeface="Arial"/>
              <a:buChar char="•"/>
            </a:pPr>
            <a:r>
              <a:rPr sz="2699">
                <a:solidFill>
                  <a:srgbClr val="FFFFFF"/>
                </a:solidFill>
                <a:latin typeface="Inter"/>
                <a:ea typeface="Inter"/>
                <a:cs typeface="Inter"/>
              </a:rPr>
              <a:t>Cliente: gestiona sus mascotas, reserva turnos y ve historial de sus mascotas</a:t>
            </a:r>
          </a:p>
          <a:p xmlns:a="http://schemas.openxmlformats.org/drawingml/2006/main">
            <a:pPr marL="582925" lvl="1" indent="-291463" algn="l">
              <a:lnSpc>
                <a:spcPts val="3779"/>
              </a:lnSpc>
              <a:buFont typeface="Arial"/>
              <a:buChar char="•"/>
            </a:pPr>
            <a:r>
              <a:rPr sz="2699">
                <a:solidFill>
                  <a:srgbClr val="FFFFFF"/>
                </a:solidFill>
                <a:latin typeface="Inter"/>
                <a:ea typeface="Inter"/>
                <a:cs typeface="Inter"/>
              </a:rPr>
              <a:t>Administrador: gestiona usuarios</a:t>
            </a:r>
          </a:p>
        </p:txBody>
      </p:sp>
    </p:spTree>
    <p:extLst>
      <p:ext uri="{BB962C8B-B14F-4D97-AF65-F5344CB8AC3E}">
        <p14:creationId xmlns:p14="http://schemas.microsoft.com/office/powerpoint/2010/main" val="1233995699"/>
      </p:ext>
    </p:extLst>
  </p:cSld>
</p:sld>
</file>

<file path=ppt/slides/slide3.xml><?xml version="1.0" encoding="utf-8"?>
<p:sld xmlns:p="http://schemas.openxmlformats.org/presentationml/2006/main">
  <p:cSld>
    <p:bg>
      <p:bgPr>
        <a:solidFill xmlns:a="http://schemas.openxmlformats.org/drawingml/2006/main">
          <a:srgbClr val="022135"/>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06ADB618-2500-4304-9E0B-DF26AF789FF8}"/>
              </a:ext>
            </a:extLst>
          </p:cNvPr>
          <p:cNvSpPr>
            <a:spLocks xmlns:a="http://schemas.openxmlformats.org/drawingml/2006/main" noGrp="1"/>
          </p:cNvSpPr>
          <p:nvPr/>
        </p:nvSpPr>
        <p:spPr>
          <a:xfrm xmlns:a="http://schemas.openxmlformats.org/drawingml/2006/main" rot="0" flipH="1" flipV="0">
            <a:off x="8019160" y="1028700"/>
            <a:ext cx="2249680" cy="2178091"/>
          </a:xfrm>
          <a:custGeom xmlns:a="http://schemas.openxmlformats.org/drawingml/2006/main">
            <a:rect l="l" t="t" r="r" b="b"/>
            <a:pathLst>
              <a:path w="2249680" h="2178091">
                <a:moveTo>
                  <a:pt x="2249680" y="0"/>
                </a:moveTo>
                <a:lnTo>
                  <a:pt x="0" y="0"/>
                </a:lnTo>
                <a:lnTo>
                  <a:pt x="0" y="2178091"/>
                </a:lnTo>
                <a:lnTo>
                  <a:pt x="2249680" y="2178091"/>
                </a:lnTo>
                <a:lnTo>
                  <a:pt x="2249680" y="0"/>
                </a:lnTo>
                <a:close/>
              </a:path>
            </a:pathLst>
          </a:custGeom>
          <a:blipFill xmlns:a="http://schemas.openxmlformats.org/drawingml/2006/main">
            <a:blip xmlns:r="http://schemas.openxmlformats.org/officeDocument/2006/relationships" r:embed="Rb42096984c9e41e7">
              <a:extLst>
                <a:ext uri="{96DAC541-7B7A-43D3-8B79-37D633B846F1}">
                  <asvg:svgBlip xmlns:asvg="http://schemas.microsoft.com/office/drawing/2016/SVG/main" r:embed="R1a3ed5b93ce44c8b"/>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711E67E2-EC7C-4EDB-AF01-BB2FBD80A8DA}"/>
              </a:ext>
            </a:extLst>
          </p:cNvPr>
          <p:cNvSpPr>
            <a:spLocks xmlns:a="http://schemas.openxmlformats.org/drawingml/2006/main" noGrp="1"/>
          </p:cNvSpPr>
          <p:nvPr/>
        </p:nvSpPr>
        <p:spPr>
          <a:xfrm xmlns:a="http://schemas.openxmlformats.org/drawingml/2006/main" rot="0" flipH="0" flipV="0">
            <a:off x="16066870" y="5143500"/>
            <a:ext cx="2972172" cy="2877592"/>
          </a:xfrm>
          <a:custGeom xmlns:a="http://schemas.openxmlformats.org/drawingml/2006/main">
            <a:rect l="l" t="t" r="r" b="b"/>
            <a:pathLst>
              <a:path w="2972172" h="2877592">
                <a:moveTo>
                  <a:pt x="0" y="0"/>
                </a:moveTo>
                <a:lnTo>
                  <a:pt x="2972172" y="0"/>
                </a:lnTo>
                <a:lnTo>
                  <a:pt x="2972172" y="2877592"/>
                </a:lnTo>
                <a:lnTo>
                  <a:pt x="0" y="2877592"/>
                </a:lnTo>
                <a:lnTo>
                  <a:pt x="0" y="0"/>
                </a:lnTo>
                <a:close/>
              </a:path>
            </a:pathLst>
          </a:custGeom>
          <a:blipFill xmlns:a="http://schemas.openxmlformats.org/drawingml/2006/main">
            <a:blip xmlns:r="http://schemas.openxmlformats.org/officeDocument/2006/relationships" r:embed="Rb42096984c9e41e7">
              <a:extLst>
                <a:ext uri="{96DAC541-7B7A-43D3-8B79-37D633B846F1}">
                  <asvg:svgBlip xmlns:asvg="http://schemas.microsoft.com/office/drawing/2016/SVG/main" r:embed="R1a3ed5b93ce44c8b"/>
                </a:ext>
              </a:extLst>
            </a:blip>
            <a:stretch>
              <a:fillRect l="0" t="0" r="0" b="0"/>
            </a:stretch>
          </a:blipFill>
        </p:spPr>
      </p:sp>
      <p:sp>
        <p:nvSpPr>
          <p:cNvPr id="5" name="AutoShape 5">
            <a:extLst xmlns:a="http://schemas.openxmlformats.org/drawingml/2006/main">
              <a:ext uri="{FF2B5EF4-FFF2-40B4-BE49-F238E27FC236}">
                <a16:creationId xmlns:a16="http://schemas.microsoft.com/office/drawing/2014/main" id="{733F20C1-F432-4D90-B6C9-F19D993A05C2}"/>
              </a:ext>
            </a:extLst>
          </p:cNvPr>
          <p:cNvSpPr>
            <a:spLocks xmlns:a="http://schemas.openxmlformats.org/drawingml/2006/main" noGrp="1"/>
          </p:cNvSpPr>
          <p:nvPr/>
        </p:nvSpPr>
        <p:spPr>
          <a:xfrm xmlns:a="http://schemas.openxmlformats.org/drawingml/2006/main" rot="0" flipH="0" flipV="0">
            <a:off x="16827670" y="10477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6" name="AutoShape 6">
            <a:extLst xmlns:a="http://schemas.openxmlformats.org/drawingml/2006/main">
              <a:ext uri="{FF2B5EF4-FFF2-40B4-BE49-F238E27FC236}">
                <a16:creationId xmlns:a16="http://schemas.microsoft.com/office/drawing/2014/main" id="{F292E228-3D4C-4556-A493-072E2221ED81}"/>
              </a:ext>
            </a:extLst>
          </p:cNvPr>
          <p:cNvSpPr>
            <a:spLocks xmlns:a="http://schemas.openxmlformats.org/drawingml/2006/main" noGrp="1"/>
          </p:cNvSpPr>
          <p:nvPr/>
        </p:nvSpPr>
        <p:spPr>
          <a:xfrm xmlns:a="http://schemas.openxmlformats.org/drawingml/2006/main" rot="0" flipH="0" flipV="0">
            <a:off x="16827670" y="12001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7" name="AutoShape 7">
            <a:extLst xmlns:a="http://schemas.openxmlformats.org/drawingml/2006/main">
              <a:ext uri="{FF2B5EF4-FFF2-40B4-BE49-F238E27FC236}">
                <a16:creationId xmlns:a16="http://schemas.microsoft.com/office/drawing/2014/main" id="{AD9CC00A-ABA1-470D-91EB-AF915A4F8B24}"/>
              </a:ext>
            </a:extLst>
          </p:cNvPr>
          <p:cNvSpPr>
            <a:spLocks xmlns:a="http://schemas.openxmlformats.org/drawingml/2006/main" noGrp="1"/>
          </p:cNvSpPr>
          <p:nvPr/>
        </p:nvSpPr>
        <p:spPr>
          <a:xfrm xmlns:a="http://schemas.openxmlformats.org/drawingml/2006/main" rot="0" flipH="0" flipV="0">
            <a:off x="16827670" y="13525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9" name="TextBox 9">
            <a:extLst xmlns:a="http://schemas.openxmlformats.org/drawingml/2006/main">
              <a:ext uri="{FF2B5EF4-FFF2-40B4-BE49-F238E27FC236}">
                <a16:creationId xmlns:a16="http://schemas.microsoft.com/office/drawing/2014/main" id="{0190C42D-900B-4CA3-9688-4B4B6834B7BA}"/>
              </a:ext>
            </a:extLst>
          </p:cNvPr>
          <p:cNvSpPr>
            <a:spLocks xmlns:a="http://schemas.openxmlformats.org/drawingml/2006/main" noGrp="1"/>
          </p:cNvSpPr>
          <p:nvPr/>
        </p:nvSpPr>
        <p:spPr>
          <a:xfrm xmlns:a="http://schemas.openxmlformats.org/drawingml/2006/main" rot="0" flipH="0" flipV="0">
            <a:off x="11612507" y="2210386"/>
            <a:ext cx="4449790" cy="12400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520"/>
              </a:lnSpc>
              <a:spcBef>
                <a:spcPct val="0"/>
              </a:spcBef>
              <a:buNone/>
            </a:pPr>
            <a:r>
              <a:rPr sz="1800">
                <a:solidFill>
                  <a:srgbClr val="FFFFFF"/>
                </a:solidFill>
                <a:latin typeface="Inter"/>
                <a:ea typeface="Inter"/>
                <a:cs typeface="Inter"/>
              </a:rPr>
              <a:t>El sistema deberá estar disponible al menos el</a:t>
            </a:r>
            <a:r>
              <a:rPr sz="1800">
                <a:solidFill>
                  <a:srgbClr val="FFFFFF"/>
                </a:solidFill>
                <a:latin typeface="Inter"/>
                <a:ea typeface="Inter"/>
                <a:cs typeface="Inter"/>
              </a:rPr>
              <a:t> 99,9 % del tiempo durante el horario de atención de la clínica.</a:t>
            </a:r>
          </a:p>
          <a:p xmlns:a="http://schemas.openxmlformats.org/drawingml/2006/main">
            <a:pPr algn="l">
              <a:lnSpc>
                <a:spcPts val="2520"/>
              </a:lnSpc>
              <a:spcBef>
                <a:spcPct val="0"/>
              </a:spcBef>
              <a:buNone/>
            </a:pPr>
            <a:r>
              <a:rPr sz="1800">
                <a:solidFill>
                  <a:srgbClr val="FFFFFF"/>
                </a:solidFill>
                <a:latin typeface="Inter"/>
                <a:ea typeface="Inter"/>
                <a:cs typeface="Inter"/>
              </a:rPr>
              <a:t>Disponibilidad</a:t>
            </a:r>
          </a:p>
        </p:txBody>
      </p:sp>
      <p:sp>
        <p:nvSpPr>
          <p:cNvPr id="11" name="Freeform 11">
            <a:extLst xmlns:a="http://schemas.openxmlformats.org/drawingml/2006/main">
              <a:ext uri="{FF2B5EF4-FFF2-40B4-BE49-F238E27FC236}">
                <a16:creationId xmlns:a16="http://schemas.microsoft.com/office/drawing/2014/main" id="{21542148-1CEA-43C7-8312-4BE75DACE825}"/>
              </a:ext>
            </a:extLst>
          </p:cNvPr>
          <p:cNvSpPr>
            <a:spLocks xmlns:a="http://schemas.openxmlformats.org/drawingml/2006/main" noGrp="1"/>
          </p:cNvSpPr>
          <p:nvPr/>
        </p:nvSpPr>
        <p:spPr>
          <a:xfrm xmlns:a="http://schemas.openxmlformats.org/drawingml/2006/main" rot="0" flipH="0" flipV="0">
            <a:off x="10950468" y="2117746"/>
            <a:ext cx="279445" cy="1454012"/>
          </a:xfrm>
          <a:custGeom xmlns:a="http://schemas.openxmlformats.org/drawingml/2006/main">
            <a:rect l="l" t="t" r="r" b="b"/>
            <a:pathLst>
              <a:path w="73599" h="382950">
                <a:moveTo>
                  <a:pt x="36799" y="0"/>
                </a:moveTo>
                <a:lnTo>
                  <a:pt x="36799" y="0"/>
                </a:lnTo>
                <a:cubicBezTo>
                  <a:pt x="46559" y="0"/>
                  <a:pt x="55919" y="3877"/>
                  <a:pt x="62820" y="10778"/>
                </a:cubicBezTo>
                <a:cubicBezTo>
                  <a:pt x="69722" y="17680"/>
                  <a:pt x="73599" y="27040"/>
                  <a:pt x="73599" y="36799"/>
                </a:cubicBezTo>
                <a:lnTo>
                  <a:pt x="73599" y="346150"/>
                </a:lnTo>
                <a:cubicBezTo>
                  <a:pt x="73599" y="366474"/>
                  <a:pt x="57123" y="382950"/>
                  <a:pt x="36799" y="382950"/>
                </a:cubicBezTo>
                <a:lnTo>
                  <a:pt x="36799" y="382950"/>
                </a:lnTo>
                <a:cubicBezTo>
                  <a:pt x="16476" y="382950"/>
                  <a:pt x="0" y="366474"/>
                  <a:pt x="0" y="346150"/>
                </a:cubicBezTo>
                <a:lnTo>
                  <a:pt x="0" y="36799"/>
                </a:lnTo>
                <a:cubicBezTo>
                  <a:pt x="0" y="16476"/>
                  <a:pt x="16476" y="0"/>
                  <a:pt x="36799" y="0"/>
                </a:cubicBezTo>
                <a:close/>
              </a:path>
            </a:pathLst>
          </a:custGeom>
          <a:solidFill xmlns:a="http://schemas.openxmlformats.org/drawingml/2006/main">
            <a:srgbClr val="FFFFFF"/>
          </a:solidFill>
        </p:spPr>
      </p:sp>
      <p:sp>
        <p:nvSpPr>
          <p:cNvPr id="12" name="TextBox 12">
            <a:extLst xmlns:a="http://schemas.openxmlformats.org/drawingml/2006/main">
              <a:ext uri="{FF2B5EF4-FFF2-40B4-BE49-F238E27FC236}">
                <a16:creationId xmlns:a16="http://schemas.microsoft.com/office/drawing/2014/main" id="{2F0921FB-0557-4A6B-9199-14320A6C8BC9}"/>
              </a:ext>
            </a:extLst>
          </p:cNvPr>
          <p:cNvSpPr>
            <a:spLocks xmlns:a="http://schemas.openxmlformats.org/drawingml/2006/main" noGrp="1"/>
          </p:cNvSpPr>
          <p:nvPr/>
        </p:nvSpPr>
        <p:spPr>
          <a:xfrm xmlns:a="http://schemas.openxmlformats.org/drawingml/2006/main" rot="0" flipH="0" flipV="0">
            <a:off x="10950468" y="1973086"/>
            <a:ext cx="279445" cy="159867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spcBef>
                <a:spcPct val="0"/>
              </a:spcBef>
              <a:buNone/>
            </a:pPr>
          </a:p>
        </p:txBody>
      </p:sp>
      <p:sp>
        <p:nvSpPr>
          <p:cNvPr id="14" name="TextBox 14">
            <a:extLst xmlns:a="http://schemas.openxmlformats.org/drawingml/2006/main">
              <a:ext uri="{FF2B5EF4-FFF2-40B4-BE49-F238E27FC236}">
                <a16:creationId xmlns:a16="http://schemas.microsoft.com/office/drawing/2014/main" id="{C134D0CD-A076-4E00-A99E-2B208D8C8738}"/>
              </a:ext>
            </a:extLst>
          </p:cNvPr>
          <p:cNvSpPr>
            <a:spLocks xmlns:a="http://schemas.openxmlformats.org/drawingml/2006/main" noGrp="1"/>
          </p:cNvSpPr>
          <p:nvPr/>
        </p:nvSpPr>
        <p:spPr>
          <a:xfrm xmlns:a="http://schemas.openxmlformats.org/drawingml/2006/main" rot="0" flipH="0" flipV="0">
            <a:off x="11528610" y="4029539"/>
            <a:ext cx="5154733" cy="12400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520"/>
              </a:lnSpc>
              <a:spcBef>
                <a:spcPct val="0"/>
              </a:spcBef>
              <a:buNone/>
            </a:pPr>
            <a:r>
              <a:rPr sz="1800">
                <a:solidFill>
                  <a:srgbClr val="FFFFFF"/>
                </a:solidFill>
                <a:latin typeface="Inter"/>
                <a:ea typeface="Inter"/>
                <a:cs typeface="Inter"/>
              </a:rPr>
              <a:t>Las consultas de mascotas, turnos e historiales médicos deberán responder en un máximo de 8 s</a:t>
            </a:r>
            <a:r>
              <a:rPr sz="1800">
                <a:solidFill>
                  <a:srgbClr val="FFFFFF"/>
                </a:solidFill>
                <a:latin typeface="Inter"/>
                <a:ea typeface="Inter"/>
                <a:cs typeface="Inter"/>
              </a:rPr>
              <a:t>egundos en al menos el 95% de las solicitudes. Rendimiento</a:t>
            </a:r>
          </a:p>
        </p:txBody>
      </p:sp>
      <p:sp>
        <p:nvSpPr>
          <p:cNvPr id="16" name="Freeform 16">
            <a:extLst xmlns:a="http://schemas.openxmlformats.org/drawingml/2006/main">
              <a:ext uri="{FF2B5EF4-FFF2-40B4-BE49-F238E27FC236}">
                <a16:creationId xmlns:a16="http://schemas.microsoft.com/office/drawing/2014/main" id="{81C064BA-3297-4395-BFB9-CBBA0A08E316}"/>
              </a:ext>
            </a:extLst>
          </p:cNvPr>
          <p:cNvSpPr>
            <a:spLocks xmlns:a="http://schemas.openxmlformats.org/drawingml/2006/main" noGrp="1"/>
          </p:cNvSpPr>
          <p:nvPr/>
        </p:nvSpPr>
        <p:spPr>
          <a:xfrm xmlns:a="http://schemas.openxmlformats.org/drawingml/2006/main" rot="0" flipH="0" flipV="0">
            <a:off x="10950468" y="3936899"/>
            <a:ext cx="244032" cy="1454012"/>
          </a:xfrm>
          <a:custGeom xmlns:a="http://schemas.openxmlformats.org/drawingml/2006/main">
            <a:rect l="l" t="t" r="r" b="b"/>
            <a:pathLst>
              <a:path w="64272" h="382950">
                <a:moveTo>
                  <a:pt x="32136" y="0"/>
                </a:moveTo>
                <a:lnTo>
                  <a:pt x="32136" y="0"/>
                </a:lnTo>
                <a:cubicBezTo>
                  <a:pt x="40659" y="0"/>
                  <a:pt x="48833" y="3386"/>
                  <a:pt x="54860" y="9412"/>
                </a:cubicBezTo>
                <a:cubicBezTo>
                  <a:pt x="60886" y="15439"/>
                  <a:pt x="64272" y="23613"/>
                  <a:pt x="64272" y="32136"/>
                </a:cubicBezTo>
                <a:lnTo>
                  <a:pt x="64272" y="350814"/>
                </a:lnTo>
                <a:cubicBezTo>
                  <a:pt x="64272" y="359337"/>
                  <a:pt x="60886" y="367511"/>
                  <a:pt x="54860" y="373537"/>
                </a:cubicBezTo>
                <a:cubicBezTo>
                  <a:pt x="48833" y="379564"/>
                  <a:pt x="40659" y="382950"/>
                  <a:pt x="32136" y="382950"/>
                </a:cubicBezTo>
                <a:lnTo>
                  <a:pt x="32136" y="382950"/>
                </a:lnTo>
                <a:cubicBezTo>
                  <a:pt x="23613" y="382950"/>
                  <a:pt x="15439" y="379564"/>
                  <a:pt x="9412" y="373537"/>
                </a:cubicBezTo>
                <a:cubicBezTo>
                  <a:pt x="3386" y="367511"/>
                  <a:pt x="0" y="359337"/>
                  <a:pt x="0" y="350814"/>
                </a:cubicBezTo>
                <a:lnTo>
                  <a:pt x="0" y="32136"/>
                </a:lnTo>
                <a:cubicBezTo>
                  <a:pt x="0" y="23613"/>
                  <a:pt x="3386" y="15439"/>
                  <a:pt x="9412" y="9412"/>
                </a:cubicBezTo>
                <a:cubicBezTo>
                  <a:pt x="15439" y="3386"/>
                  <a:pt x="23613" y="0"/>
                  <a:pt x="32136" y="0"/>
                </a:cubicBezTo>
                <a:close/>
              </a:path>
            </a:pathLst>
          </a:custGeom>
          <a:solidFill xmlns:a="http://schemas.openxmlformats.org/drawingml/2006/main">
            <a:srgbClr val="FFFFFF"/>
          </a:solidFill>
        </p:spPr>
      </p:sp>
      <p:sp>
        <p:nvSpPr>
          <p:cNvPr id="17" name="TextBox 17">
            <a:extLst xmlns:a="http://schemas.openxmlformats.org/drawingml/2006/main">
              <a:ext uri="{FF2B5EF4-FFF2-40B4-BE49-F238E27FC236}">
                <a16:creationId xmlns:a16="http://schemas.microsoft.com/office/drawing/2014/main" id="{5B864AA2-0936-4034-94AB-7FA688B36096}"/>
              </a:ext>
            </a:extLst>
          </p:cNvPr>
          <p:cNvSpPr>
            <a:spLocks xmlns:a="http://schemas.openxmlformats.org/drawingml/2006/main" noGrp="1"/>
          </p:cNvSpPr>
          <p:nvPr/>
        </p:nvSpPr>
        <p:spPr>
          <a:xfrm xmlns:a="http://schemas.openxmlformats.org/drawingml/2006/main" rot="0" flipH="0" flipV="0">
            <a:off x="10950468" y="3792239"/>
            <a:ext cx="244032" cy="159867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spcBef>
                <a:spcPct val="0"/>
              </a:spcBef>
              <a:buNone/>
            </a:pPr>
          </a:p>
        </p:txBody>
      </p:sp>
      <p:sp>
        <p:nvSpPr>
          <p:cNvPr id="19" name="TextBox 19">
            <a:extLst xmlns:a="http://schemas.openxmlformats.org/drawingml/2006/main">
              <a:ext uri="{FF2B5EF4-FFF2-40B4-BE49-F238E27FC236}">
                <a16:creationId xmlns:a16="http://schemas.microsoft.com/office/drawing/2014/main" id="{22E5151B-B012-4220-AB7D-F466852F4FC4}"/>
              </a:ext>
            </a:extLst>
          </p:cNvPr>
          <p:cNvSpPr>
            <a:spLocks xmlns:a="http://schemas.openxmlformats.org/drawingml/2006/main" noGrp="1"/>
          </p:cNvSpPr>
          <p:nvPr/>
        </p:nvSpPr>
        <p:spPr>
          <a:xfrm xmlns:a="http://schemas.openxmlformats.org/drawingml/2006/main" rot="0" flipH="0" flipV="0">
            <a:off x="1090218" y="8153627"/>
            <a:ext cx="5154733" cy="12400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520"/>
              </a:lnSpc>
              <a:spcBef>
                <a:spcPct val="0"/>
              </a:spcBef>
              <a:buNone/>
            </a:pPr>
            <a:r>
              <a:rPr sz="1800">
                <a:solidFill>
                  <a:srgbClr val="FFFFFF"/>
                </a:solidFill>
                <a:latin typeface="Inter"/>
                <a:ea typeface="Inter"/>
                <a:cs typeface="Inter"/>
              </a:rPr>
              <a:t>El sistema deberá aplicar control de acceso según el rol del usuario, impidiendo que un usuario acceda o modifique información para la cu</a:t>
            </a:r>
            <a:r>
              <a:rPr sz="1800">
                <a:solidFill>
                  <a:srgbClr val="FFFFFF"/>
                </a:solidFill>
                <a:latin typeface="Inter"/>
                <a:ea typeface="Inter"/>
                <a:cs typeface="Inter"/>
              </a:rPr>
              <a:t>al no está autorizado. Seguridad</a:t>
            </a:r>
          </a:p>
        </p:txBody>
      </p:sp>
      <p:sp>
        <p:nvSpPr>
          <p:cNvPr id="21" name="Freeform 21">
            <a:extLst xmlns:a="http://schemas.openxmlformats.org/drawingml/2006/main">
              <a:ext uri="{FF2B5EF4-FFF2-40B4-BE49-F238E27FC236}">
                <a16:creationId xmlns:a16="http://schemas.microsoft.com/office/drawing/2014/main" id="{3F3AF730-3A70-4961-9B1A-8AA65E7C71C3}"/>
              </a:ext>
            </a:extLst>
          </p:cNvPr>
          <p:cNvSpPr>
            <a:spLocks xmlns:a="http://schemas.openxmlformats.org/drawingml/2006/main" noGrp="1"/>
          </p:cNvSpPr>
          <p:nvPr/>
        </p:nvSpPr>
        <p:spPr>
          <a:xfrm xmlns:a="http://schemas.openxmlformats.org/drawingml/2006/main" rot="0" flipH="0" flipV="0">
            <a:off x="512076" y="8060987"/>
            <a:ext cx="244032" cy="1454012"/>
          </a:xfrm>
          <a:custGeom xmlns:a="http://schemas.openxmlformats.org/drawingml/2006/main">
            <a:rect l="l" t="t" r="r" b="b"/>
            <a:pathLst>
              <a:path w="64272" h="382950">
                <a:moveTo>
                  <a:pt x="32136" y="0"/>
                </a:moveTo>
                <a:lnTo>
                  <a:pt x="32136" y="0"/>
                </a:lnTo>
                <a:cubicBezTo>
                  <a:pt x="40659" y="0"/>
                  <a:pt x="48833" y="3386"/>
                  <a:pt x="54860" y="9412"/>
                </a:cubicBezTo>
                <a:cubicBezTo>
                  <a:pt x="60886" y="15439"/>
                  <a:pt x="64272" y="23613"/>
                  <a:pt x="64272" y="32136"/>
                </a:cubicBezTo>
                <a:lnTo>
                  <a:pt x="64272" y="350814"/>
                </a:lnTo>
                <a:cubicBezTo>
                  <a:pt x="64272" y="359337"/>
                  <a:pt x="60886" y="367511"/>
                  <a:pt x="54860" y="373537"/>
                </a:cubicBezTo>
                <a:cubicBezTo>
                  <a:pt x="48833" y="379564"/>
                  <a:pt x="40659" y="382950"/>
                  <a:pt x="32136" y="382950"/>
                </a:cubicBezTo>
                <a:lnTo>
                  <a:pt x="32136" y="382950"/>
                </a:lnTo>
                <a:cubicBezTo>
                  <a:pt x="23613" y="382950"/>
                  <a:pt x="15439" y="379564"/>
                  <a:pt x="9412" y="373537"/>
                </a:cubicBezTo>
                <a:cubicBezTo>
                  <a:pt x="3386" y="367511"/>
                  <a:pt x="0" y="359337"/>
                  <a:pt x="0" y="350814"/>
                </a:cubicBezTo>
                <a:lnTo>
                  <a:pt x="0" y="32136"/>
                </a:lnTo>
                <a:cubicBezTo>
                  <a:pt x="0" y="23613"/>
                  <a:pt x="3386" y="15439"/>
                  <a:pt x="9412" y="9412"/>
                </a:cubicBezTo>
                <a:cubicBezTo>
                  <a:pt x="15439" y="3386"/>
                  <a:pt x="23613" y="0"/>
                  <a:pt x="32136" y="0"/>
                </a:cubicBezTo>
                <a:close/>
              </a:path>
            </a:pathLst>
          </a:custGeom>
          <a:solidFill xmlns:a="http://schemas.openxmlformats.org/drawingml/2006/main">
            <a:srgbClr val="FFFFFF"/>
          </a:solidFill>
        </p:spPr>
      </p:sp>
      <p:sp>
        <p:nvSpPr>
          <p:cNvPr id="22" name="TextBox 22">
            <a:extLst xmlns:a="http://schemas.openxmlformats.org/drawingml/2006/main">
              <a:ext uri="{FF2B5EF4-FFF2-40B4-BE49-F238E27FC236}">
                <a16:creationId xmlns:a16="http://schemas.microsoft.com/office/drawing/2014/main" id="{F489B41C-1E81-4665-98CE-91BF681D95F7}"/>
              </a:ext>
            </a:extLst>
          </p:cNvPr>
          <p:cNvSpPr>
            <a:spLocks xmlns:a="http://schemas.openxmlformats.org/drawingml/2006/main" noGrp="1"/>
          </p:cNvSpPr>
          <p:nvPr/>
        </p:nvSpPr>
        <p:spPr>
          <a:xfrm xmlns:a="http://schemas.openxmlformats.org/drawingml/2006/main" rot="0" flipH="0" flipV="0">
            <a:off x="512076" y="7916327"/>
            <a:ext cx="244032" cy="159867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spcBef>
                <a:spcPct val="0"/>
              </a:spcBef>
              <a:buNone/>
            </a:pPr>
          </a:p>
        </p:txBody>
      </p:sp>
      <p:sp>
        <p:nvSpPr>
          <p:cNvPr id="24" name="TextBox 24">
            <a:extLst xmlns:a="http://schemas.openxmlformats.org/drawingml/2006/main">
              <a:ext uri="{FF2B5EF4-FFF2-40B4-BE49-F238E27FC236}">
                <a16:creationId xmlns:a16="http://schemas.microsoft.com/office/drawing/2014/main" id="{60CCBEF2-F251-4174-AD9D-61EB237F5A54}"/>
              </a:ext>
            </a:extLst>
          </p:cNvPr>
          <p:cNvSpPr>
            <a:spLocks xmlns:a="http://schemas.openxmlformats.org/drawingml/2006/main" noGrp="1"/>
          </p:cNvSpPr>
          <p:nvPr/>
        </p:nvSpPr>
        <p:spPr>
          <a:xfrm xmlns:a="http://schemas.openxmlformats.org/drawingml/2006/main" rot="0" flipH="0" flipV="0">
            <a:off x="7070892" y="8153627"/>
            <a:ext cx="5154733" cy="155434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520"/>
              </a:lnSpc>
              <a:spcBef>
                <a:spcPct val="0"/>
              </a:spcBef>
              <a:buNone/>
            </a:pPr>
            <a:r>
              <a:rPr sz="1800">
                <a:solidFill>
                  <a:srgbClr val="FFFFFF"/>
                </a:solidFill>
                <a:latin typeface="Inter"/>
                <a:ea typeface="Inter"/>
                <a:cs typeface="Inter"/>
              </a:rPr>
              <a:t>El sistema deberá permitir incorporar un nuevo tipo de us</a:t>
            </a:r>
            <a:r>
              <a:rPr sz="1800">
                <a:solidFill>
                  <a:srgbClr val="FFFFFF"/>
                </a:solidFill>
                <a:latin typeface="Inter"/>
                <a:ea typeface="Inter"/>
                <a:cs typeface="Inter"/>
              </a:rPr>
              <a:t>uario o rol, con su conjunto de permisos, sin modificar el código de los módulos de turnos, mascotas ni historial médico. Facilidad de Modificación</a:t>
            </a:r>
          </a:p>
        </p:txBody>
      </p:sp>
      <p:sp>
        <p:nvSpPr>
          <p:cNvPr id="26" name="Freeform 26">
            <a:extLst xmlns:a="http://schemas.openxmlformats.org/drawingml/2006/main">
              <a:ext uri="{FF2B5EF4-FFF2-40B4-BE49-F238E27FC236}">
                <a16:creationId xmlns:a16="http://schemas.microsoft.com/office/drawing/2014/main" id="{6BCD7079-BB13-4C37-AC52-6C02A87443B1}"/>
              </a:ext>
            </a:extLst>
          </p:cNvPr>
          <p:cNvSpPr>
            <a:spLocks xmlns:a="http://schemas.openxmlformats.org/drawingml/2006/main" noGrp="1"/>
          </p:cNvSpPr>
          <p:nvPr/>
        </p:nvSpPr>
        <p:spPr>
          <a:xfrm xmlns:a="http://schemas.openxmlformats.org/drawingml/2006/main" rot="0" flipH="0" flipV="0">
            <a:off x="6492750" y="8060987"/>
            <a:ext cx="244032" cy="1454012"/>
          </a:xfrm>
          <a:custGeom xmlns:a="http://schemas.openxmlformats.org/drawingml/2006/main">
            <a:rect l="l" t="t" r="r" b="b"/>
            <a:pathLst>
              <a:path w="64272" h="382950">
                <a:moveTo>
                  <a:pt x="32136" y="0"/>
                </a:moveTo>
                <a:lnTo>
                  <a:pt x="32136" y="0"/>
                </a:lnTo>
                <a:cubicBezTo>
                  <a:pt x="40659" y="0"/>
                  <a:pt x="48833" y="3386"/>
                  <a:pt x="54860" y="9412"/>
                </a:cubicBezTo>
                <a:cubicBezTo>
                  <a:pt x="60886" y="15439"/>
                  <a:pt x="64272" y="23613"/>
                  <a:pt x="64272" y="32136"/>
                </a:cubicBezTo>
                <a:lnTo>
                  <a:pt x="64272" y="350814"/>
                </a:lnTo>
                <a:cubicBezTo>
                  <a:pt x="64272" y="359337"/>
                  <a:pt x="60886" y="367511"/>
                  <a:pt x="54860" y="373537"/>
                </a:cubicBezTo>
                <a:cubicBezTo>
                  <a:pt x="48833" y="379564"/>
                  <a:pt x="40659" y="382950"/>
                  <a:pt x="32136" y="382950"/>
                </a:cubicBezTo>
                <a:lnTo>
                  <a:pt x="32136" y="382950"/>
                </a:lnTo>
                <a:cubicBezTo>
                  <a:pt x="23613" y="382950"/>
                  <a:pt x="15439" y="379564"/>
                  <a:pt x="9412" y="373537"/>
                </a:cubicBezTo>
                <a:cubicBezTo>
                  <a:pt x="3386" y="367511"/>
                  <a:pt x="0" y="359337"/>
                  <a:pt x="0" y="350814"/>
                </a:cubicBezTo>
                <a:lnTo>
                  <a:pt x="0" y="32136"/>
                </a:lnTo>
                <a:cubicBezTo>
                  <a:pt x="0" y="23613"/>
                  <a:pt x="3386" y="15439"/>
                  <a:pt x="9412" y="9412"/>
                </a:cubicBezTo>
                <a:cubicBezTo>
                  <a:pt x="15439" y="3386"/>
                  <a:pt x="23613" y="0"/>
                  <a:pt x="32136" y="0"/>
                </a:cubicBezTo>
                <a:close/>
              </a:path>
            </a:pathLst>
          </a:custGeom>
          <a:solidFill xmlns:a="http://schemas.openxmlformats.org/drawingml/2006/main">
            <a:srgbClr val="FFFFFF"/>
          </a:solidFill>
        </p:spPr>
      </p:sp>
      <p:sp>
        <p:nvSpPr>
          <p:cNvPr id="27" name="TextBox 27">
            <a:extLst xmlns:a="http://schemas.openxmlformats.org/drawingml/2006/main">
              <a:ext uri="{FF2B5EF4-FFF2-40B4-BE49-F238E27FC236}">
                <a16:creationId xmlns:a16="http://schemas.microsoft.com/office/drawing/2014/main" id="{7AE954BF-1296-4B30-AF7B-21E5F936209D}"/>
              </a:ext>
            </a:extLst>
          </p:cNvPr>
          <p:cNvSpPr>
            <a:spLocks xmlns:a="http://schemas.openxmlformats.org/drawingml/2006/main" noGrp="1"/>
          </p:cNvSpPr>
          <p:nvPr/>
        </p:nvSpPr>
        <p:spPr>
          <a:xfrm xmlns:a="http://schemas.openxmlformats.org/drawingml/2006/main" rot="0" flipH="0" flipV="0">
            <a:off x="6492750" y="7916327"/>
            <a:ext cx="244032" cy="159867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spcBef>
                <a:spcPct val="0"/>
              </a:spcBef>
              <a:buNone/>
            </a:pPr>
          </a:p>
        </p:txBody>
      </p:sp>
      <p:sp>
        <p:nvSpPr>
          <p:cNvPr id="29" name="Freeform 29">
            <a:extLst xmlns:a="http://schemas.openxmlformats.org/drawingml/2006/main">
              <a:ext uri="{FF2B5EF4-FFF2-40B4-BE49-F238E27FC236}">
                <a16:creationId xmlns:a16="http://schemas.microsoft.com/office/drawing/2014/main" id="{4FF75741-D236-4385-A982-84C866143F85}"/>
              </a:ext>
            </a:extLst>
          </p:cNvPr>
          <p:cNvSpPr>
            <a:spLocks xmlns:a="http://schemas.openxmlformats.org/drawingml/2006/main" noGrp="1"/>
          </p:cNvSpPr>
          <p:nvPr/>
        </p:nvSpPr>
        <p:spPr>
          <a:xfrm xmlns:a="http://schemas.openxmlformats.org/drawingml/2006/main" rot="0" flipH="0" flipV="0">
            <a:off x="12473423" y="8054144"/>
            <a:ext cx="244033" cy="1454012"/>
          </a:xfrm>
          <a:custGeom xmlns:a="http://schemas.openxmlformats.org/drawingml/2006/main">
            <a:rect l="l" t="t" r="r" b="b"/>
            <a:pathLst>
              <a:path w="64272" h="382950">
                <a:moveTo>
                  <a:pt x="32136" y="0"/>
                </a:moveTo>
                <a:lnTo>
                  <a:pt x="32136" y="0"/>
                </a:lnTo>
                <a:cubicBezTo>
                  <a:pt x="40659" y="0"/>
                  <a:pt x="48833" y="3386"/>
                  <a:pt x="54860" y="9412"/>
                </a:cubicBezTo>
                <a:cubicBezTo>
                  <a:pt x="60886" y="15439"/>
                  <a:pt x="64272" y="23613"/>
                  <a:pt x="64272" y="32136"/>
                </a:cubicBezTo>
                <a:lnTo>
                  <a:pt x="64272" y="350814"/>
                </a:lnTo>
                <a:cubicBezTo>
                  <a:pt x="64272" y="359337"/>
                  <a:pt x="60886" y="367511"/>
                  <a:pt x="54860" y="373537"/>
                </a:cubicBezTo>
                <a:cubicBezTo>
                  <a:pt x="48833" y="379564"/>
                  <a:pt x="40659" y="382950"/>
                  <a:pt x="32136" y="382950"/>
                </a:cubicBezTo>
                <a:lnTo>
                  <a:pt x="32136" y="382950"/>
                </a:lnTo>
                <a:cubicBezTo>
                  <a:pt x="23613" y="382950"/>
                  <a:pt x="15439" y="379564"/>
                  <a:pt x="9412" y="373537"/>
                </a:cubicBezTo>
                <a:cubicBezTo>
                  <a:pt x="3386" y="367511"/>
                  <a:pt x="0" y="359337"/>
                  <a:pt x="0" y="350814"/>
                </a:cubicBezTo>
                <a:lnTo>
                  <a:pt x="0" y="32136"/>
                </a:lnTo>
                <a:cubicBezTo>
                  <a:pt x="0" y="23613"/>
                  <a:pt x="3386" y="15439"/>
                  <a:pt x="9412" y="9412"/>
                </a:cubicBezTo>
                <a:cubicBezTo>
                  <a:pt x="15439" y="3386"/>
                  <a:pt x="23613" y="0"/>
                  <a:pt x="32136" y="0"/>
                </a:cubicBezTo>
                <a:close/>
              </a:path>
            </a:pathLst>
          </a:custGeom>
          <a:solidFill xmlns:a="http://schemas.openxmlformats.org/drawingml/2006/main">
            <a:srgbClr val="FFFFFF"/>
          </a:solidFill>
        </p:spPr>
      </p:sp>
      <p:sp>
        <p:nvSpPr>
          <p:cNvPr id="30" name="TextBox 30">
            <a:extLst xmlns:a="http://schemas.openxmlformats.org/drawingml/2006/main">
              <a:ext uri="{FF2B5EF4-FFF2-40B4-BE49-F238E27FC236}">
                <a16:creationId xmlns:a16="http://schemas.microsoft.com/office/drawing/2014/main" id="{CE1A11CD-4CBF-49A1-8D39-C48CE23D2011}"/>
              </a:ext>
            </a:extLst>
          </p:cNvPr>
          <p:cNvSpPr>
            <a:spLocks xmlns:a="http://schemas.openxmlformats.org/drawingml/2006/main" noGrp="1"/>
          </p:cNvSpPr>
          <p:nvPr/>
        </p:nvSpPr>
        <p:spPr>
          <a:xfrm xmlns:a="http://schemas.openxmlformats.org/drawingml/2006/main" rot="0" flipH="0" flipV="0">
            <a:off x="12473423" y="7909484"/>
            <a:ext cx="244033" cy="159867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spcBef>
                <a:spcPct val="0"/>
              </a:spcBef>
              <a:buNone/>
            </a:pPr>
          </a:p>
        </p:txBody>
      </p:sp>
      <p:sp>
        <p:nvSpPr>
          <p:cNvPr id="32" name="Freeform 32">
            <a:extLst xmlns:a="http://schemas.openxmlformats.org/drawingml/2006/main">
              <a:ext uri="{FF2B5EF4-FFF2-40B4-BE49-F238E27FC236}">
                <a16:creationId xmlns:a16="http://schemas.microsoft.com/office/drawing/2014/main" id="{DA59D884-C21C-41F5-BA51-3D9A4F8D1C2E}"/>
              </a:ext>
            </a:extLst>
          </p:cNvPr>
          <p:cNvSpPr>
            <a:spLocks xmlns:a="http://schemas.openxmlformats.org/drawingml/2006/main" noGrp="1"/>
          </p:cNvSpPr>
          <p:nvPr/>
        </p:nvSpPr>
        <p:spPr>
          <a:xfrm xmlns:a="http://schemas.openxmlformats.org/drawingml/2006/main" rot="0" flipH="0" flipV="0">
            <a:off x="172039" y="1200150"/>
            <a:ext cx="10379998" cy="6009907"/>
          </a:xfrm>
          <a:custGeom xmlns:a="http://schemas.openxmlformats.org/drawingml/2006/main">
            <a:rect l="l" t="t" r="r" b="b"/>
            <a:pathLst>
              <a:path w="1357111" h="785753">
                <a:moveTo>
                  <a:pt x="33563" y="0"/>
                </a:moveTo>
                <a:lnTo>
                  <a:pt x="1323548" y="0"/>
                </a:lnTo>
                <a:cubicBezTo>
                  <a:pt x="1342084" y="0"/>
                  <a:pt x="1357111" y="15027"/>
                  <a:pt x="1357111" y="33563"/>
                </a:cubicBezTo>
                <a:lnTo>
                  <a:pt x="1357111" y="752190"/>
                </a:lnTo>
                <a:cubicBezTo>
                  <a:pt x="1357111" y="770727"/>
                  <a:pt x="1342084" y="785753"/>
                  <a:pt x="1323548" y="785753"/>
                </a:cubicBezTo>
                <a:lnTo>
                  <a:pt x="33563" y="785753"/>
                </a:lnTo>
                <a:cubicBezTo>
                  <a:pt x="15027" y="785753"/>
                  <a:pt x="0" y="770727"/>
                  <a:pt x="0" y="752190"/>
                </a:cubicBezTo>
                <a:lnTo>
                  <a:pt x="0" y="33563"/>
                </a:lnTo>
                <a:cubicBezTo>
                  <a:pt x="0" y="15027"/>
                  <a:pt x="15027" y="0"/>
                  <a:pt x="33563" y="0"/>
                </a:cubicBezTo>
                <a:close/>
              </a:path>
            </a:pathLst>
          </a:custGeom>
          <a:blipFill xmlns:a="http://schemas.openxmlformats.org/drawingml/2006/main">
            <a:blip xmlns:r="http://schemas.openxmlformats.org/officeDocument/2006/relationships" r:embed="Rc4bd63800c4a418b"/>
            <a:stretch>
              <a:fillRect l="0" t="-7643" r="0" b="-7643"/>
            </a:stretch>
          </a:blipFill>
        </p:spPr>
      </p:sp>
      <p:sp>
        <p:nvSpPr>
          <p:cNvPr id="34" name="TextBox 34">
            <a:extLst xmlns:a="http://schemas.openxmlformats.org/drawingml/2006/main">
              <a:ext uri="{FF2B5EF4-FFF2-40B4-BE49-F238E27FC236}">
                <a16:creationId xmlns:a16="http://schemas.microsoft.com/office/drawing/2014/main" id="{E037697C-AB85-413E-8B7C-36C8B831A478}"/>
              </a:ext>
            </a:extLst>
          </p:cNvPr>
          <p:cNvSpPr>
            <a:spLocks xmlns:a="http://schemas.openxmlformats.org/drawingml/2006/main" noGrp="1"/>
          </p:cNvSpPr>
          <p:nvPr/>
        </p:nvSpPr>
        <p:spPr>
          <a:xfrm xmlns:a="http://schemas.openxmlformats.org/drawingml/2006/main" rot="0" flipH="0" flipV="0">
            <a:off x="11528610" y="5848693"/>
            <a:ext cx="5154733" cy="12400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520"/>
              </a:lnSpc>
              <a:spcBef>
                <a:spcPct val="0"/>
              </a:spcBef>
              <a:buNone/>
            </a:pPr>
            <a:r>
              <a:rPr sz="1800">
                <a:solidFill>
                  <a:srgbClr val="FFFFFF"/>
                </a:solidFill>
                <a:latin typeface="Inter"/>
                <a:ea typeface="Inter"/>
                <a:cs typeface="Inter"/>
              </a:rPr>
              <a:t>Si ocurre un error mientras se registra una consulta médica, el sistema no deberá guardar información parcial y deberá cons</a:t>
            </a:r>
            <a:r>
              <a:rPr sz="1800">
                <a:solidFill>
                  <a:srgbClr val="FFFFFF"/>
                </a:solidFill>
                <a:latin typeface="Inter"/>
                <a:ea typeface="Inter"/>
                <a:cs typeface="Inter"/>
              </a:rPr>
              <a:t>ervar intacto el historial anterior de la mascota. Protección</a:t>
            </a:r>
          </a:p>
        </p:txBody>
      </p:sp>
      <p:sp>
        <p:nvSpPr>
          <p:cNvPr id="36" name="Freeform 36">
            <a:extLst xmlns:a="http://schemas.openxmlformats.org/drawingml/2006/main">
              <a:ext uri="{FF2B5EF4-FFF2-40B4-BE49-F238E27FC236}">
                <a16:creationId xmlns:a16="http://schemas.microsoft.com/office/drawing/2014/main" id="{D9A15F11-D7EF-45D5-86BA-0EDC575C5F2D}"/>
              </a:ext>
            </a:extLst>
          </p:cNvPr>
          <p:cNvSpPr>
            <a:spLocks xmlns:a="http://schemas.openxmlformats.org/drawingml/2006/main" noGrp="1"/>
          </p:cNvSpPr>
          <p:nvPr/>
        </p:nvSpPr>
        <p:spPr>
          <a:xfrm xmlns:a="http://schemas.openxmlformats.org/drawingml/2006/main" rot="0" flipH="0" flipV="0">
            <a:off x="10950468" y="5756053"/>
            <a:ext cx="244032" cy="1454012"/>
          </a:xfrm>
          <a:custGeom xmlns:a="http://schemas.openxmlformats.org/drawingml/2006/main">
            <a:rect l="l" t="t" r="r" b="b"/>
            <a:pathLst>
              <a:path w="64272" h="382950">
                <a:moveTo>
                  <a:pt x="32136" y="0"/>
                </a:moveTo>
                <a:lnTo>
                  <a:pt x="32136" y="0"/>
                </a:lnTo>
                <a:cubicBezTo>
                  <a:pt x="40659" y="0"/>
                  <a:pt x="48833" y="3386"/>
                  <a:pt x="54860" y="9412"/>
                </a:cubicBezTo>
                <a:cubicBezTo>
                  <a:pt x="60886" y="15439"/>
                  <a:pt x="64272" y="23613"/>
                  <a:pt x="64272" y="32136"/>
                </a:cubicBezTo>
                <a:lnTo>
                  <a:pt x="64272" y="350814"/>
                </a:lnTo>
                <a:cubicBezTo>
                  <a:pt x="64272" y="359337"/>
                  <a:pt x="60886" y="367511"/>
                  <a:pt x="54860" y="373537"/>
                </a:cubicBezTo>
                <a:cubicBezTo>
                  <a:pt x="48833" y="379564"/>
                  <a:pt x="40659" y="382950"/>
                  <a:pt x="32136" y="382950"/>
                </a:cubicBezTo>
                <a:lnTo>
                  <a:pt x="32136" y="382950"/>
                </a:lnTo>
                <a:cubicBezTo>
                  <a:pt x="23613" y="382950"/>
                  <a:pt x="15439" y="379564"/>
                  <a:pt x="9412" y="373537"/>
                </a:cubicBezTo>
                <a:cubicBezTo>
                  <a:pt x="3386" y="367511"/>
                  <a:pt x="0" y="359337"/>
                  <a:pt x="0" y="350814"/>
                </a:cubicBezTo>
                <a:lnTo>
                  <a:pt x="0" y="32136"/>
                </a:lnTo>
                <a:cubicBezTo>
                  <a:pt x="0" y="23613"/>
                  <a:pt x="3386" y="15439"/>
                  <a:pt x="9412" y="9412"/>
                </a:cubicBezTo>
                <a:cubicBezTo>
                  <a:pt x="15439" y="3386"/>
                  <a:pt x="23613" y="0"/>
                  <a:pt x="32136" y="0"/>
                </a:cubicBezTo>
                <a:close/>
              </a:path>
            </a:pathLst>
          </a:custGeom>
          <a:solidFill xmlns:a="http://schemas.openxmlformats.org/drawingml/2006/main">
            <a:srgbClr val="FFFFFF"/>
          </a:solidFill>
        </p:spPr>
      </p:sp>
      <p:sp>
        <p:nvSpPr>
          <p:cNvPr id="37" name="TextBox 37">
            <a:extLst xmlns:a="http://schemas.openxmlformats.org/drawingml/2006/main">
              <a:ext uri="{FF2B5EF4-FFF2-40B4-BE49-F238E27FC236}">
                <a16:creationId xmlns:a16="http://schemas.microsoft.com/office/drawing/2014/main" id="{681DB4D1-0BA1-4637-8779-87C4F4FF9B29}"/>
              </a:ext>
            </a:extLst>
          </p:cNvPr>
          <p:cNvSpPr>
            <a:spLocks xmlns:a="http://schemas.openxmlformats.org/drawingml/2006/main" noGrp="1"/>
          </p:cNvSpPr>
          <p:nvPr/>
        </p:nvSpPr>
        <p:spPr>
          <a:xfrm xmlns:a="http://schemas.openxmlformats.org/drawingml/2006/main" rot="0" flipH="0" flipV="0">
            <a:off x="10950468" y="5611393"/>
            <a:ext cx="244032" cy="159867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spcBef>
                <a:spcPct val="0"/>
              </a:spcBef>
              <a:buNone/>
            </a:pPr>
          </a:p>
        </p:txBody>
      </p:sp>
      <p:sp>
        <p:nvSpPr>
          <p:cNvPr id="38" name="TextBox 38">
            <a:extLst xmlns:a="http://schemas.openxmlformats.org/drawingml/2006/main">
              <a:ext uri="{FF2B5EF4-FFF2-40B4-BE49-F238E27FC236}">
                <a16:creationId xmlns:a16="http://schemas.microsoft.com/office/drawing/2014/main" id="{53EE736D-50B3-43BA-AF2A-EF930F68D875}"/>
              </a:ext>
            </a:extLst>
          </p:cNvPr>
          <p:cNvSpPr>
            <a:spLocks xmlns:a="http://schemas.openxmlformats.org/drawingml/2006/main" noGrp="1"/>
          </p:cNvSpPr>
          <p:nvPr/>
        </p:nvSpPr>
        <p:spPr>
          <a:xfrm xmlns:a="http://schemas.openxmlformats.org/drawingml/2006/main" rot="0">
            <a:off x="10950468" y="681990"/>
            <a:ext cx="6602488" cy="123634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10080"/>
              </a:lnSpc>
              <a:spcBef>
                <a:spcPct val="0"/>
              </a:spcBef>
              <a:buNone/>
            </a:pPr>
            <a:r>
              <a:rPr sz="7200" b="1">
                <a:solidFill>
                  <a:srgbClr val="FFFFFF"/>
                </a:solidFill>
                <a:latin typeface="Bricolage Grotesque Bold"/>
                <a:ea typeface="Bricolage Grotesque Bold"/>
                <a:cs typeface="Bricolage Grotesque Bold"/>
              </a:rPr>
              <a:t>ASRs</a:t>
            </a:r>
          </a:p>
        </p:txBody>
      </p:sp>
      <p:sp>
        <p:nvSpPr>
          <p:cNvPr id="39" name="TextBox 39">
            <a:extLst xmlns:a="http://schemas.openxmlformats.org/drawingml/2006/main">
              <a:ext uri="{FF2B5EF4-FFF2-40B4-BE49-F238E27FC236}">
                <a16:creationId xmlns:a16="http://schemas.microsoft.com/office/drawing/2014/main" id="{8EF52BEE-7D2B-4DA1-9FDB-68373760AFEA}"/>
              </a:ext>
            </a:extLst>
          </p:cNvPr>
          <p:cNvSpPr>
            <a:spLocks xmlns:a="http://schemas.openxmlformats.org/drawingml/2006/main" noGrp="1"/>
          </p:cNvSpPr>
          <p:nvPr/>
        </p:nvSpPr>
        <p:spPr>
          <a:xfrm xmlns:a="http://schemas.openxmlformats.org/drawingml/2006/main" rot="0">
            <a:off x="13051566" y="8137260"/>
            <a:ext cx="5154734" cy="15638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520"/>
              </a:lnSpc>
              <a:spcBef>
                <a:spcPct val="0"/>
              </a:spcBef>
              <a:buNone/>
            </a:pPr>
            <a:r>
              <a:rPr sz="1800">
                <a:solidFill>
                  <a:srgbClr val="FFFFFF"/>
                </a:solidFill>
                <a:latin typeface="Inter"/>
                <a:ea typeface="Inter"/>
                <a:cs typeface="Inter"/>
              </a:rPr>
              <a:t>El sistema deberá mantener separadas las configuraciones de desarrollo, pruebas y producción, evitando modificaciones del código pa</a:t>
            </a:r>
            <a:r>
              <a:rPr sz="1800">
                <a:solidFill>
                  <a:srgbClr val="FFFFFF"/>
                </a:solidFill>
                <a:latin typeface="Inter"/>
                <a:ea typeface="Inter"/>
                <a:cs typeface="Inter"/>
              </a:rPr>
              <a:t>ra cada ambiente. Facilidad de Despliegue</a:t>
            </a:r>
          </a:p>
        </p:txBody>
      </p:sp>
    </p:spTree>
    <p:extLst>
      <p:ext uri="{BB962C8B-B14F-4D97-AF65-F5344CB8AC3E}">
        <p14:creationId xmlns:p14="http://schemas.microsoft.com/office/powerpoint/2010/main" val="2003920516"/>
      </p:ext>
    </p:extLst>
  </p:cSld>
</p:sld>
</file>

<file path=ppt/slides/slide4.xml><?xml version="1.0" encoding="utf-8"?>
<p:sld xmlns:p="http://schemas.openxmlformats.org/presentationml/2006/main">
  <p:cSld>
    <p:bg>
      <p:bgPr>
        <a:solidFill xmlns:a="http://schemas.openxmlformats.org/drawingml/2006/main">
          <a:srgbClr val="022135"/>
        </a:solidFill>
      </p:bgPr>
    </p:bg>
    <p:spTree>
      <p:nvGrpSpPr>
        <p:cNvPr id="1" name=""/>
        <p:cNvGrpSpPr/>
        <p:nvPr/>
      </p:nvGrpSpPr>
      <p:grpSpPr>
        <a:xfrm xmlns:a="http://schemas.openxmlformats.org/drawingml/2006/main"/>
      </p:grpSpPr>
      <p:sp>
        <p:nvSpPr>
          <p:cNvPr id="3" name="AutoShape 3">
            <a:extLst xmlns:a="http://schemas.openxmlformats.org/drawingml/2006/main">
              <a:ext uri="{FF2B5EF4-FFF2-40B4-BE49-F238E27FC236}">
                <a16:creationId xmlns:a16="http://schemas.microsoft.com/office/drawing/2014/main" id="{87638D65-FDE4-4447-AAC1-8898A2B93A95}"/>
              </a:ext>
            </a:extLst>
          </p:cNvPr>
          <p:cNvSpPr>
            <a:spLocks xmlns:a="http://schemas.openxmlformats.org/drawingml/2006/main" noGrp="1"/>
          </p:cNvSpPr>
          <p:nvPr/>
        </p:nvSpPr>
        <p:spPr>
          <a:xfrm xmlns:a="http://schemas.openxmlformats.org/drawingml/2006/main" rot="0" flipH="0" flipV="0">
            <a:off x="16827670" y="10477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4" name="AutoShape 4">
            <a:extLst xmlns:a="http://schemas.openxmlformats.org/drawingml/2006/main">
              <a:ext uri="{FF2B5EF4-FFF2-40B4-BE49-F238E27FC236}">
                <a16:creationId xmlns:a16="http://schemas.microsoft.com/office/drawing/2014/main" id="{F9C8CC03-6EE2-40B4-860D-95E564590373}"/>
              </a:ext>
            </a:extLst>
          </p:cNvPr>
          <p:cNvSpPr>
            <a:spLocks xmlns:a="http://schemas.openxmlformats.org/drawingml/2006/main" noGrp="1"/>
          </p:cNvSpPr>
          <p:nvPr/>
        </p:nvSpPr>
        <p:spPr>
          <a:xfrm xmlns:a="http://schemas.openxmlformats.org/drawingml/2006/main" rot="0" flipH="0" flipV="0">
            <a:off x="16827670" y="12001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5" name="AutoShape 5">
            <a:extLst xmlns:a="http://schemas.openxmlformats.org/drawingml/2006/main">
              <a:ext uri="{FF2B5EF4-FFF2-40B4-BE49-F238E27FC236}">
                <a16:creationId xmlns:a16="http://schemas.microsoft.com/office/drawing/2014/main" id="{717E86AA-E420-4DEA-9421-B3A544447C79}"/>
              </a:ext>
            </a:extLst>
          </p:cNvPr>
          <p:cNvSpPr>
            <a:spLocks xmlns:a="http://schemas.openxmlformats.org/drawingml/2006/main" noGrp="1"/>
          </p:cNvSpPr>
          <p:nvPr/>
        </p:nvSpPr>
        <p:spPr>
          <a:xfrm xmlns:a="http://schemas.openxmlformats.org/drawingml/2006/main" rot="0" flipH="0" flipV="0">
            <a:off x="16827670" y="13525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6" name="Freeform 6">
            <a:extLst xmlns:a="http://schemas.openxmlformats.org/drawingml/2006/main">
              <a:ext uri="{FF2B5EF4-FFF2-40B4-BE49-F238E27FC236}">
                <a16:creationId xmlns:a16="http://schemas.microsoft.com/office/drawing/2014/main" id="{D7351AEC-E045-44E1-81C8-C570EE01EB07}"/>
              </a:ext>
            </a:extLst>
          </p:cNvPr>
          <p:cNvSpPr>
            <a:spLocks xmlns:a="http://schemas.openxmlformats.org/drawingml/2006/main" noGrp="1"/>
          </p:cNvSpPr>
          <p:nvPr/>
        </p:nvSpPr>
        <p:spPr>
          <a:xfrm xmlns:a="http://schemas.openxmlformats.org/drawingml/2006/main" rot="0" flipH="1" flipV="0">
            <a:off x="689510" y="3861352"/>
            <a:ext cx="3325202" cy="3219389"/>
          </a:xfrm>
          <a:custGeom xmlns:a="http://schemas.openxmlformats.org/drawingml/2006/main">
            <a:rect l="l" t="t" r="r" b="b"/>
            <a:pathLst>
              <a:path w="3325202" h="3219389">
                <a:moveTo>
                  <a:pt x="3325202" y="0"/>
                </a:moveTo>
                <a:lnTo>
                  <a:pt x="0" y="0"/>
                </a:lnTo>
                <a:lnTo>
                  <a:pt x="0" y="3219389"/>
                </a:lnTo>
                <a:lnTo>
                  <a:pt x="3325202" y="3219389"/>
                </a:lnTo>
                <a:lnTo>
                  <a:pt x="3325202" y="0"/>
                </a:lnTo>
                <a:close/>
              </a:path>
            </a:pathLst>
          </a:custGeom>
          <a:blipFill xmlns:a="http://schemas.openxmlformats.org/drawingml/2006/main">
            <a:blip xmlns:r="http://schemas.openxmlformats.org/officeDocument/2006/relationships" r:embed="R65653d29ca944310">
              <a:extLst>
                <a:ext uri="{96DAC541-7B7A-43D3-8B79-37D633B846F1}">
                  <asvg:svgBlip xmlns:asvg="http://schemas.microsoft.com/office/drawing/2016/SVG/main" r:embed="Rf6ff18b63bf246fe"/>
                </a:ext>
              </a:extLst>
            </a:blip>
            <a:stretch>
              <a:fillRect l="0" t="0" r="0" b="0"/>
            </a:stretch>
          </a:blipFill>
        </p:spPr>
      </p:sp>
      <p:sp>
        <p:nvSpPr>
          <p:cNvPr id="7" name="TextBox 7">
            <a:extLst xmlns:a="http://schemas.openxmlformats.org/drawingml/2006/main">
              <a:ext uri="{FF2B5EF4-FFF2-40B4-BE49-F238E27FC236}">
                <a16:creationId xmlns:a16="http://schemas.microsoft.com/office/drawing/2014/main" id="{4B11311B-D0AF-4EF5-B829-52931EB06C0B}"/>
              </a:ext>
            </a:extLst>
          </p:cNvPr>
          <p:cNvSpPr>
            <a:spLocks xmlns:a="http://schemas.openxmlformats.org/drawingml/2006/main" noGrp="1"/>
          </p:cNvSpPr>
          <p:nvPr/>
        </p:nvSpPr>
        <p:spPr>
          <a:xfrm xmlns:a="http://schemas.openxmlformats.org/drawingml/2006/main" rot="0">
            <a:off x="689510" y="1527810"/>
            <a:ext cx="15964654" cy="895931"/>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639"/>
              </a:lnSpc>
              <a:buNone/>
            </a:pPr>
            <a:r>
              <a:rPr sz="2599">
                <a:solidFill>
                  <a:srgbClr val="FFFFFF"/>
                </a:solidFill>
                <a:latin typeface="Inter"/>
                <a:ea typeface="Inter"/>
                <a:cs typeface="Inter"/>
              </a:rPr>
              <a:t>El valor del sistema aparece cuando el turno y el historial médico quedan conectados.</a:t>
            </a:r>
          </a:p>
          <a:p xmlns:a="http://schemas.openxmlformats.org/drawingml/2006/main">
            <a:pPr algn="ctr">
              <a:lnSpc>
                <a:spcPts val="3639"/>
              </a:lnSpc>
              <a:spcBef>
                <a:spcPct val="0"/>
              </a:spcBef>
              <a:buNone/>
            </a:pPr>
          </a:p>
        </p:txBody>
      </p:sp>
      <p:sp>
        <p:nvSpPr>
          <p:cNvPr id="8" name="Freeform 8">
            <a:extLst xmlns:a="http://schemas.openxmlformats.org/drawingml/2006/main">
              <a:ext uri="{FF2B5EF4-FFF2-40B4-BE49-F238E27FC236}">
                <a16:creationId xmlns:a16="http://schemas.microsoft.com/office/drawing/2014/main" id="{10B439F8-443A-4502-BADD-0EED808B9FEB}"/>
              </a:ext>
            </a:extLst>
          </p:cNvPr>
          <p:cNvSpPr>
            <a:spLocks xmlns:a="http://schemas.openxmlformats.org/drawingml/2006/main" noGrp="1"/>
          </p:cNvSpPr>
          <p:nvPr/>
        </p:nvSpPr>
        <p:spPr>
          <a:xfrm xmlns:a="http://schemas.openxmlformats.org/drawingml/2006/main" rot="0" flipH="1" flipV="0">
            <a:off x="5178150" y="2319572"/>
            <a:ext cx="3325202" cy="3219389"/>
          </a:xfrm>
          <a:custGeom xmlns:a="http://schemas.openxmlformats.org/drawingml/2006/main">
            <a:rect l="l" t="t" r="r" b="b"/>
            <a:pathLst>
              <a:path w="3325202" h="3219389">
                <a:moveTo>
                  <a:pt x="3325202" y="0"/>
                </a:moveTo>
                <a:lnTo>
                  <a:pt x="0" y="0"/>
                </a:lnTo>
                <a:lnTo>
                  <a:pt x="0" y="3219388"/>
                </a:lnTo>
                <a:lnTo>
                  <a:pt x="3325202" y="3219388"/>
                </a:lnTo>
                <a:lnTo>
                  <a:pt x="3325202" y="0"/>
                </a:lnTo>
                <a:close/>
              </a:path>
            </a:pathLst>
          </a:custGeom>
          <a:blipFill xmlns:a="http://schemas.openxmlformats.org/drawingml/2006/main">
            <a:blip xmlns:r="http://schemas.openxmlformats.org/officeDocument/2006/relationships" r:embed="R65653d29ca944310">
              <a:extLst>
                <a:ext uri="{96DAC541-7B7A-43D3-8B79-37D633B846F1}">
                  <asvg:svgBlip xmlns:asvg="http://schemas.microsoft.com/office/drawing/2016/SVG/main" r:embed="Rf6ff18b63bf246fe"/>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5B5A2A3A-5F3F-4884-A8CA-2B295A8AC9C2}"/>
              </a:ext>
            </a:extLst>
          </p:cNvPr>
          <p:cNvSpPr>
            <a:spLocks xmlns:a="http://schemas.openxmlformats.org/drawingml/2006/main" noGrp="1"/>
          </p:cNvSpPr>
          <p:nvPr/>
        </p:nvSpPr>
        <p:spPr>
          <a:xfrm xmlns:a="http://schemas.openxmlformats.org/drawingml/2006/main" rot="0" flipH="1" flipV="0">
            <a:off x="9666790" y="3861352"/>
            <a:ext cx="3325202" cy="3219389"/>
          </a:xfrm>
          <a:custGeom xmlns:a="http://schemas.openxmlformats.org/drawingml/2006/main">
            <a:rect l="l" t="t" r="r" b="b"/>
            <a:pathLst>
              <a:path w="3325202" h="3219389">
                <a:moveTo>
                  <a:pt x="3325202" y="0"/>
                </a:moveTo>
                <a:lnTo>
                  <a:pt x="0" y="0"/>
                </a:lnTo>
                <a:lnTo>
                  <a:pt x="0" y="3219389"/>
                </a:lnTo>
                <a:lnTo>
                  <a:pt x="3325202" y="3219389"/>
                </a:lnTo>
                <a:lnTo>
                  <a:pt x="3325202" y="0"/>
                </a:lnTo>
                <a:close/>
              </a:path>
            </a:pathLst>
          </a:custGeom>
          <a:blipFill xmlns:a="http://schemas.openxmlformats.org/drawingml/2006/main">
            <a:blip xmlns:r="http://schemas.openxmlformats.org/officeDocument/2006/relationships" r:embed="R65653d29ca944310">
              <a:extLst>
                <a:ext uri="{96DAC541-7B7A-43D3-8B79-37D633B846F1}">
                  <asvg:svgBlip xmlns:asvg="http://schemas.microsoft.com/office/drawing/2016/SVG/main" r:embed="Rf6ff18b63bf246fe"/>
                </a:ext>
              </a:extLst>
            </a:blip>
            <a:stretch>
              <a:fillRect l="0" t="0" r="0" b="0"/>
            </a:stretch>
          </a:blipFill>
        </p:spPr>
      </p:sp>
      <p:sp>
        <p:nvSpPr>
          <p:cNvPr id="10" name="Freeform 10">
            <a:extLst xmlns:a="http://schemas.openxmlformats.org/drawingml/2006/main">
              <a:ext uri="{FF2B5EF4-FFF2-40B4-BE49-F238E27FC236}">
                <a16:creationId xmlns:a16="http://schemas.microsoft.com/office/drawing/2014/main" id="{6AF80E8E-897A-4759-8A6E-BCEE55614203}"/>
              </a:ext>
            </a:extLst>
          </p:cNvPr>
          <p:cNvSpPr>
            <a:spLocks xmlns:a="http://schemas.openxmlformats.org/drawingml/2006/main" noGrp="1"/>
          </p:cNvSpPr>
          <p:nvPr/>
        </p:nvSpPr>
        <p:spPr>
          <a:xfrm xmlns:a="http://schemas.openxmlformats.org/drawingml/2006/main" rot="0" flipH="1" flipV="0">
            <a:off x="13934098" y="2423795"/>
            <a:ext cx="3325202" cy="3219389"/>
          </a:xfrm>
          <a:custGeom xmlns:a="http://schemas.openxmlformats.org/drawingml/2006/main">
            <a:rect l="l" t="t" r="r" b="b"/>
            <a:pathLst>
              <a:path w="3325202" h="3219389">
                <a:moveTo>
                  <a:pt x="3325202" y="0"/>
                </a:moveTo>
                <a:lnTo>
                  <a:pt x="0" y="0"/>
                </a:lnTo>
                <a:lnTo>
                  <a:pt x="0" y="3219389"/>
                </a:lnTo>
                <a:lnTo>
                  <a:pt x="3325202" y="3219389"/>
                </a:lnTo>
                <a:lnTo>
                  <a:pt x="3325202" y="0"/>
                </a:lnTo>
                <a:close/>
              </a:path>
            </a:pathLst>
          </a:custGeom>
          <a:blipFill xmlns:a="http://schemas.openxmlformats.org/drawingml/2006/main">
            <a:blip xmlns:r="http://schemas.openxmlformats.org/officeDocument/2006/relationships" r:embed="R65653d29ca944310">
              <a:extLst>
                <a:ext uri="{96DAC541-7B7A-43D3-8B79-37D633B846F1}">
                  <asvg:svgBlip xmlns:asvg="http://schemas.microsoft.com/office/drawing/2016/SVG/main" r:embed="Rf6ff18b63bf246fe"/>
                </a:ext>
              </a:extLst>
            </a:blip>
            <a:stretch>
              <a:fillRect l="0" t="0" r="0" b="0"/>
            </a:stretch>
          </a:blipFill>
        </p:spPr>
      </p:sp>
      <p:sp>
        <p:nvSpPr>
          <p:cNvPr id="11" name="Freeform 11">
            <a:extLst xmlns:a="http://schemas.openxmlformats.org/drawingml/2006/main">
              <a:ext uri="{FF2B5EF4-FFF2-40B4-BE49-F238E27FC236}">
                <a16:creationId xmlns:a16="http://schemas.microsoft.com/office/drawing/2014/main" id="{82522D1C-9E8C-45DB-9DF1-E1D365E69780}"/>
              </a:ext>
            </a:extLst>
          </p:cNvPr>
          <p:cNvSpPr>
            <a:spLocks xmlns:a="http://schemas.openxmlformats.org/drawingml/2006/main" noGrp="1"/>
          </p:cNvSpPr>
          <p:nvPr/>
        </p:nvSpPr>
        <p:spPr>
          <a:xfrm xmlns:a="http://schemas.openxmlformats.org/drawingml/2006/main" rot="3163539" flipH="0" flipV="1">
            <a:off x="12610232" y="3080947"/>
            <a:ext cx="882023" cy="2632903"/>
          </a:xfrm>
          <a:custGeom xmlns:a="http://schemas.openxmlformats.org/drawingml/2006/main">
            <a:rect l="l" t="t" r="r" b="b"/>
            <a:pathLst>
              <a:path w="882023" h="2632903">
                <a:moveTo>
                  <a:pt x="0" y="2632903"/>
                </a:moveTo>
                <a:lnTo>
                  <a:pt x="882023" y="2632903"/>
                </a:lnTo>
                <a:lnTo>
                  <a:pt x="882023" y="0"/>
                </a:lnTo>
                <a:lnTo>
                  <a:pt x="0" y="0"/>
                </a:lnTo>
                <a:lnTo>
                  <a:pt x="0" y="2632903"/>
                </a:lnTo>
                <a:close/>
              </a:path>
            </a:pathLst>
          </a:custGeom>
          <a:blipFill xmlns:a="http://schemas.openxmlformats.org/drawingml/2006/main">
            <a:blip xmlns:r="http://schemas.openxmlformats.org/officeDocument/2006/relationships" r:embed="Ra012d2274f3247ee">
              <a:extLst>
                <a:ext uri="{96DAC541-7B7A-43D3-8B79-37D633B846F1}">
                  <asvg:svgBlip xmlns:asvg="http://schemas.microsoft.com/office/drawing/2016/SVG/main" r:embed="R4393be8c66a945c4"/>
                </a:ext>
              </a:extLst>
            </a:blip>
            <a:stretch>
              <a:fillRect l="0" t="0" r="0" b="0"/>
            </a:stretch>
          </a:blipFill>
        </p:spPr>
      </p:sp>
      <p:sp>
        <p:nvSpPr>
          <p:cNvPr id="12" name="Freeform 12">
            <a:extLst xmlns:a="http://schemas.openxmlformats.org/drawingml/2006/main">
              <a:ext uri="{FF2B5EF4-FFF2-40B4-BE49-F238E27FC236}">
                <a16:creationId xmlns:a16="http://schemas.microsoft.com/office/drawing/2014/main" id="{FD9B1CD9-8182-4C1A-ABB0-2FA48FAE7C5A}"/>
              </a:ext>
            </a:extLst>
          </p:cNvPr>
          <p:cNvSpPr>
            <a:spLocks xmlns:a="http://schemas.openxmlformats.org/drawingml/2006/main" noGrp="1"/>
          </p:cNvSpPr>
          <p:nvPr/>
        </p:nvSpPr>
        <p:spPr>
          <a:xfrm xmlns:a="http://schemas.openxmlformats.org/drawingml/2006/main" rot="2060370" flipH="0" flipV="0">
            <a:off x="7623721" y="3328340"/>
            <a:ext cx="3040558" cy="1048992"/>
          </a:xfrm>
          <a:custGeom xmlns:a="http://schemas.openxmlformats.org/drawingml/2006/main">
            <a:rect l="l" t="t" r="r" b="b"/>
            <a:pathLst>
              <a:path w="3040558" h="1048992">
                <a:moveTo>
                  <a:pt x="0" y="0"/>
                </a:moveTo>
                <a:lnTo>
                  <a:pt x="3040558" y="0"/>
                </a:lnTo>
                <a:lnTo>
                  <a:pt x="3040558" y="1048992"/>
                </a:lnTo>
                <a:lnTo>
                  <a:pt x="0" y="1048992"/>
                </a:lnTo>
                <a:lnTo>
                  <a:pt x="0" y="0"/>
                </a:lnTo>
                <a:close/>
              </a:path>
            </a:pathLst>
          </a:custGeom>
          <a:blipFill xmlns:a="http://schemas.openxmlformats.org/drawingml/2006/main">
            <a:blip xmlns:r="http://schemas.openxmlformats.org/officeDocument/2006/relationships" r:embed="Rec244cc049654686">
              <a:extLst>
                <a:ext uri="{96DAC541-7B7A-43D3-8B79-37D633B846F1}">
                  <asvg:svgBlip xmlns:asvg="http://schemas.microsoft.com/office/drawing/2016/SVG/main" r:embed="R6c26d91aef094dc0"/>
                </a:ext>
              </a:extLst>
            </a:blip>
            <a:stretch>
              <a:fillRect l="0" t="0" r="0" b="0"/>
            </a:stretch>
          </a:blipFill>
        </p:spPr>
      </p:sp>
      <p:sp>
        <p:nvSpPr>
          <p:cNvPr id="13" name="TextBox 13">
            <a:extLst xmlns:a="http://schemas.openxmlformats.org/drawingml/2006/main">
              <a:ext uri="{FF2B5EF4-FFF2-40B4-BE49-F238E27FC236}">
                <a16:creationId xmlns:a16="http://schemas.microsoft.com/office/drawing/2014/main" id="{9B22D0FB-B2A0-4B73-8169-1951D61AC476}"/>
              </a:ext>
            </a:extLst>
          </p:cNvPr>
          <p:cNvSpPr>
            <a:spLocks xmlns:a="http://schemas.openxmlformats.org/drawingml/2006/main" noGrp="1"/>
          </p:cNvSpPr>
          <p:nvPr/>
        </p:nvSpPr>
        <p:spPr>
          <a:xfrm xmlns:a="http://schemas.openxmlformats.org/drawingml/2006/main" rot="0">
            <a:off x="1028700" y="4658428"/>
            <a:ext cx="2461611" cy="140779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779"/>
              </a:lnSpc>
              <a:buNone/>
            </a:pPr>
            <a:r>
              <a:rPr sz="2699" b="1">
                <a:solidFill>
                  <a:srgbClr val="FFFFFF"/>
                </a:solidFill>
                <a:latin typeface="Inter Bold"/>
                <a:ea typeface="Inter Bold"/>
                <a:cs typeface="Inter Bold"/>
              </a:rPr>
              <a:t>1 </a:t>
            </a:r>
          </a:p>
          <a:p xmlns:a="http://schemas.openxmlformats.org/drawingml/2006/main">
            <a:pPr algn="ctr">
              <a:lnSpc>
                <a:spcPts val="3779"/>
              </a:lnSpc>
              <a:spcBef>
                <a:spcPct val="0"/>
              </a:spcBef>
              <a:buNone/>
            </a:pPr>
            <a:r>
              <a:rPr sz="2699" b="1">
                <a:solidFill>
                  <a:srgbClr val="FFFFFF"/>
                </a:solidFill>
                <a:latin typeface="Inter Bold"/>
                <a:ea typeface="Inter Bold"/>
                <a:cs typeface="Inter Bold"/>
              </a:rPr>
              <a:t>Registrar mascota</a:t>
            </a:r>
          </a:p>
        </p:txBody>
      </p:sp>
      <p:sp>
        <p:nvSpPr>
          <p:cNvPr id="14" name="TextBox 14">
            <a:extLst xmlns:a="http://schemas.openxmlformats.org/drawingml/2006/main">
              <a:ext uri="{FF2B5EF4-FFF2-40B4-BE49-F238E27FC236}">
                <a16:creationId xmlns:a16="http://schemas.microsoft.com/office/drawing/2014/main" id="{5BC8E9AB-8F53-45D9-98A4-8CC19688DFEA}"/>
              </a:ext>
            </a:extLst>
          </p:cNvPr>
          <p:cNvSpPr>
            <a:spLocks xmlns:a="http://schemas.openxmlformats.org/drawingml/2006/main" noGrp="1"/>
          </p:cNvSpPr>
          <p:nvPr/>
        </p:nvSpPr>
        <p:spPr>
          <a:xfrm xmlns:a="http://schemas.openxmlformats.org/drawingml/2006/main" rot="0">
            <a:off x="689510" y="339036"/>
            <a:ext cx="15964654" cy="123639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0080"/>
              </a:lnSpc>
              <a:spcBef>
                <a:spcPct val="0"/>
              </a:spcBef>
              <a:buNone/>
            </a:pPr>
            <a:r>
              <a:rPr sz="7200" b="1">
                <a:solidFill>
                  <a:srgbClr val="FFFFFF"/>
                </a:solidFill>
                <a:latin typeface="Bricolage Grotesque Bold"/>
                <a:ea typeface="Bricolage Grotesque Bold"/>
                <a:cs typeface="Bricolage Grotesque Bold"/>
              </a:rPr>
              <a:t>Flujo principal de la aplicación</a:t>
            </a:r>
          </a:p>
        </p:txBody>
      </p:sp>
      <p:sp>
        <p:nvSpPr>
          <p:cNvPr id="15" name="TextBox 15">
            <a:extLst xmlns:a="http://schemas.openxmlformats.org/drawingml/2006/main">
              <a:ext uri="{FF2B5EF4-FFF2-40B4-BE49-F238E27FC236}">
                <a16:creationId xmlns:a16="http://schemas.microsoft.com/office/drawing/2014/main" id="{320116BC-AD53-44D7-89C5-DF8C957595C3}"/>
              </a:ext>
            </a:extLst>
          </p:cNvPr>
          <p:cNvSpPr>
            <a:spLocks xmlns:a="http://schemas.openxmlformats.org/drawingml/2006/main" noGrp="1"/>
          </p:cNvSpPr>
          <p:nvPr/>
        </p:nvSpPr>
        <p:spPr>
          <a:xfrm xmlns:a="http://schemas.openxmlformats.org/drawingml/2006/main" rot="0">
            <a:off x="5609946" y="3133642"/>
            <a:ext cx="2461611" cy="140779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779"/>
              </a:lnSpc>
              <a:buNone/>
            </a:pPr>
            <a:r>
              <a:rPr sz="2699" b="1">
                <a:solidFill>
                  <a:srgbClr val="FFFFFF"/>
                </a:solidFill>
                <a:latin typeface="Inter Bold"/>
                <a:ea typeface="Inter Bold"/>
                <a:cs typeface="Inter Bold"/>
              </a:rPr>
              <a:t>2</a:t>
            </a:r>
          </a:p>
          <a:p xmlns:a="http://schemas.openxmlformats.org/drawingml/2006/main">
            <a:pPr algn="ctr">
              <a:lnSpc>
                <a:spcPts val="3779"/>
              </a:lnSpc>
              <a:buNone/>
            </a:pPr>
            <a:r>
              <a:rPr sz="2699" b="1">
                <a:solidFill>
                  <a:srgbClr val="FFFFFF"/>
                </a:solidFill>
                <a:latin typeface="Inter Bold"/>
                <a:ea typeface="Inter Bold"/>
                <a:cs typeface="Inter Bold"/>
              </a:rPr>
              <a:t>Solicitar </a:t>
            </a:r>
          </a:p>
          <a:p xmlns:a="http://schemas.openxmlformats.org/drawingml/2006/main">
            <a:pPr algn="ctr">
              <a:lnSpc>
                <a:spcPts val="3779"/>
              </a:lnSpc>
              <a:spcBef>
                <a:spcPct val="0"/>
              </a:spcBef>
              <a:buNone/>
            </a:pPr>
            <a:r>
              <a:rPr sz="2699" b="1">
                <a:solidFill>
                  <a:srgbClr val="FFFFFF"/>
                </a:solidFill>
                <a:latin typeface="Inter Bold"/>
                <a:ea typeface="Inter Bold"/>
                <a:cs typeface="Inter Bold"/>
              </a:rPr>
              <a:t>turno</a:t>
            </a:r>
          </a:p>
        </p:txBody>
      </p:sp>
      <p:sp>
        <p:nvSpPr>
          <p:cNvPr id="16" name="TextBox 16">
            <a:extLst xmlns:a="http://schemas.openxmlformats.org/drawingml/2006/main">
              <a:ext uri="{FF2B5EF4-FFF2-40B4-BE49-F238E27FC236}">
                <a16:creationId xmlns:a16="http://schemas.microsoft.com/office/drawing/2014/main" id="{15B1D1A9-93DE-4276-B063-7A2E607AE315}"/>
              </a:ext>
            </a:extLst>
          </p:cNvPr>
          <p:cNvSpPr>
            <a:spLocks xmlns:a="http://schemas.openxmlformats.org/drawingml/2006/main" noGrp="1"/>
          </p:cNvSpPr>
          <p:nvPr/>
        </p:nvSpPr>
        <p:spPr>
          <a:xfrm xmlns:a="http://schemas.openxmlformats.org/drawingml/2006/main" rot="0">
            <a:off x="10098586" y="4915474"/>
            <a:ext cx="2461611" cy="140779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779"/>
              </a:lnSpc>
              <a:buNone/>
            </a:pPr>
            <a:r>
              <a:rPr sz="2699" b="1">
                <a:solidFill>
                  <a:srgbClr val="FFFFFF"/>
                </a:solidFill>
                <a:latin typeface="Inter Bold"/>
                <a:ea typeface="Inter Bold"/>
                <a:cs typeface="Inter Bold"/>
              </a:rPr>
              <a:t>3</a:t>
            </a:r>
          </a:p>
          <a:p xmlns:a="http://schemas.openxmlformats.org/drawingml/2006/main">
            <a:pPr algn="ctr">
              <a:lnSpc>
                <a:spcPts val="3779"/>
              </a:lnSpc>
              <a:buNone/>
            </a:pPr>
            <a:r>
              <a:rPr sz="2699" b="1">
                <a:solidFill>
                  <a:srgbClr val="FFFFFF"/>
                </a:solidFill>
                <a:latin typeface="Inter Bold"/>
                <a:ea typeface="Inter Bold"/>
                <a:cs typeface="Inter Bold"/>
              </a:rPr>
              <a:t>Atender </a:t>
            </a:r>
          </a:p>
          <a:p xmlns:a="http://schemas.openxmlformats.org/drawingml/2006/main">
            <a:pPr algn="ctr">
              <a:lnSpc>
                <a:spcPts val="3779"/>
              </a:lnSpc>
              <a:spcBef>
                <a:spcPct val="0"/>
              </a:spcBef>
              <a:buNone/>
            </a:pPr>
            <a:r>
              <a:rPr sz="2699" b="1">
                <a:solidFill>
                  <a:srgbClr val="FFFFFF"/>
                </a:solidFill>
                <a:latin typeface="Inter Bold"/>
                <a:ea typeface="Inter Bold"/>
                <a:cs typeface="Inter Bold"/>
              </a:rPr>
              <a:t>consulta</a:t>
            </a:r>
          </a:p>
        </p:txBody>
      </p:sp>
      <p:sp>
        <p:nvSpPr>
          <p:cNvPr id="17" name="TextBox 17">
            <a:extLst xmlns:a="http://schemas.openxmlformats.org/drawingml/2006/main">
              <a:ext uri="{FF2B5EF4-FFF2-40B4-BE49-F238E27FC236}">
                <a16:creationId xmlns:a16="http://schemas.microsoft.com/office/drawing/2014/main" id="{859F8E49-33AF-4E07-963C-33670BF2A64A}"/>
              </a:ext>
            </a:extLst>
          </p:cNvPr>
          <p:cNvSpPr>
            <a:spLocks xmlns:a="http://schemas.openxmlformats.org/drawingml/2006/main" noGrp="1"/>
          </p:cNvSpPr>
          <p:nvPr/>
        </p:nvSpPr>
        <p:spPr>
          <a:xfrm xmlns:a="http://schemas.openxmlformats.org/drawingml/2006/main" rot="0">
            <a:off x="14365893" y="3201556"/>
            <a:ext cx="2461611" cy="140779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779"/>
              </a:lnSpc>
              <a:buNone/>
            </a:pPr>
            <a:r>
              <a:rPr sz="2699" b="1">
                <a:solidFill>
                  <a:srgbClr val="FFFFFF"/>
                </a:solidFill>
                <a:latin typeface="Inter Bold"/>
                <a:ea typeface="Inter Bold"/>
                <a:cs typeface="Inter Bold"/>
              </a:rPr>
              <a:t>4</a:t>
            </a:r>
          </a:p>
          <a:p xmlns:a="http://schemas.openxmlformats.org/drawingml/2006/main">
            <a:pPr algn="ctr">
              <a:lnSpc>
                <a:spcPts val="3779"/>
              </a:lnSpc>
              <a:buNone/>
            </a:pPr>
            <a:r>
              <a:rPr sz="2699" b="1">
                <a:solidFill>
                  <a:srgbClr val="FFFFFF"/>
                </a:solidFill>
                <a:latin typeface="Inter Bold"/>
                <a:ea typeface="Inter Bold"/>
                <a:cs typeface="Inter Bold"/>
              </a:rPr>
              <a:t>Actualizar</a:t>
            </a:r>
          </a:p>
          <a:p xmlns:a="http://schemas.openxmlformats.org/drawingml/2006/main">
            <a:pPr algn="ctr">
              <a:lnSpc>
                <a:spcPts val="3779"/>
              </a:lnSpc>
              <a:spcBef>
                <a:spcPct val="0"/>
              </a:spcBef>
              <a:buNone/>
            </a:pPr>
            <a:r>
              <a:rPr sz="2699" b="1">
                <a:solidFill>
                  <a:srgbClr val="FFFFFF"/>
                </a:solidFill>
                <a:latin typeface="Inter Bold"/>
                <a:ea typeface="Inter Bold"/>
                <a:cs typeface="Inter Bold"/>
              </a:rPr>
              <a:t>historial</a:t>
            </a:r>
          </a:p>
        </p:txBody>
      </p:sp>
      <p:sp>
        <p:nvSpPr>
          <p:cNvPr id="18" name="Freeform 18">
            <a:extLst xmlns:a="http://schemas.openxmlformats.org/drawingml/2006/main">
              <a:ext uri="{FF2B5EF4-FFF2-40B4-BE49-F238E27FC236}">
                <a16:creationId xmlns:a16="http://schemas.microsoft.com/office/drawing/2014/main" id="{5E542108-0B34-4C72-8ED7-7CFD684872C4}"/>
              </a:ext>
            </a:extLst>
          </p:cNvPr>
          <p:cNvSpPr>
            <a:spLocks xmlns:a="http://schemas.openxmlformats.org/drawingml/2006/main" noGrp="1"/>
          </p:cNvSpPr>
          <p:nvPr/>
        </p:nvSpPr>
        <p:spPr>
          <a:xfrm xmlns:a="http://schemas.openxmlformats.org/drawingml/2006/main" rot="4190437" flipH="1" flipV="1">
            <a:off x="4332713" y="4515236"/>
            <a:ext cx="738804" cy="2205384"/>
          </a:xfrm>
          <a:custGeom xmlns:a="http://schemas.openxmlformats.org/drawingml/2006/main">
            <a:rect l="l" t="t" r="r" b="b"/>
            <a:pathLst>
              <a:path w="738804" h="2205384">
                <a:moveTo>
                  <a:pt x="738804" y="2205384"/>
                </a:moveTo>
                <a:lnTo>
                  <a:pt x="0" y="2205384"/>
                </a:lnTo>
                <a:lnTo>
                  <a:pt x="0" y="0"/>
                </a:lnTo>
                <a:lnTo>
                  <a:pt x="738804" y="0"/>
                </a:lnTo>
                <a:lnTo>
                  <a:pt x="738804" y="2205384"/>
                </a:lnTo>
                <a:close/>
              </a:path>
            </a:pathLst>
          </a:custGeom>
          <a:blipFill xmlns:a="http://schemas.openxmlformats.org/drawingml/2006/main">
            <a:blip xmlns:r="http://schemas.openxmlformats.org/officeDocument/2006/relationships" r:embed="Ra012d2274f3247ee">
              <a:extLst>
                <a:ext uri="{96DAC541-7B7A-43D3-8B79-37D633B846F1}">
                  <asvg:svgBlip xmlns:asvg="http://schemas.microsoft.com/office/drawing/2016/SVG/main" r:embed="R4393be8c66a945c4"/>
                </a:ext>
              </a:extLst>
            </a:blip>
            <a:stretch>
              <a:fillRect l="0" t="0" r="0" b="0"/>
            </a:stretch>
          </a:blipFill>
        </p:spPr>
      </p:sp>
      <p:sp>
        <p:nvSpPr>
          <p:cNvPr id="19" name="TextBox 19">
            <a:extLst xmlns:a="http://schemas.openxmlformats.org/drawingml/2006/main">
              <a:ext uri="{FF2B5EF4-FFF2-40B4-BE49-F238E27FC236}">
                <a16:creationId xmlns:a16="http://schemas.microsoft.com/office/drawing/2014/main" id="{95D9A0EC-6881-4B13-A4C4-502CEE085EA6}"/>
              </a:ext>
            </a:extLst>
          </p:cNvPr>
          <p:cNvSpPr>
            <a:spLocks xmlns:a="http://schemas.openxmlformats.org/drawingml/2006/main" noGrp="1"/>
          </p:cNvSpPr>
          <p:nvPr/>
        </p:nvSpPr>
        <p:spPr>
          <a:xfrm xmlns:a="http://schemas.openxmlformats.org/drawingml/2006/main" rot="0">
            <a:off x="1028700" y="7861791"/>
            <a:ext cx="7039594" cy="1353104"/>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639"/>
              </a:lnSpc>
              <a:spcBef>
                <a:spcPct val="0"/>
              </a:spcBef>
              <a:buNone/>
            </a:pPr>
            <a:r>
              <a:rPr sz="2599">
                <a:solidFill>
                  <a:srgbClr val="FFFFFF"/>
                </a:solidFill>
                <a:latin typeface="Inter"/>
                <a:ea typeface="Inter"/>
                <a:cs typeface="Inter"/>
              </a:rPr>
              <a:t>El sistema debe evitar doble reserva de horarios y mantener la información médica consistente.</a:t>
            </a:r>
          </a:p>
        </p:txBody>
      </p:sp>
      <p:sp>
        <p:nvSpPr>
          <p:cNvPr id="20" name="TextBox 20">
            <a:extLst xmlns:a="http://schemas.openxmlformats.org/drawingml/2006/main">
              <a:ext uri="{FF2B5EF4-FFF2-40B4-BE49-F238E27FC236}">
                <a16:creationId xmlns:a16="http://schemas.microsoft.com/office/drawing/2014/main" id="{EFFD19AF-DF75-4699-8512-ACBFABC90827}"/>
              </a:ext>
            </a:extLst>
          </p:cNvPr>
          <p:cNvSpPr>
            <a:spLocks xmlns:a="http://schemas.openxmlformats.org/drawingml/2006/main" noGrp="1"/>
          </p:cNvSpPr>
          <p:nvPr/>
        </p:nvSpPr>
        <p:spPr>
          <a:xfrm xmlns:a="http://schemas.openxmlformats.org/drawingml/2006/main" rot="0">
            <a:off x="10219706" y="7861791"/>
            <a:ext cx="7039594" cy="1353104"/>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639"/>
              </a:lnSpc>
              <a:spcBef>
                <a:spcPct val="0"/>
              </a:spcBef>
              <a:buNone/>
            </a:pPr>
            <a:r>
              <a:rPr sz="2599">
                <a:solidFill>
                  <a:srgbClr val="FFFFFF"/>
                </a:solidFill>
                <a:latin typeface="Inter"/>
                <a:ea typeface="Inter"/>
                <a:cs typeface="Inter"/>
              </a:rPr>
              <a:t>La historia clínica queda disponible para futuras consultas del veterinario y del cliente.</a:t>
            </a:r>
          </a:p>
        </p:txBody>
      </p:sp>
    </p:spTree>
    <p:extLst>
      <p:ext uri="{BB962C8B-B14F-4D97-AF65-F5344CB8AC3E}">
        <p14:creationId xmlns:p14="http://schemas.microsoft.com/office/powerpoint/2010/main" val="135430460"/>
      </p:ext>
    </p:extLst>
  </p:cSld>
</p:sld>
</file>

<file path=ppt/slides/slide5.xml><?xml version="1.0" encoding="utf-8"?>
<p:sld xmlns:p="http://schemas.openxmlformats.org/presentationml/2006/main">
  <p:cSld>
    <p:bg>
      <p:bgPr>
        <a:solidFill xmlns:a="http://schemas.openxmlformats.org/drawingml/2006/main">
          <a:srgbClr val="022135"/>
        </a:solidFill>
      </p:bgPr>
    </p:bg>
    <p:spTree>
      <p:nvGrpSpPr>
        <p:cNvPr id="1" name=""/>
        <p:cNvGrpSpPr/>
        <p:nvPr/>
      </p:nvGrpSpPr>
      <p:grpSpPr>
        <a:xfrm xmlns:a="http://schemas.openxmlformats.org/drawingml/2006/main"/>
      </p:grpSpPr>
      <p:sp>
        <p:nvSpPr>
          <p:cNvPr id="3" name="AutoShape 3">
            <a:extLst xmlns:a="http://schemas.openxmlformats.org/drawingml/2006/main">
              <a:ext uri="{FF2B5EF4-FFF2-40B4-BE49-F238E27FC236}">
                <a16:creationId xmlns:a16="http://schemas.microsoft.com/office/drawing/2014/main" id="{E8D51251-4214-4A0D-AB4E-65515AB1AAB8}"/>
              </a:ext>
            </a:extLst>
          </p:cNvPr>
          <p:cNvSpPr>
            <a:spLocks xmlns:a="http://schemas.openxmlformats.org/drawingml/2006/main" noGrp="1"/>
          </p:cNvSpPr>
          <p:nvPr/>
        </p:nvSpPr>
        <p:spPr>
          <a:xfrm xmlns:a="http://schemas.openxmlformats.org/drawingml/2006/main" rot="0" flipH="0" flipV="0">
            <a:off x="16827670" y="10477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4" name="AutoShape 4">
            <a:extLst xmlns:a="http://schemas.openxmlformats.org/drawingml/2006/main">
              <a:ext uri="{FF2B5EF4-FFF2-40B4-BE49-F238E27FC236}">
                <a16:creationId xmlns:a16="http://schemas.microsoft.com/office/drawing/2014/main" id="{4051E2ED-5AF7-4132-BCC0-1D76C8D31AF4}"/>
              </a:ext>
            </a:extLst>
          </p:cNvPr>
          <p:cNvSpPr>
            <a:spLocks xmlns:a="http://schemas.openxmlformats.org/drawingml/2006/main" noGrp="1"/>
          </p:cNvSpPr>
          <p:nvPr/>
        </p:nvSpPr>
        <p:spPr>
          <a:xfrm xmlns:a="http://schemas.openxmlformats.org/drawingml/2006/main" rot="0" flipH="0" flipV="0">
            <a:off x="16827670" y="12001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5" name="AutoShape 5">
            <a:extLst xmlns:a="http://schemas.openxmlformats.org/drawingml/2006/main">
              <a:ext uri="{FF2B5EF4-FFF2-40B4-BE49-F238E27FC236}">
                <a16:creationId xmlns:a16="http://schemas.microsoft.com/office/drawing/2014/main" id="{830647AD-F80C-45FF-92DC-36BB3A4DCD99}"/>
              </a:ext>
            </a:extLst>
          </p:cNvPr>
          <p:cNvSpPr>
            <a:spLocks xmlns:a="http://schemas.openxmlformats.org/drawingml/2006/main" noGrp="1"/>
          </p:cNvSpPr>
          <p:nvPr/>
        </p:nvSpPr>
        <p:spPr>
          <a:xfrm xmlns:a="http://schemas.openxmlformats.org/drawingml/2006/main" rot="0" flipH="0" flipV="0">
            <a:off x="16827670" y="13525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6" name="Freeform 6">
            <a:extLst xmlns:a="http://schemas.openxmlformats.org/drawingml/2006/main">
              <a:ext uri="{FF2B5EF4-FFF2-40B4-BE49-F238E27FC236}">
                <a16:creationId xmlns:a16="http://schemas.microsoft.com/office/drawing/2014/main" id="{031AEFE0-1D2C-4B0E-8E6A-3514D103D84D}"/>
              </a:ext>
            </a:extLst>
          </p:cNvPr>
          <p:cNvSpPr>
            <a:spLocks xmlns:a="http://schemas.openxmlformats.org/drawingml/2006/main" noGrp="1"/>
          </p:cNvSpPr>
          <p:nvPr/>
        </p:nvSpPr>
        <p:spPr>
          <a:xfrm xmlns:a="http://schemas.openxmlformats.org/drawingml/2006/main" rot="6586562" flipH="1" flipV="0">
            <a:off x="-466317" y="-546215"/>
            <a:ext cx="3385756" cy="3278015"/>
          </a:xfrm>
          <a:custGeom xmlns:a="http://schemas.openxmlformats.org/drawingml/2006/main">
            <a:rect l="l" t="t" r="r" b="b"/>
            <a:pathLst>
              <a:path w="3385756" h="3278015">
                <a:moveTo>
                  <a:pt x="3385756" y="0"/>
                </a:moveTo>
                <a:lnTo>
                  <a:pt x="0" y="0"/>
                </a:lnTo>
                <a:lnTo>
                  <a:pt x="0" y="3278015"/>
                </a:lnTo>
                <a:lnTo>
                  <a:pt x="3385756" y="3278015"/>
                </a:lnTo>
                <a:lnTo>
                  <a:pt x="3385756" y="0"/>
                </a:lnTo>
                <a:close/>
              </a:path>
            </a:pathLst>
          </a:custGeom>
          <a:blipFill xmlns:a="http://schemas.openxmlformats.org/drawingml/2006/main">
            <a:blip xmlns:r="http://schemas.openxmlformats.org/officeDocument/2006/relationships" r:embed="R884471e7b03949e1">
              <a:extLst>
                <a:ext uri="{96DAC541-7B7A-43D3-8B79-37D633B846F1}">
                  <asvg:svgBlip xmlns:asvg="http://schemas.microsoft.com/office/drawing/2016/SVG/main" r:embed="Rb95332ecfe8a4afe"/>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111A3D0F-62C9-48E0-AC1A-82367302BD8D}"/>
              </a:ext>
            </a:extLst>
          </p:cNvPr>
          <p:cNvSpPr>
            <a:spLocks xmlns:a="http://schemas.openxmlformats.org/drawingml/2006/main" noGrp="1"/>
          </p:cNvSpPr>
          <p:nvPr/>
        </p:nvSpPr>
        <p:spPr>
          <a:xfrm xmlns:a="http://schemas.openxmlformats.org/drawingml/2006/main" rot="0" flipH="0" flipV="0">
            <a:off x="5872734" y="3444213"/>
            <a:ext cx="3271266" cy="4114800"/>
          </a:xfrm>
          <a:custGeom xmlns:a="http://schemas.openxmlformats.org/drawingml/2006/main">
            <a:rect l="l" t="t" r="r" b="b"/>
            <a:pathLst>
              <a:path w="3271266" h="4114800">
                <a:moveTo>
                  <a:pt x="0" y="0"/>
                </a:moveTo>
                <a:lnTo>
                  <a:pt x="3271266" y="0"/>
                </a:lnTo>
                <a:lnTo>
                  <a:pt x="3271266" y="4114800"/>
                </a:lnTo>
                <a:lnTo>
                  <a:pt x="0" y="4114800"/>
                </a:lnTo>
                <a:lnTo>
                  <a:pt x="0" y="0"/>
                </a:lnTo>
                <a:close/>
              </a:path>
            </a:pathLst>
          </a:custGeom>
          <a:blipFill xmlns:a="http://schemas.openxmlformats.org/drawingml/2006/main">
            <a:blip xmlns:r="http://schemas.openxmlformats.org/officeDocument/2006/relationships" r:embed="R0ed786a47b4645b0">
              <a:extLst>
                <a:ext uri="{96DAC541-7B7A-43D3-8B79-37D633B846F1}">
                  <asvg:svgBlip xmlns:asvg="http://schemas.microsoft.com/office/drawing/2016/SVG/main" r:embed="Rcf09c6c2c569409c"/>
                </a:ext>
              </a:extLst>
            </a:blip>
            <a:stretch>
              <a:fillRect l="0" t="0" r="0" b="0"/>
            </a:stretch>
          </a:blipFill>
        </p:spPr>
      </p:sp>
      <p:sp>
        <p:nvSpPr>
          <p:cNvPr id="8" name="Freeform 8">
            <a:extLst xmlns:a="http://schemas.openxmlformats.org/drawingml/2006/main">
              <a:ext uri="{FF2B5EF4-FFF2-40B4-BE49-F238E27FC236}">
                <a16:creationId xmlns:a16="http://schemas.microsoft.com/office/drawing/2014/main" id="{A7314899-1498-4AE3-8ABE-A95BEDA06D1F}"/>
              </a:ext>
            </a:extLst>
          </p:cNvPr>
          <p:cNvSpPr>
            <a:spLocks xmlns:a="http://schemas.openxmlformats.org/drawingml/2006/main" noGrp="1"/>
          </p:cNvSpPr>
          <p:nvPr/>
        </p:nvSpPr>
        <p:spPr>
          <a:xfrm xmlns:a="http://schemas.openxmlformats.org/drawingml/2006/main" rot="0" flipH="0" flipV="0">
            <a:off x="12991992" y="4416494"/>
            <a:ext cx="3662172" cy="4114800"/>
          </a:xfrm>
          <a:custGeom xmlns:a="http://schemas.openxmlformats.org/drawingml/2006/main">
            <a:rect l="l" t="t" r="r" b="b"/>
            <a:pathLst>
              <a:path w="3662172" h="4114800">
                <a:moveTo>
                  <a:pt x="0" y="0"/>
                </a:moveTo>
                <a:lnTo>
                  <a:pt x="3662172" y="0"/>
                </a:lnTo>
                <a:lnTo>
                  <a:pt x="3662172" y="4114800"/>
                </a:lnTo>
                <a:lnTo>
                  <a:pt x="0" y="4114800"/>
                </a:lnTo>
                <a:lnTo>
                  <a:pt x="0" y="0"/>
                </a:lnTo>
                <a:close/>
              </a:path>
            </a:pathLst>
          </a:custGeom>
          <a:blipFill xmlns:a="http://schemas.openxmlformats.org/drawingml/2006/main">
            <a:blip xmlns:r="http://schemas.openxmlformats.org/officeDocument/2006/relationships" r:embed="Rbe4518804eae4936">
              <a:extLst>
                <a:ext uri="{96DAC541-7B7A-43D3-8B79-37D633B846F1}">
                  <asvg:svgBlip xmlns:asvg="http://schemas.microsoft.com/office/drawing/2016/SVG/main" r:embed="Ref8be4209ca54d34"/>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3F59FB47-062F-4505-87EA-20ACB4E503A2}"/>
              </a:ext>
            </a:extLst>
          </p:cNvPr>
          <p:cNvSpPr>
            <a:spLocks xmlns:a="http://schemas.openxmlformats.org/drawingml/2006/main" noGrp="1"/>
          </p:cNvSpPr>
          <p:nvPr/>
        </p:nvSpPr>
        <p:spPr>
          <a:xfrm xmlns:a="http://schemas.openxmlformats.org/drawingml/2006/main" rot="0" flipH="0" flipV="0">
            <a:off x="1028700" y="4416494"/>
            <a:ext cx="3435858" cy="4114800"/>
          </a:xfrm>
          <a:custGeom xmlns:a="http://schemas.openxmlformats.org/drawingml/2006/main">
            <a:rect l="l" t="t" r="r" b="b"/>
            <a:pathLst>
              <a:path w="3435858" h="4114800">
                <a:moveTo>
                  <a:pt x="0" y="0"/>
                </a:moveTo>
                <a:lnTo>
                  <a:pt x="3435858" y="0"/>
                </a:lnTo>
                <a:lnTo>
                  <a:pt x="3435858" y="4114800"/>
                </a:lnTo>
                <a:lnTo>
                  <a:pt x="0" y="4114800"/>
                </a:lnTo>
                <a:lnTo>
                  <a:pt x="0" y="0"/>
                </a:lnTo>
                <a:close/>
              </a:path>
            </a:pathLst>
          </a:custGeom>
          <a:blipFill xmlns:a="http://schemas.openxmlformats.org/drawingml/2006/main">
            <a:blip xmlns:r="http://schemas.openxmlformats.org/officeDocument/2006/relationships" r:embed="Rf95d8af4bee34560">
              <a:extLst>
                <a:ext uri="{96DAC541-7B7A-43D3-8B79-37D633B846F1}">
                  <asvg:svgBlip xmlns:asvg="http://schemas.microsoft.com/office/drawing/2016/SVG/main" r:embed="R1faf1ba449d24b4c"/>
                </a:ext>
              </a:extLst>
            </a:blip>
            <a:stretch>
              <a:fillRect l="0" t="0" r="0" b="0"/>
            </a:stretch>
          </a:blipFill>
        </p:spPr>
      </p:sp>
      <p:sp>
        <p:nvSpPr>
          <p:cNvPr id="10" name="TextBox 10">
            <a:extLst xmlns:a="http://schemas.openxmlformats.org/drawingml/2006/main">
              <a:ext uri="{FF2B5EF4-FFF2-40B4-BE49-F238E27FC236}">
                <a16:creationId xmlns:a16="http://schemas.microsoft.com/office/drawing/2014/main" id="{EC0E51F5-7124-41F1-87D4-02DD9B8F32BD}"/>
              </a:ext>
            </a:extLst>
          </p:cNvPr>
          <p:cNvSpPr>
            <a:spLocks xmlns:a="http://schemas.openxmlformats.org/drawingml/2006/main" noGrp="1"/>
          </p:cNvSpPr>
          <p:nvPr/>
        </p:nvSpPr>
        <p:spPr>
          <a:xfrm xmlns:a="http://schemas.openxmlformats.org/drawingml/2006/main" rot="0">
            <a:off x="2003721" y="5095875"/>
            <a:ext cx="4411954" cy="158951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496567" lvl="1" indent="-248284" algn="l">
              <a:lnSpc>
                <a:spcPts val="3219"/>
              </a:lnSpc>
              <a:buFont typeface="Arial"/>
              <a:buChar char="•"/>
            </a:pPr>
            <a:r>
              <a:rPr sz="2299">
                <a:solidFill>
                  <a:srgbClr val="FFFFFF"/>
                </a:solidFill>
                <a:latin typeface="Inter"/>
                <a:ea typeface="Inter"/>
                <a:cs typeface="Inter"/>
              </a:rPr>
              <a:t>Registrarse e iniciar sesión</a:t>
            </a:r>
          </a:p>
          <a:p xmlns:a="http://schemas.openxmlformats.org/drawingml/2006/main">
            <a:pPr marL="496567" lvl="1" indent="-248284" algn="l">
              <a:lnSpc>
                <a:spcPts val="3219"/>
              </a:lnSpc>
              <a:buFont typeface="Arial"/>
              <a:buChar char="•"/>
            </a:pPr>
            <a:r>
              <a:rPr sz="2299">
                <a:solidFill>
                  <a:srgbClr val="FFFFFF"/>
                </a:solidFill>
                <a:latin typeface="Inter"/>
                <a:ea typeface="Inter"/>
                <a:cs typeface="Inter"/>
              </a:rPr>
              <a:t>Registrar mascotas</a:t>
            </a:r>
          </a:p>
          <a:p xmlns:a="http://schemas.openxmlformats.org/drawingml/2006/main">
            <a:pPr marL="496567" lvl="1" indent="-248284" algn="l">
              <a:lnSpc>
                <a:spcPts val="3219"/>
              </a:lnSpc>
              <a:buFont typeface="Arial"/>
              <a:buChar char="•"/>
            </a:pPr>
            <a:r>
              <a:rPr sz="2299">
                <a:solidFill>
                  <a:srgbClr val="FFFFFF"/>
                </a:solidFill>
                <a:latin typeface="Inter"/>
                <a:ea typeface="Inter"/>
                <a:cs typeface="Inter"/>
              </a:rPr>
              <a:t>Gestionar turnos</a:t>
            </a:r>
          </a:p>
          <a:p xmlns:a="http://schemas.openxmlformats.org/drawingml/2006/main">
            <a:pPr marL="496567" lvl="1" indent="-248284" algn="l">
              <a:lnSpc>
                <a:spcPts val="3219"/>
              </a:lnSpc>
              <a:buFont typeface="Arial"/>
              <a:buChar char="•"/>
            </a:pPr>
            <a:r>
              <a:rPr sz="2299">
                <a:solidFill>
                  <a:srgbClr val="FFFFFF"/>
                </a:solidFill>
                <a:latin typeface="Inter"/>
                <a:ea typeface="Inter"/>
                <a:cs typeface="Inter"/>
              </a:rPr>
              <a:t>Consultar historial</a:t>
            </a:r>
          </a:p>
        </p:txBody>
      </p:sp>
      <p:sp>
        <p:nvSpPr>
          <p:cNvPr id="11" name="TextBox 11">
            <a:extLst xmlns:a="http://schemas.openxmlformats.org/drawingml/2006/main">
              <a:ext uri="{FF2B5EF4-FFF2-40B4-BE49-F238E27FC236}">
                <a16:creationId xmlns:a16="http://schemas.microsoft.com/office/drawing/2014/main" id="{C9742EF5-6F34-4609-AD3D-30F789DDAC93}"/>
              </a:ext>
            </a:extLst>
          </p:cNvPr>
          <p:cNvSpPr>
            <a:spLocks xmlns:a="http://schemas.openxmlformats.org/drawingml/2006/main" noGrp="1"/>
          </p:cNvSpPr>
          <p:nvPr/>
        </p:nvSpPr>
        <p:spPr>
          <a:xfrm xmlns:a="http://schemas.openxmlformats.org/drawingml/2006/main" rot="0">
            <a:off x="1748088" y="4448696"/>
            <a:ext cx="2461611" cy="45529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779"/>
              </a:lnSpc>
              <a:spcBef>
                <a:spcPct val="0"/>
              </a:spcBef>
              <a:buNone/>
            </a:pPr>
            <a:r>
              <a:rPr sz="2699" b="1">
                <a:solidFill>
                  <a:srgbClr val="FFFFFF"/>
                </a:solidFill>
                <a:latin typeface="Inter Bold"/>
                <a:ea typeface="Inter Bold"/>
                <a:cs typeface="Inter Bold"/>
              </a:rPr>
              <a:t>Cliente</a:t>
            </a:r>
          </a:p>
        </p:txBody>
      </p:sp>
      <p:sp>
        <p:nvSpPr>
          <p:cNvPr id="12" name="TextBox 12">
            <a:extLst xmlns:a="http://schemas.openxmlformats.org/drawingml/2006/main">
              <a:ext uri="{FF2B5EF4-FFF2-40B4-BE49-F238E27FC236}">
                <a16:creationId xmlns:a16="http://schemas.microsoft.com/office/drawing/2014/main" id="{DD813F32-44C2-4A8A-B743-63A4A02F55BE}"/>
              </a:ext>
            </a:extLst>
          </p:cNvPr>
          <p:cNvSpPr>
            <a:spLocks xmlns:a="http://schemas.openxmlformats.org/drawingml/2006/main" noGrp="1"/>
          </p:cNvSpPr>
          <p:nvPr/>
        </p:nvSpPr>
        <p:spPr>
          <a:xfrm xmlns:a="http://schemas.openxmlformats.org/drawingml/2006/main" rot="0">
            <a:off x="689510" y="339036"/>
            <a:ext cx="15964654" cy="123639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0080"/>
              </a:lnSpc>
              <a:spcBef>
                <a:spcPct val="0"/>
              </a:spcBef>
              <a:buNone/>
            </a:pPr>
            <a:r>
              <a:rPr sz="7200" b="1">
                <a:solidFill>
                  <a:srgbClr val="FFFFFF"/>
                </a:solidFill>
                <a:latin typeface="Bricolage Grotesque Bold"/>
                <a:ea typeface="Bricolage Grotesque Bold"/>
                <a:cs typeface="Bricolage Grotesque Bold"/>
              </a:rPr>
              <a:t>Historias de usuario principales</a:t>
            </a:r>
          </a:p>
        </p:txBody>
      </p:sp>
      <p:sp>
        <p:nvSpPr>
          <p:cNvPr id="13" name="TextBox 13">
            <a:extLst xmlns:a="http://schemas.openxmlformats.org/drawingml/2006/main">
              <a:ext uri="{FF2B5EF4-FFF2-40B4-BE49-F238E27FC236}">
                <a16:creationId xmlns:a16="http://schemas.microsoft.com/office/drawing/2014/main" id="{C5334004-DEA1-4134-92D9-EF383FBFAFF1}"/>
              </a:ext>
            </a:extLst>
          </p:cNvPr>
          <p:cNvSpPr>
            <a:spLocks xmlns:a="http://schemas.openxmlformats.org/drawingml/2006/main" noGrp="1"/>
          </p:cNvSpPr>
          <p:nvPr/>
        </p:nvSpPr>
        <p:spPr>
          <a:xfrm xmlns:a="http://schemas.openxmlformats.org/drawingml/2006/main" rot="0">
            <a:off x="689510" y="1527810"/>
            <a:ext cx="15964654" cy="8959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639"/>
              </a:lnSpc>
              <a:buNone/>
            </a:pPr>
            <a:r>
              <a:rPr sz="2599">
                <a:solidFill>
                  <a:srgbClr val="FFFFFF"/>
                </a:solidFill>
                <a:latin typeface="Inter"/>
                <a:ea typeface="Inter"/>
                <a:cs typeface="Inter"/>
              </a:rPr>
              <a:t>Las funcionalidades se organizan en tres perfiles: cliente, veterinario y administrador.</a:t>
            </a:r>
          </a:p>
          <a:p xmlns:a="http://schemas.openxmlformats.org/drawingml/2006/main">
            <a:pPr algn="ctr">
              <a:lnSpc>
                <a:spcPts val="3639"/>
              </a:lnSpc>
              <a:spcBef>
                <a:spcPct val="0"/>
              </a:spcBef>
              <a:buNone/>
            </a:pPr>
          </a:p>
        </p:txBody>
      </p:sp>
      <p:sp>
        <p:nvSpPr>
          <p:cNvPr id="14" name="TextBox 14">
            <a:extLst xmlns:a="http://schemas.openxmlformats.org/drawingml/2006/main">
              <a:ext uri="{FF2B5EF4-FFF2-40B4-BE49-F238E27FC236}">
                <a16:creationId xmlns:a16="http://schemas.microsoft.com/office/drawing/2014/main" id="{F504A162-B289-43CC-80F3-1CBDD6EAE1ED}"/>
              </a:ext>
            </a:extLst>
          </p:cNvPr>
          <p:cNvSpPr>
            <a:spLocks xmlns:a="http://schemas.openxmlformats.org/drawingml/2006/main" noGrp="1"/>
          </p:cNvSpPr>
          <p:nvPr/>
        </p:nvSpPr>
        <p:spPr>
          <a:xfrm xmlns:a="http://schemas.openxmlformats.org/drawingml/2006/main" rot="0">
            <a:off x="7913195" y="3192752"/>
            <a:ext cx="2461611" cy="45529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779"/>
              </a:lnSpc>
              <a:spcBef>
                <a:spcPct val="0"/>
              </a:spcBef>
              <a:buNone/>
            </a:pPr>
            <a:r>
              <a:rPr sz="2699" b="1">
                <a:solidFill>
                  <a:srgbClr val="FFFFFF"/>
                </a:solidFill>
                <a:latin typeface="Inter Bold"/>
                <a:ea typeface="Inter Bold"/>
                <a:cs typeface="Inter Bold"/>
              </a:rPr>
              <a:t>Veterinario</a:t>
            </a:r>
          </a:p>
        </p:txBody>
      </p:sp>
      <p:sp>
        <p:nvSpPr>
          <p:cNvPr id="15" name="TextBox 15">
            <a:extLst xmlns:a="http://schemas.openxmlformats.org/drawingml/2006/main">
              <a:ext uri="{FF2B5EF4-FFF2-40B4-BE49-F238E27FC236}">
                <a16:creationId xmlns:a16="http://schemas.microsoft.com/office/drawing/2014/main" id="{C2EBEDCE-272C-4FD2-B8AB-A0A72772A097}"/>
              </a:ext>
            </a:extLst>
          </p:cNvPr>
          <p:cNvSpPr>
            <a:spLocks xmlns:a="http://schemas.openxmlformats.org/drawingml/2006/main" noGrp="1"/>
          </p:cNvSpPr>
          <p:nvPr/>
        </p:nvSpPr>
        <p:spPr>
          <a:xfrm xmlns:a="http://schemas.openxmlformats.org/drawingml/2006/main" rot="0">
            <a:off x="8168828" y="3881641"/>
            <a:ext cx="4411954" cy="158951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496567" lvl="1" indent="-248284" algn="l">
              <a:lnSpc>
                <a:spcPts val="3219"/>
              </a:lnSpc>
              <a:buFont typeface="Arial"/>
              <a:buChar char="•"/>
            </a:pPr>
            <a:r>
              <a:rPr sz="2299">
                <a:solidFill>
                  <a:srgbClr val="FFFFFF"/>
                </a:solidFill>
                <a:latin typeface="Inter"/>
                <a:ea typeface="Inter"/>
                <a:cs typeface="Inter"/>
              </a:rPr>
              <a:t>Consultar agenda</a:t>
            </a:r>
          </a:p>
          <a:p xmlns:a="http://schemas.openxmlformats.org/drawingml/2006/main">
            <a:pPr marL="496567" lvl="1" indent="-248284" algn="l">
              <a:lnSpc>
                <a:spcPts val="3219"/>
              </a:lnSpc>
              <a:buFont typeface="Arial"/>
              <a:buChar char="•"/>
            </a:pPr>
            <a:r>
              <a:rPr sz="2299">
                <a:solidFill>
                  <a:srgbClr val="FFFFFF"/>
                </a:solidFill>
                <a:latin typeface="Inter"/>
                <a:ea typeface="Inter"/>
                <a:cs typeface="Inter"/>
              </a:rPr>
              <a:t>Acceder al historial médico</a:t>
            </a:r>
          </a:p>
          <a:p xmlns:a="http://schemas.openxmlformats.org/drawingml/2006/main">
            <a:pPr marL="496567" lvl="1" indent="-248284" algn="l">
              <a:lnSpc>
                <a:spcPts val="3219"/>
              </a:lnSpc>
              <a:buFont typeface="Arial"/>
              <a:buChar char="•"/>
            </a:pPr>
            <a:r>
              <a:rPr sz="2299">
                <a:solidFill>
                  <a:srgbClr val="FFFFFF"/>
                </a:solidFill>
                <a:latin typeface="Inter"/>
                <a:ea typeface="Inter"/>
                <a:cs typeface="Inter"/>
              </a:rPr>
              <a:t>Registrar consulta</a:t>
            </a:r>
          </a:p>
          <a:p xmlns:a="http://schemas.openxmlformats.org/drawingml/2006/main">
            <a:pPr marL="496567" lvl="1" indent="-248284" algn="l">
              <a:lnSpc>
                <a:spcPts val="3219"/>
              </a:lnSpc>
              <a:buFont typeface="Arial"/>
              <a:buChar char="•"/>
            </a:pPr>
            <a:r>
              <a:rPr sz="2299">
                <a:solidFill>
                  <a:srgbClr val="FFFFFF"/>
                </a:solidFill>
                <a:latin typeface="Inter"/>
                <a:ea typeface="Inter"/>
                <a:cs typeface="Inter"/>
              </a:rPr>
              <a:t>Revisar antecedentes</a:t>
            </a:r>
          </a:p>
        </p:txBody>
      </p:sp>
      <p:sp>
        <p:nvSpPr>
          <p:cNvPr id="16" name="TextBox 16">
            <a:extLst xmlns:a="http://schemas.openxmlformats.org/drawingml/2006/main">
              <a:ext uri="{FF2B5EF4-FFF2-40B4-BE49-F238E27FC236}">
                <a16:creationId xmlns:a16="http://schemas.microsoft.com/office/drawing/2014/main" id="{F5C0E233-95C5-426A-892F-4B02A7DC1F3D}"/>
              </a:ext>
            </a:extLst>
          </p:cNvPr>
          <p:cNvSpPr>
            <a:spLocks xmlns:a="http://schemas.openxmlformats.org/drawingml/2006/main" noGrp="1"/>
          </p:cNvSpPr>
          <p:nvPr/>
        </p:nvSpPr>
        <p:spPr>
          <a:xfrm xmlns:a="http://schemas.openxmlformats.org/drawingml/2006/main" rot="0">
            <a:off x="12991992" y="6018599"/>
            <a:ext cx="2461611" cy="45529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779"/>
              </a:lnSpc>
              <a:spcBef>
                <a:spcPct val="0"/>
              </a:spcBef>
              <a:buNone/>
            </a:pPr>
            <a:r>
              <a:rPr sz="2699" b="1">
                <a:solidFill>
                  <a:srgbClr val="FFFFFF"/>
                </a:solidFill>
                <a:latin typeface="Inter Bold"/>
                <a:ea typeface="Inter Bold"/>
                <a:cs typeface="Inter Bold"/>
              </a:rPr>
              <a:t>Administrador</a:t>
            </a:r>
          </a:p>
        </p:txBody>
      </p:sp>
      <p:sp>
        <p:nvSpPr>
          <p:cNvPr id="17" name="TextBox 17">
            <a:extLst xmlns:a="http://schemas.openxmlformats.org/drawingml/2006/main">
              <a:ext uri="{FF2B5EF4-FFF2-40B4-BE49-F238E27FC236}">
                <a16:creationId xmlns:a16="http://schemas.microsoft.com/office/drawing/2014/main" id="{8BB2336D-75F1-473D-9E2F-FD271B17500E}"/>
              </a:ext>
            </a:extLst>
          </p:cNvPr>
          <p:cNvSpPr>
            <a:spLocks xmlns:a="http://schemas.openxmlformats.org/drawingml/2006/main" noGrp="1"/>
          </p:cNvSpPr>
          <p:nvPr/>
        </p:nvSpPr>
        <p:spPr>
          <a:xfrm xmlns:a="http://schemas.openxmlformats.org/drawingml/2006/main" rot="0">
            <a:off x="13876046" y="6637655"/>
            <a:ext cx="4411954" cy="158951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496567" lvl="1" indent="-248284" algn="l">
              <a:lnSpc>
                <a:spcPts val="3219"/>
              </a:lnSpc>
              <a:buFont typeface="Arial"/>
              <a:buChar char="•"/>
            </a:pPr>
            <a:r>
              <a:rPr sz="2299">
                <a:solidFill>
                  <a:srgbClr val="FFFFFF"/>
                </a:solidFill>
                <a:latin typeface="Inter"/>
                <a:ea typeface="Inter"/>
                <a:cs typeface="Inter"/>
              </a:rPr>
              <a:t>Gestionar usuarios</a:t>
            </a:r>
          </a:p>
          <a:p xmlns:a="http://schemas.openxmlformats.org/drawingml/2006/main">
            <a:pPr marL="496567" lvl="1" indent="-248284" algn="l">
              <a:lnSpc>
                <a:spcPts val="3219"/>
              </a:lnSpc>
              <a:buFont typeface="Arial"/>
              <a:buChar char="•"/>
            </a:pPr>
            <a:r>
              <a:rPr sz="2299">
                <a:solidFill>
                  <a:srgbClr val="FFFFFF"/>
                </a:solidFill>
                <a:latin typeface="Inter"/>
                <a:ea typeface="Inter"/>
                <a:cs typeface="Inter"/>
              </a:rPr>
              <a:t>Gestionar veterinarios</a:t>
            </a:r>
          </a:p>
          <a:p xmlns:a="http://schemas.openxmlformats.org/drawingml/2006/main">
            <a:pPr marL="496567" lvl="1" indent="-248284" algn="l">
              <a:lnSpc>
                <a:spcPts val="3219"/>
              </a:lnSpc>
              <a:buFont typeface="Arial"/>
              <a:buChar char="•"/>
            </a:pPr>
            <a:r>
              <a:rPr sz="2299">
                <a:solidFill>
                  <a:srgbClr val="FFFFFF"/>
                </a:solidFill>
                <a:latin typeface="Inter"/>
                <a:ea typeface="Inter"/>
                <a:cs typeface="Inter"/>
              </a:rPr>
              <a:t>Configurar disponibilidad</a:t>
            </a:r>
          </a:p>
          <a:p xmlns:a="http://schemas.openxmlformats.org/drawingml/2006/main">
            <a:pPr marL="496567" lvl="1" indent="-248284" algn="l">
              <a:lnSpc>
                <a:spcPts val="3219"/>
              </a:lnSpc>
              <a:buFont typeface="Arial"/>
              <a:buChar char="•"/>
            </a:pPr>
            <a:r>
              <a:rPr sz="2299">
                <a:solidFill>
                  <a:srgbClr val="FFFFFF"/>
                </a:solidFill>
                <a:latin typeface="Inter"/>
                <a:ea typeface="Inter"/>
                <a:cs typeface="Inter"/>
              </a:rPr>
              <a:t>Administrar turnos</a:t>
            </a:r>
          </a:p>
        </p:txBody>
      </p:sp>
    </p:spTree>
    <p:extLst>
      <p:ext uri="{BB962C8B-B14F-4D97-AF65-F5344CB8AC3E}">
        <p14:creationId xmlns:p14="http://schemas.microsoft.com/office/powerpoint/2010/main" val="1032053695"/>
      </p:ext>
    </p:extLst>
  </p:cSld>
</p:sld>
</file>

<file path=ppt/slides/slide6.xml><?xml version="1.0" encoding="utf-8"?>
<p:sld xmlns:p="http://schemas.openxmlformats.org/presentationml/2006/main">
  <p:cSld>
    <p:bg>
      <p:bgPr>
        <a:solidFill xmlns:a="http://schemas.openxmlformats.org/drawingml/2006/main">
          <a:srgbClr val="022135"/>
        </a:solidFill>
      </p:bgPr>
    </p:bg>
    <p:spTree>
      <p:nvGrpSpPr>
        <p:cNvPr id="1" name=""/>
        <p:cNvGrpSpPr/>
        <p:nvPr/>
      </p:nvGrpSpPr>
      <p:grpSpPr>
        <a:xfrm xmlns:a="http://schemas.openxmlformats.org/drawingml/2006/main"/>
      </p:grpSpPr>
      <p:sp>
        <p:nvSpPr>
          <p:cNvPr id="3" name="AutoShape 3">
            <a:extLst xmlns:a="http://schemas.openxmlformats.org/drawingml/2006/main">
              <a:ext uri="{FF2B5EF4-FFF2-40B4-BE49-F238E27FC236}">
                <a16:creationId xmlns:a16="http://schemas.microsoft.com/office/drawing/2014/main" id="{085882EA-0084-490A-84BD-EAF5D502C3E5}"/>
              </a:ext>
            </a:extLst>
          </p:cNvPr>
          <p:cNvSpPr>
            <a:spLocks xmlns:a="http://schemas.openxmlformats.org/drawingml/2006/main" noGrp="1"/>
          </p:cNvSpPr>
          <p:nvPr/>
        </p:nvSpPr>
        <p:spPr>
          <a:xfrm xmlns:a="http://schemas.openxmlformats.org/drawingml/2006/main" rot="0" flipH="0" flipV="0">
            <a:off x="16827670" y="10477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4" name="AutoShape 4">
            <a:extLst xmlns:a="http://schemas.openxmlformats.org/drawingml/2006/main">
              <a:ext uri="{FF2B5EF4-FFF2-40B4-BE49-F238E27FC236}">
                <a16:creationId xmlns:a16="http://schemas.microsoft.com/office/drawing/2014/main" id="{FE32C73C-68D7-4F1F-B384-D72F865186B1}"/>
              </a:ext>
            </a:extLst>
          </p:cNvPr>
          <p:cNvSpPr>
            <a:spLocks xmlns:a="http://schemas.openxmlformats.org/drawingml/2006/main" noGrp="1"/>
          </p:cNvSpPr>
          <p:nvPr/>
        </p:nvSpPr>
        <p:spPr>
          <a:xfrm xmlns:a="http://schemas.openxmlformats.org/drawingml/2006/main" rot="0" flipH="0" flipV="0">
            <a:off x="16827670" y="12001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5" name="AutoShape 5">
            <a:extLst xmlns:a="http://schemas.openxmlformats.org/drawingml/2006/main">
              <a:ext uri="{FF2B5EF4-FFF2-40B4-BE49-F238E27FC236}">
                <a16:creationId xmlns:a16="http://schemas.microsoft.com/office/drawing/2014/main" id="{CE7B8D39-384F-4332-AF63-A52E00B60E9D}"/>
              </a:ext>
            </a:extLst>
          </p:cNvPr>
          <p:cNvSpPr>
            <a:spLocks xmlns:a="http://schemas.openxmlformats.org/drawingml/2006/main" noGrp="1"/>
          </p:cNvSpPr>
          <p:nvPr/>
        </p:nvSpPr>
        <p:spPr>
          <a:xfrm xmlns:a="http://schemas.openxmlformats.org/drawingml/2006/main" rot="0" flipH="0" flipV="0">
            <a:off x="16827670" y="13525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6" name="TextBox 6">
            <a:extLst xmlns:a="http://schemas.openxmlformats.org/drawingml/2006/main">
              <a:ext uri="{FF2B5EF4-FFF2-40B4-BE49-F238E27FC236}">
                <a16:creationId xmlns:a16="http://schemas.microsoft.com/office/drawing/2014/main" id="{9B3901EA-28BE-424C-A7F1-A31AE8F8AD1F}"/>
              </a:ext>
            </a:extLst>
          </p:cNvPr>
          <p:cNvSpPr>
            <a:spLocks xmlns:a="http://schemas.openxmlformats.org/drawingml/2006/main" noGrp="1"/>
          </p:cNvSpPr>
          <p:nvPr/>
        </p:nvSpPr>
        <p:spPr>
          <a:xfrm xmlns:a="http://schemas.openxmlformats.org/drawingml/2006/main" rot="0">
            <a:off x="4683577" y="2027060"/>
            <a:ext cx="8920846" cy="251280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0080"/>
              </a:lnSpc>
              <a:spcBef>
                <a:spcPct val="0"/>
              </a:spcBef>
              <a:buNone/>
            </a:pPr>
            <a:r>
              <a:rPr sz="7200" b="1">
                <a:solidFill>
                  <a:srgbClr val="FFFFFF"/>
                </a:solidFill>
                <a:latin typeface="Bricolage Grotesque Bold"/>
                <a:ea typeface="Bricolage Grotesque Bold"/>
                <a:cs typeface="Bricolage Grotesque Bold"/>
              </a:rPr>
              <a:t>Objetivo del desarrollo</a:t>
            </a:r>
          </a:p>
        </p:txBody>
      </p:sp>
      <p:sp>
        <p:nvSpPr>
          <p:cNvPr id="9" name="Freeform 9">
            <a:extLst xmlns:a="http://schemas.openxmlformats.org/drawingml/2006/main">
              <a:ext uri="{FF2B5EF4-FFF2-40B4-BE49-F238E27FC236}">
                <a16:creationId xmlns:a16="http://schemas.microsoft.com/office/drawing/2014/main" id="{1D88D02F-53FB-4047-B0A6-8010ED85DC20}"/>
              </a:ext>
            </a:extLst>
          </p:cNvPr>
          <p:cNvSpPr>
            <a:spLocks xmlns:a="http://schemas.openxmlformats.org/drawingml/2006/main" noGrp="1"/>
          </p:cNvSpPr>
          <p:nvPr/>
        </p:nvSpPr>
        <p:spPr>
          <a:xfrm xmlns:a="http://schemas.openxmlformats.org/drawingml/2006/main" rot="0" flipH="0" flipV="0">
            <a:off x="253060" y="4890448"/>
            <a:ext cx="5937161" cy="1739805"/>
          </a:xfrm>
          <a:custGeom xmlns:a="http://schemas.openxmlformats.org/drawingml/2006/main">
            <a:rect l="l" t="t" r="r" b="b"/>
            <a:pathLst>
              <a:path w="1398023" h="409672">
                <a:moveTo>
                  <a:pt x="65633" y="0"/>
                </a:moveTo>
                <a:lnTo>
                  <a:pt x="1332391" y="0"/>
                </a:lnTo>
                <a:cubicBezTo>
                  <a:pt x="1368639" y="0"/>
                  <a:pt x="1398023" y="29385"/>
                  <a:pt x="1398023" y="65633"/>
                </a:cubicBezTo>
                <a:lnTo>
                  <a:pt x="1398023" y="344039"/>
                </a:lnTo>
                <a:cubicBezTo>
                  <a:pt x="1398023" y="361446"/>
                  <a:pt x="1391109" y="378140"/>
                  <a:pt x="1378800" y="390449"/>
                </a:cubicBezTo>
                <a:cubicBezTo>
                  <a:pt x="1366492" y="402757"/>
                  <a:pt x="1349798" y="409672"/>
                  <a:pt x="1332391" y="409672"/>
                </a:cubicBezTo>
                <a:lnTo>
                  <a:pt x="65633" y="409672"/>
                </a:lnTo>
                <a:cubicBezTo>
                  <a:pt x="48226" y="409672"/>
                  <a:pt x="31532" y="402757"/>
                  <a:pt x="19223" y="390449"/>
                </a:cubicBezTo>
                <a:cubicBezTo>
                  <a:pt x="6915" y="378140"/>
                  <a:pt x="0" y="361446"/>
                  <a:pt x="0" y="344039"/>
                </a:cubicBezTo>
                <a:lnTo>
                  <a:pt x="0" y="65633"/>
                </a:lnTo>
                <a:cubicBezTo>
                  <a:pt x="0" y="48226"/>
                  <a:pt x="6915" y="31532"/>
                  <a:pt x="19223" y="19223"/>
                </a:cubicBezTo>
                <a:cubicBezTo>
                  <a:pt x="31532" y="6915"/>
                  <a:pt x="48226" y="0"/>
                  <a:pt x="65633" y="0"/>
                </a:cubicBezTo>
                <a:close/>
              </a:path>
            </a:pathLst>
          </a:custGeom>
          <a:solidFill xmlns:a="http://schemas.openxmlformats.org/drawingml/2006/main">
            <a:srgbClr val="FFFFFF"/>
          </a:solidFill>
        </p:spPr>
      </p:sp>
      <p:sp>
        <p:nvSpPr>
          <p:cNvPr id="10" name="TextBox 10">
            <a:extLst xmlns:a="http://schemas.openxmlformats.org/drawingml/2006/main">
              <a:ext uri="{FF2B5EF4-FFF2-40B4-BE49-F238E27FC236}">
                <a16:creationId xmlns:a16="http://schemas.microsoft.com/office/drawing/2014/main" id="{54C15947-A30F-454C-9C9C-933CF30B7959}"/>
              </a:ext>
            </a:extLst>
          </p:cNvPr>
          <p:cNvSpPr>
            <a:spLocks xmlns:a="http://schemas.openxmlformats.org/drawingml/2006/main" noGrp="1"/>
          </p:cNvSpPr>
          <p:nvPr/>
        </p:nvSpPr>
        <p:spPr>
          <a:xfrm xmlns:a="http://schemas.openxmlformats.org/drawingml/2006/main" rot="0" flipH="0" flipV="0">
            <a:off x="253060" y="4728644"/>
            <a:ext cx="5937161" cy="1901610"/>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939"/>
              </a:lnSpc>
              <a:buNone/>
            </a:pPr>
          </a:p>
        </p:txBody>
      </p:sp>
      <p:sp>
        <p:nvSpPr>
          <p:cNvPr id="11" name="TextBox 11">
            <a:extLst xmlns:a="http://schemas.openxmlformats.org/drawingml/2006/main">
              <a:ext uri="{FF2B5EF4-FFF2-40B4-BE49-F238E27FC236}">
                <a16:creationId xmlns:a16="http://schemas.microsoft.com/office/drawing/2014/main" id="{0B2B8800-713E-4A6C-81D9-C3438B3EC6E1}"/>
              </a:ext>
            </a:extLst>
          </p:cNvPr>
          <p:cNvSpPr>
            <a:spLocks xmlns:a="http://schemas.openxmlformats.org/drawingml/2006/main" noGrp="1"/>
          </p:cNvSpPr>
          <p:nvPr/>
        </p:nvSpPr>
        <p:spPr>
          <a:xfrm xmlns:a="http://schemas.openxmlformats.org/drawingml/2006/main" rot="0" flipH="0" flipV="0">
            <a:off x="750430" y="5395648"/>
            <a:ext cx="4942419" cy="80717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288"/>
              </a:lnSpc>
              <a:spcBef>
                <a:spcPct val="0"/>
              </a:spcBef>
              <a:buNone/>
            </a:pPr>
            <a:r>
              <a:rPr sz="2348" b="1">
                <a:solidFill>
                  <a:srgbClr val="000000"/>
                </a:solidFill>
                <a:latin typeface="Inter Medium"/>
                <a:ea typeface="Inter Medium"/>
                <a:cs typeface="Inter Medium"/>
              </a:rPr>
              <a:t> Di</a:t>
            </a:r>
            <a:r>
              <a:rPr sz="2348" b="1">
                <a:solidFill>
                  <a:srgbClr val="000000"/>
                </a:solidFill>
                <a:latin typeface="Inter Medium"/>
                <a:ea typeface="Inter Medium"/>
                <a:cs typeface="Inter Medium"/>
              </a:rPr>
              <a:t>gitalizar y centralizar la gestión de una clínica veterinaria</a:t>
            </a:r>
          </a:p>
        </p:txBody>
      </p:sp>
      <p:sp>
        <p:nvSpPr>
          <p:cNvPr id="14" name="Freeform 14">
            <a:extLst xmlns:a="http://schemas.openxmlformats.org/drawingml/2006/main">
              <a:ext uri="{FF2B5EF4-FFF2-40B4-BE49-F238E27FC236}">
                <a16:creationId xmlns:a16="http://schemas.microsoft.com/office/drawing/2014/main" id="{775E329F-5661-4664-91EC-235EFB43A564}"/>
              </a:ext>
            </a:extLst>
          </p:cNvPr>
          <p:cNvSpPr>
            <a:spLocks xmlns:a="http://schemas.openxmlformats.org/drawingml/2006/main" noGrp="1"/>
          </p:cNvSpPr>
          <p:nvPr/>
        </p:nvSpPr>
        <p:spPr>
          <a:xfrm xmlns:a="http://schemas.openxmlformats.org/drawingml/2006/main" rot="0" flipH="0" flipV="0">
            <a:off x="6329969" y="4867811"/>
            <a:ext cx="5937161" cy="1739805"/>
          </a:xfrm>
          <a:custGeom xmlns:a="http://schemas.openxmlformats.org/drawingml/2006/main">
            <a:rect l="l" t="t" r="r" b="b"/>
            <a:pathLst>
              <a:path w="1398023" h="409672">
                <a:moveTo>
                  <a:pt x="65633" y="0"/>
                </a:moveTo>
                <a:lnTo>
                  <a:pt x="1332391" y="0"/>
                </a:lnTo>
                <a:cubicBezTo>
                  <a:pt x="1368639" y="0"/>
                  <a:pt x="1398023" y="29385"/>
                  <a:pt x="1398023" y="65633"/>
                </a:cubicBezTo>
                <a:lnTo>
                  <a:pt x="1398023" y="344039"/>
                </a:lnTo>
                <a:cubicBezTo>
                  <a:pt x="1398023" y="361446"/>
                  <a:pt x="1391109" y="378140"/>
                  <a:pt x="1378800" y="390449"/>
                </a:cubicBezTo>
                <a:cubicBezTo>
                  <a:pt x="1366492" y="402757"/>
                  <a:pt x="1349798" y="409672"/>
                  <a:pt x="1332391" y="409672"/>
                </a:cubicBezTo>
                <a:lnTo>
                  <a:pt x="65633" y="409672"/>
                </a:lnTo>
                <a:cubicBezTo>
                  <a:pt x="48226" y="409672"/>
                  <a:pt x="31532" y="402757"/>
                  <a:pt x="19223" y="390449"/>
                </a:cubicBezTo>
                <a:cubicBezTo>
                  <a:pt x="6915" y="378140"/>
                  <a:pt x="0" y="361446"/>
                  <a:pt x="0" y="344039"/>
                </a:cubicBezTo>
                <a:lnTo>
                  <a:pt x="0" y="65633"/>
                </a:lnTo>
                <a:cubicBezTo>
                  <a:pt x="0" y="48226"/>
                  <a:pt x="6915" y="31532"/>
                  <a:pt x="19223" y="19223"/>
                </a:cubicBezTo>
                <a:cubicBezTo>
                  <a:pt x="31532" y="6915"/>
                  <a:pt x="48226" y="0"/>
                  <a:pt x="65633" y="0"/>
                </a:cubicBezTo>
                <a:close/>
              </a:path>
            </a:pathLst>
          </a:custGeom>
          <a:solidFill xmlns:a="http://schemas.openxmlformats.org/drawingml/2006/main">
            <a:srgbClr val="FFFFFF"/>
          </a:solidFill>
        </p:spPr>
      </p:sp>
      <p:sp>
        <p:nvSpPr>
          <p:cNvPr id="15" name="TextBox 15">
            <a:extLst xmlns:a="http://schemas.openxmlformats.org/drawingml/2006/main">
              <a:ext uri="{FF2B5EF4-FFF2-40B4-BE49-F238E27FC236}">
                <a16:creationId xmlns:a16="http://schemas.microsoft.com/office/drawing/2014/main" id="{4CB83788-A57D-47FF-89D3-E63FF09FB80F}"/>
              </a:ext>
            </a:extLst>
          </p:cNvPr>
          <p:cNvSpPr>
            <a:spLocks xmlns:a="http://schemas.openxmlformats.org/drawingml/2006/main" noGrp="1"/>
          </p:cNvSpPr>
          <p:nvPr/>
        </p:nvSpPr>
        <p:spPr>
          <a:xfrm xmlns:a="http://schemas.openxmlformats.org/drawingml/2006/main" rot="0" flipH="0" flipV="0">
            <a:off x="6329969" y="4706007"/>
            <a:ext cx="5937161" cy="1901610"/>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939"/>
              </a:lnSpc>
              <a:buNone/>
            </a:pPr>
          </a:p>
        </p:txBody>
      </p:sp>
      <p:sp>
        <p:nvSpPr>
          <p:cNvPr id="16" name="TextBox 16">
            <a:extLst xmlns:a="http://schemas.openxmlformats.org/drawingml/2006/main">
              <a:ext uri="{FF2B5EF4-FFF2-40B4-BE49-F238E27FC236}">
                <a16:creationId xmlns:a16="http://schemas.microsoft.com/office/drawing/2014/main" id="{5A261D59-1FDA-48E8-9ECF-4D12DE2C4584}"/>
              </a:ext>
            </a:extLst>
          </p:cNvPr>
          <p:cNvSpPr>
            <a:spLocks xmlns:a="http://schemas.openxmlformats.org/drawingml/2006/main" noGrp="1"/>
          </p:cNvSpPr>
          <p:nvPr/>
        </p:nvSpPr>
        <p:spPr>
          <a:xfrm xmlns:a="http://schemas.openxmlformats.org/drawingml/2006/main" rot="0" flipH="0" flipV="0">
            <a:off x="6827339" y="5402841"/>
            <a:ext cx="4942419" cy="80717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288"/>
              </a:lnSpc>
              <a:spcBef>
                <a:spcPct val="0"/>
              </a:spcBef>
              <a:buNone/>
            </a:pPr>
            <a:r>
              <a:rPr sz="2348" b="1">
                <a:solidFill>
                  <a:srgbClr val="000000"/>
                </a:solidFill>
                <a:latin typeface="Inter Medium"/>
                <a:ea typeface="Inter Medium"/>
                <a:cs typeface="Inter Medium"/>
              </a:rPr>
              <a:t>Reducir errores derivados del manejo manual de información</a:t>
            </a:r>
          </a:p>
        </p:txBody>
      </p:sp>
      <p:sp>
        <p:nvSpPr>
          <p:cNvPr id="19" name="Freeform 19">
            <a:extLst xmlns:a="http://schemas.openxmlformats.org/drawingml/2006/main">
              <a:ext uri="{FF2B5EF4-FFF2-40B4-BE49-F238E27FC236}">
                <a16:creationId xmlns:a16="http://schemas.microsoft.com/office/drawing/2014/main" id="{8698E6DA-C852-4441-A78D-60252BF786BA}"/>
              </a:ext>
            </a:extLst>
          </p:cNvPr>
          <p:cNvSpPr>
            <a:spLocks xmlns:a="http://schemas.openxmlformats.org/drawingml/2006/main" noGrp="1"/>
          </p:cNvSpPr>
          <p:nvPr/>
        </p:nvSpPr>
        <p:spPr>
          <a:xfrm xmlns:a="http://schemas.openxmlformats.org/drawingml/2006/main" rot="0" flipH="0" flipV="0">
            <a:off x="12406878" y="4890448"/>
            <a:ext cx="5859909" cy="1717168"/>
          </a:xfrm>
          <a:custGeom xmlns:a="http://schemas.openxmlformats.org/drawingml/2006/main">
            <a:rect l="l" t="t" r="r" b="b"/>
            <a:pathLst>
              <a:path w="1398023" h="409672">
                <a:moveTo>
                  <a:pt x="65633" y="0"/>
                </a:moveTo>
                <a:lnTo>
                  <a:pt x="1332391" y="0"/>
                </a:lnTo>
                <a:cubicBezTo>
                  <a:pt x="1368639" y="0"/>
                  <a:pt x="1398023" y="29385"/>
                  <a:pt x="1398023" y="65633"/>
                </a:cubicBezTo>
                <a:lnTo>
                  <a:pt x="1398023" y="344039"/>
                </a:lnTo>
                <a:cubicBezTo>
                  <a:pt x="1398023" y="361446"/>
                  <a:pt x="1391109" y="378140"/>
                  <a:pt x="1378800" y="390449"/>
                </a:cubicBezTo>
                <a:cubicBezTo>
                  <a:pt x="1366492" y="402757"/>
                  <a:pt x="1349798" y="409672"/>
                  <a:pt x="1332391" y="409672"/>
                </a:cubicBezTo>
                <a:lnTo>
                  <a:pt x="65633" y="409672"/>
                </a:lnTo>
                <a:cubicBezTo>
                  <a:pt x="48226" y="409672"/>
                  <a:pt x="31532" y="402757"/>
                  <a:pt x="19223" y="390449"/>
                </a:cubicBezTo>
                <a:cubicBezTo>
                  <a:pt x="6915" y="378140"/>
                  <a:pt x="0" y="361446"/>
                  <a:pt x="0" y="344039"/>
                </a:cubicBezTo>
                <a:lnTo>
                  <a:pt x="0" y="65633"/>
                </a:lnTo>
                <a:cubicBezTo>
                  <a:pt x="0" y="48226"/>
                  <a:pt x="6915" y="31532"/>
                  <a:pt x="19223" y="19223"/>
                </a:cubicBezTo>
                <a:cubicBezTo>
                  <a:pt x="31532" y="6915"/>
                  <a:pt x="48226" y="0"/>
                  <a:pt x="65633" y="0"/>
                </a:cubicBezTo>
                <a:close/>
              </a:path>
            </a:pathLst>
          </a:custGeom>
          <a:solidFill xmlns:a="http://schemas.openxmlformats.org/drawingml/2006/main">
            <a:srgbClr val="FFFFFF"/>
          </a:solidFill>
        </p:spPr>
      </p:sp>
      <p:sp>
        <p:nvSpPr>
          <p:cNvPr id="20" name="TextBox 20">
            <a:extLst xmlns:a="http://schemas.openxmlformats.org/drawingml/2006/main">
              <a:ext uri="{FF2B5EF4-FFF2-40B4-BE49-F238E27FC236}">
                <a16:creationId xmlns:a16="http://schemas.microsoft.com/office/drawing/2014/main" id="{0DD1FB78-FE33-4C89-87DD-9F8D75136C2C}"/>
              </a:ext>
            </a:extLst>
          </p:cNvPr>
          <p:cNvSpPr>
            <a:spLocks xmlns:a="http://schemas.openxmlformats.org/drawingml/2006/main" noGrp="1"/>
          </p:cNvSpPr>
          <p:nvPr/>
        </p:nvSpPr>
        <p:spPr>
          <a:xfrm xmlns:a="http://schemas.openxmlformats.org/drawingml/2006/main" rot="0" flipH="0" flipV="0">
            <a:off x="12406878" y="4730750"/>
            <a:ext cx="5859909" cy="1876866"/>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940"/>
              </a:lnSpc>
              <a:buNone/>
            </a:pPr>
          </a:p>
        </p:txBody>
      </p:sp>
      <p:sp>
        <p:nvSpPr>
          <p:cNvPr id="21" name="TextBox 21">
            <a:extLst xmlns:a="http://schemas.openxmlformats.org/drawingml/2006/main">
              <a:ext uri="{FF2B5EF4-FFF2-40B4-BE49-F238E27FC236}">
                <a16:creationId xmlns:a16="http://schemas.microsoft.com/office/drawing/2014/main" id="{787F1EC2-302C-43BE-BE52-57816D3DC1B7}"/>
              </a:ext>
            </a:extLst>
          </p:cNvPr>
          <p:cNvSpPr>
            <a:spLocks xmlns:a="http://schemas.openxmlformats.org/drawingml/2006/main" noGrp="1"/>
          </p:cNvSpPr>
          <p:nvPr/>
        </p:nvSpPr>
        <p:spPr>
          <a:xfrm xmlns:a="http://schemas.openxmlformats.org/drawingml/2006/main" rot="0" flipH="0" flipV="0">
            <a:off x="12912177" y="5388609"/>
            <a:ext cx="4878111" cy="386984"/>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245"/>
              </a:lnSpc>
              <a:spcBef>
                <a:spcPct val="0"/>
              </a:spcBef>
              <a:buNone/>
            </a:pPr>
            <a:r>
              <a:rPr sz="2318" b="1">
                <a:solidFill>
                  <a:srgbClr val="000000"/>
                </a:solidFill>
                <a:latin typeface="Inter Medium"/>
                <a:ea typeface="Inter Medium"/>
                <a:cs typeface="Inter Medium"/>
              </a:rPr>
              <a:t>Mejorar la experiencia de los clientes </a:t>
            </a:r>
          </a:p>
        </p:txBody>
      </p:sp>
      <p:sp>
        <p:nvSpPr>
          <p:cNvPr id="22" name="Freeform 22">
            <a:extLst xmlns:a="http://schemas.openxmlformats.org/drawingml/2006/main">
              <a:ext uri="{FF2B5EF4-FFF2-40B4-BE49-F238E27FC236}">
                <a16:creationId xmlns:a16="http://schemas.microsoft.com/office/drawing/2014/main" id="{4787521B-5E19-4904-B9C2-F6FCFECA5756}"/>
              </a:ext>
            </a:extLst>
          </p:cNvPr>
          <p:cNvSpPr>
            <a:spLocks xmlns:a="http://schemas.openxmlformats.org/drawingml/2006/main" noGrp="1"/>
          </p:cNvSpPr>
          <p:nvPr/>
        </p:nvSpPr>
        <p:spPr>
          <a:xfrm xmlns:a="http://schemas.openxmlformats.org/drawingml/2006/main" rot="0" flipH="1" flipV="0">
            <a:off x="1826327" y="2265908"/>
            <a:ext cx="2249680" cy="2178091"/>
          </a:xfrm>
          <a:custGeom xmlns:a="http://schemas.openxmlformats.org/drawingml/2006/main">
            <a:rect l="l" t="t" r="r" b="b"/>
            <a:pathLst>
              <a:path w="2249680" h="2178091">
                <a:moveTo>
                  <a:pt x="2249680" y="0"/>
                </a:moveTo>
                <a:lnTo>
                  <a:pt x="0" y="0"/>
                </a:lnTo>
                <a:lnTo>
                  <a:pt x="0" y="2178091"/>
                </a:lnTo>
                <a:lnTo>
                  <a:pt x="2249680" y="2178091"/>
                </a:lnTo>
                <a:lnTo>
                  <a:pt x="2249680" y="0"/>
                </a:lnTo>
                <a:close/>
              </a:path>
            </a:pathLst>
          </a:custGeom>
          <a:blipFill xmlns:a="http://schemas.openxmlformats.org/drawingml/2006/main">
            <a:blip xmlns:r="http://schemas.openxmlformats.org/officeDocument/2006/relationships" r:embed="R52b658548c0e4310">
              <a:extLst>
                <a:ext uri="{96DAC541-7B7A-43D3-8B79-37D633B846F1}">
                  <asvg:svgBlip xmlns:asvg="http://schemas.microsoft.com/office/drawing/2016/SVG/main" r:embed="Rff939dfe401e409d"/>
                </a:ext>
              </a:extLst>
            </a:blip>
            <a:stretch>
              <a:fillRect l="0" t="0" r="0" b="0"/>
            </a:stretch>
          </a:blipFill>
        </p:spPr>
      </p:sp>
      <p:sp>
        <p:nvSpPr>
          <p:cNvPr id="23" name="Freeform 23">
            <a:extLst xmlns:a="http://schemas.openxmlformats.org/drawingml/2006/main">
              <a:ext uri="{FF2B5EF4-FFF2-40B4-BE49-F238E27FC236}">
                <a16:creationId xmlns:a16="http://schemas.microsoft.com/office/drawing/2014/main" id="{90102E80-BC7B-4C3D-B908-1C2F3D2F288B}"/>
              </a:ext>
            </a:extLst>
          </p:cNvPr>
          <p:cNvSpPr>
            <a:spLocks xmlns:a="http://schemas.openxmlformats.org/drawingml/2006/main" noGrp="1"/>
          </p:cNvSpPr>
          <p:nvPr/>
        </p:nvSpPr>
        <p:spPr>
          <a:xfrm xmlns:a="http://schemas.openxmlformats.org/drawingml/2006/main" rot="0" flipH="0" flipV="0">
            <a:off x="14211993" y="2265908"/>
            <a:ext cx="2249680" cy="2178091"/>
          </a:xfrm>
          <a:custGeom xmlns:a="http://schemas.openxmlformats.org/drawingml/2006/main">
            <a:rect l="l" t="t" r="r" b="b"/>
            <a:pathLst>
              <a:path w="2249680" h="2178091">
                <a:moveTo>
                  <a:pt x="0" y="0"/>
                </a:moveTo>
                <a:lnTo>
                  <a:pt x="2249680" y="0"/>
                </a:lnTo>
                <a:lnTo>
                  <a:pt x="2249680" y="2178091"/>
                </a:lnTo>
                <a:lnTo>
                  <a:pt x="0" y="2178091"/>
                </a:lnTo>
                <a:lnTo>
                  <a:pt x="0" y="0"/>
                </a:lnTo>
                <a:close/>
              </a:path>
            </a:pathLst>
          </a:custGeom>
          <a:blipFill xmlns:a="http://schemas.openxmlformats.org/drawingml/2006/main">
            <a:blip xmlns:r="http://schemas.openxmlformats.org/officeDocument/2006/relationships" r:embed="R52b658548c0e4310">
              <a:extLst>
                <a:ext uri="{96DAC541-7B7A-43D3-8B79-37D633B846F1}">
                  <asvg:svgBlip xmlns:asvg="http://schemas.microsoft.com/office/drawing/2016/SVG/main" r:embed="Rff939dfe401e409d"/>
                </a:ext>
              </a:extLst>
            </a:blip>
            <a:stretch>
              <a:fillRect l="0" t="0" r="0" b="0"/>
            </a:stretch>
          </a:blipFill>
        </p:spPr>
      </p:sp>
      <p:sp>
        <p:nvSpPr>
          <p:cNvPr id="24" name="TextBox 24">
            <a:extLst xmlns:a="http://schemas.openxmlformats.org/drawingml/2006/main">
              <a:ext uri="{FF2B5EF4-FFF2-40B4-BE49-F238E27FC236}">
                <a16:creationId xmlns:a16="http://schemas.microsoft.com/office/drawing/2014/main" id="{4B112E4B-DC27-40A7-8212-CD5614A679FE}"/>
              </a:ext>
            </a:extLst>
          </p:cNvPr>
          <p:cNvSpPr>
            <a:spLocks xmlns:a="http://schemas.openxmlformats.org/drawingml/2006/main" noGrp="1"/>
          </p:cNvSpPr>
          <p:nvPr/>
        </p:nvSpPr>
        <p:spPr>
          <a:xfrm xmlns:a="http://schemas.openxmlformats.org/drawingml/2006/main" rot="0">
            <a:off x="1761161" y="6923689"/>
            <a:ext cx="14657693" cy="211405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215"/>
              </a:lnSpc>
              <a:spcBef>
                <a:spcPct val="0"/>
              </a:spcBef>
              <a:buNone/>
            </a:pPr>
            <a:r>
              <a:rPr sz="3010">
                <a:solidFill>
                  <a:srgbClr val="FFFFFF"/>
                </a:solidFill>
                <a:latin typeface="Canva Sans"/>
                <a:ea typeface="Canva Sans"/>
                <a:cs typeface="Canva Sans"/>
              </a:rPr>
              <a:t>Todo esto </a:t>
            </a:r>
            <a:r>
              <a:rPr sz="3010">
                <a:solidFill>
                  <a:srgbClr val="FFFFFF"/>
                </a:solidFill>
                <a:latin typeface="Canva Sans"/>
                <a:ea typeface="Canva Sans"/>
                <a:cs typeface="Canva Sans"/>
              </a:rPr>
              <a:t>permitirá que la clínica gestione de forma centralizada sus principales procesos de atención, proporcionando información accesible y organizada para cada tipo de usuario.</a:t>
            </a:r>
          </a:p>
          <a:p xmlns:a="http://schemas.openxmlformats.org/drawingml/2006/main">
            <a:pPr algn="ctr">
              <a:lnSpc>
                <a:spcPts val="4215"/>
              </a:lnSpc>
              <a:spcBef>
                <a:spcPct val="0"/>
              </a:spcBef>
              <a:buNone/>
            </a:pPr>
          </a:p>
        </p:txBody>
      </p:sp>
    </p:spTree>
    <p:extLst>
      <p:ext uri="{BB962C8B-B14F-4D97-AF65-F5344CB8AC3E}">
        <p14:creationId xmlns:p14="http://schemas.microsoft.com/office/powerpoint/2010/main" val="737407873"/>
      </p:ext>
    </p:extLst>
  </p:cSld>
</p:sld>
</file>

<file path=ppt/slides/slide7.xml><?xml version="1.0" encoding="utf-8"?>
<p:sld xmlns:p="http://schemas.openxmlformats.org/presentationml/2006/main">
  <p:cSld>
    <p:bg>
      <p:bgPr>
        <a:solidFill xmlns:a="http://schemas.openxmlformats.org/drawingml/2006/main">
          <a:srgbClr val="022135"/>
        </a:solidFill>
      </p:bgPr>
    </p:bg>
    <p:spTree>
      <p:nvGrpSpPr>
        <p:cNvPr id="1" name=""/>
        <p:cNvGrpSpPr/>
        <p:nvPr/>
      </p:nvGrpSpPr>
      <p:grpSpPr>
        <a:xfrm xmlns:a="http://schemas.openxmlformats.org/drawingml/2006/main"/>
      </p:grpSpPr>
      <p:sp>
        <p:nvSpPr>
          <p:cNvPr id="3" name="AutoShape 3">
            <a:extLst xmlns:a="http://schemas.openxmlformats.org/drawingml/2006/main">
              <a:ext uri="{FF2B5EF4-FFF2-40B4-BE49-F238E27FC236}">
                <a16:creationId xmlns:a16="http://schemas.microsoft.com/office/drawing/2014/main" id="{3644F7A7-0BFA-47A8-AA41-9C773B45DF07}"/>
              </a:ext>
            </a:extLst>
          </p:cNvPr>
          <p:cNvSpPr>
            <a:spLocks xmlns:a="http://schemas.openxmlformats.org/drawingml/2006/main" noGrp="1"/>
          </p:cNvSpPr>
          <p:nvPr/>
        </p:nvSpPr>
        <p:spPr>
          <a:xfrm xmlns:a="http://schemas.openxmlformats.org/drawingml/2006/main" rot="0" flipH="0" flipV="0">
            <a:off x="16827670" y="10477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4" name="AutoShape 4">
            <a:extLst xmlns:a="http://schemas.openxmlformats.org/drawingml/2006/main">
              <a:ext uri="{FF2B5EF4-FFF2-40B4-BE49-F238E27FC236}">
                <a16:creationId xmlns:a16="http://schemas.microsoft.com/office/drawing/2014/main" id="{C79319A3-1C5B-4396-9306-A724E4A86B42}"/>
              </a:ext>
            </a:extLst>
          </p:cNvPr>
          <p:cNvSpPr>
            <a:spLocks xmlns:a="http://schemas.openxmlformats.org/drawingml/2006/main" noGrp="1"/>
          </p:cNvSpPr>
          <p:nvPr/>
        </p:nvSpPr>
        <p:spPr>
          <a:xfrm xmlns:a="http://schemas.openxmlformats.org/drawingml/2006/main" rot="0" flipH="0" flipV="0">
            <a:off x="16827670" y="12001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5" name="AutoShape 5">
            <a:extLst xmlns:a="http://schemas.openxmlformats.org/drawingml/2006/main">
              <a:ext uri="{FF2B5EF4-FFF2-40B4-BE49-F238E27FC236}">
                <a16:creationId xmlns:a16="http://schemas.microsoft.com/office/drawing/2014/main" id="{A882B02C-2245-46B0-B787-3791ACC2D80F}"/>
              </a:ext>
            </a:extLst>
          </p:cNvPr>
          <p:cNvSpPr>
            <a:spLocks xmlns:a="http://schemas.openxmlformats.org/drawingml/2006/main" noGrp="1"/>
          </p:cNvSpPr>
          <p:nvPr/>
        </p:nvSpPr>
        <p:spPr>
          <a:xfrm xmlns:a="http://schemas.openxmlformats.org/drawingml/2006/main" rot="0" flipH="0" flipV="0">
            <a:off x="16827670" y="13525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7" name="TextBox 7">
            <a:extLst xmlns:a="http://schemas.openxmlformats.org/drawingml/2006/main">
              <a:ext uri="{FF2B5EF4-FFF2-40B4-BE49-F238E27FC236}">
                <a16:creationId xmlns:a16="http://schemas.microsoft.com/office/drawing/2014/main" id="{28C7502F-4068-4FB4-9540-7B07155EA0C5}"/>
              </a:ext>
            </a:extLst>
          </p:cNvPr>
          <p:cNvSpPr>
            <a:spLocks xmlns:a="http://schemas.openxmlformats.org/drawingml/2006/main" noGrp="1"/>
          </p:cNvSpPr>
          <p:nvPr/>
        </p:nvSpPr>
        <p:spPr>
          <a:xfrm xmlns:a="http://schemas.openxmlformats.org/drawingml/2006/main" rot="0" flipH="0" flipV="0">
            <a:off x="955400" y="3321349"/>
            <a:ext cx="7017108" cy="256460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10499"/>
              </a:lnSpc>
              <a:spcBef>
                <a:spcPct val="0"/>
              </a:spcBef>
              <a:buNone/>
            </a:pPr>
            <a:r>
              <a:rPr sz="7499" b="1">
                <a:solidFill>
                  <a:srgbClr val="FFFFFF"/>
                </a:solidFill>
                <a:latin typeface="Bricolage Grotesque Bold"/>
                <a:ea typeface="Bricolage Grotesque Bold"/>
                <a:cs typeface="Bricolage Grotesque Bold"/>
              </a:rPr>
              <a:t>¿Qué es Pet-Core?</a:t>
            </a:r>
          </a:p>
        </p:txBody>
      </p:sp>
      <p:sp>
        <p:nvSpPr>
          <p:cNvPr id="8" name="TextBox 8">
            <a:extLst xmlns:a="http://schemas.openxmlformats.org/drawingml/2006/main">
              <a:ext uri="{FF2B5EF4-FFF2-40B4-BE49-F238E27FC236}">
                <a16:creationId xmlns:a16="http://schemas.microsoft.com/office/drawing/2014/main" id="{A9ACAAA0-12BE-4D34-A546-1E21D35BE1EE}"/>
              </a:ext>
            </a:extLst>
          </p:cNvPr>
          <p:cNvSpPr>
            <a:spLocks xmlns:a="http://schemas.openxmlformats.org/drawingml/2006/main" noGrp="1"/>
          </p:cNvSpPr>
          <p:nvPr/>
        </p:nvSpPr>
        <p:spPr>
          <a:xfrm xmlns:a="http://schemas.openxmlformats.org/drawingml/2006/main" rot="0" flipH="0" flipV="0">
            <a:off x="955400" y="6204390"/>
            <a:ext cx="7017108" cy="37734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219"/>
              </a:lnSpc>
              <a:spcBef>
                <a:spcPct val="0"/>
              </a:spcBef>
              <a:buNone/>
            </a:pPr>
            <a:r>
              <a:rPr sz="2299">
                <a:solidFill>
                  <a:srgbClr val="FFFFFF"/>
                </a:solidFill>
                <a:latin typeface="Inter"/>
                <a:ea typeface="Inter"/>
                <a:cs typeface="Inter"/>
              </a:rPr>
              <a:t>Sistema de gestión para una clínica veterinaria</a:t>
            </a:r>
          </a:p>
        </p:txBody>
      </p:sp>
      <p:sp>
        <p:nvSpPr>
          <p:cNvPr id="9" name="Freeform 9">
            <a:extLst xmlns:a="http://schemas.openxmlformats.org/drawingml/2006/main">
              <a:ext uri="{FF2B5EF4-FFF2-40B4-BE49-F238E27FC236}">
                <a16:creationId xmlns:a16="http://schemas.microsoft.com/office/drawing/2014/main" id="{83F3B9D8-603C-4AAB-8B52-765B7D592FF9}"/>
              </a:ext>
            </a:extLst>
          </p:cNvPr>
          <p:cNvSpPr>
            <a:spLocks xmlns:a="http://schemas.openxmlformats.org/drawingml/2006/main" noGrp="1"/>
          </p:cNvSpPr>
          <p:nvPr/>
        </p:nvSpPr>
        <p:spPr>
          <a:xfrm xmlns:a="http://schemas.openxmlformats.org/drawingml/2006/main" rot="0" flipH="1" flipV="0">
            <a:off x="6352930" y="599065"/>
            <a:ext cx="3385756" cy="3278015"/>
          </a:xfrm>
          <a:custGeom xmlns:a="http://schemas.openxmlformats.org/drawingml/2006/main">
            <a:rect l="l" t="t" r="r" b="b"/>
            <a:pathLst>
              <a:path w="3385756" h="3278015">
                <a:moveTo>
                  <a:pt x="3385756" y="0"/>
                </a:moveTo>
                <a:lnTo>
                  <a:pt x="0" y="0"/>
                </a:lnTo>
                <a:lnTo>
                  <a:pt x="0" y="3278015"/>
                </a:lnTo>
                <a:lnTo>
                  <a:pt x="3385756" y="3278015"/>
                </a:lnTo>
                <a:lnTo>
                  <a:pt x="3385756" y="0"/>
                </a:lnTo>
                <a:close/>
              </a:path>
            </a:pathLst>
          </a:custGeom>
          <a:blipFill xmlns:a="http://schemas.openxmlformats.org/drawingml/2006/main">
            <a:blip xmlns:r="http://schemas.openxmlformats.org/officeDocument/2006/relationships" r:embed="R53127c82a4464791">
              <a:extLst>
                <a:ext uri="{96DAC541-7B7A-43D3-8B79-37D633B846F1}">
                  <asvg:svgBlip xmlns:asvg="http://schemas.microsoft.com/office/drawing/2016/SVG/main" r:embed="R07bd4507a98040ff"/>
                </a:ext>
              </a:extLst>
            </a:blip>
            <a:stretch>
              <a:fillRect l="0" t="0" r="0" b="0"/>
            </a:stretch>
          </a:blipFill>
        </p:spPr>
      </p:sp>
      <p:sp>
        <p:nvSpPr>
          <p:cNvPr id="11" name="TextBox 11">
            <a:extLst xmlns:a="http://schemas.openxmlformats.org/drawingml/2006/main">
              <a:ext uri="{FF2B5EF4-FFF2-40B4-BE49-F238E27FC236}">
                <a16:creationId xmlns:a16="http://schemas.microsoft.com/office/drawing/2014/main" id="{4E2F1B5E-64AC-45EF-9090-8657BC764C90}"/>
              </a:ext>
            </a:extLst>
          </p:cNvPr>
          <p:cNvSpPr>
            <a:spLocks xmlns:a="http://schemas.openxmlformats.org/drawingml/2006/main" noGrp="1"/>
          </p:cNvSpPr>
          <p:nvPr/>
        </p:nvSpPr>
        <p:spPr>
          <a:xfrm xmlns:a="http://schemas.openxmlformats.org/drawingml/2006/main" rot="0" flipH="0" flipV="0">
            <a:off x="10343119" y="1784992"/>
            <a:ext cx="5463638" cy="53070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479"/>
              </a:lnSpc>
              <a:spcBef>
                <a:spcPct val="0"/>
              </a:spcBef>
              <a:buNone/>
            </a:pPr>
            <a:r>
              <a:rPr sz="3199" b="1">
                <a:solidFill>
                  <a:srgbClr val="FFFFFF"/>
                </a:solidFill>
                <a:latin typeface="Inter Bold"/>
                <a:ea typeface="Inter Bold"/>
                <a:cs typeface="Inter Bold"/>
              </a:rPr>
              <a:t>Centraliza 2 procesos</a:t>
            </a:r>
          </a:p>
        </p:txBody>
      </p:sp>
      <p:sp>
        <p:nvSpPr>
          <p:cNvPr id="12" name="TextBox 12">
            <a:extLst xmlns:a="http://schemas.openxmlformats.org/drawingml/2006/main">
              <a:ext uri="{FF2B5EF4-FFF2-40B4-BE49-F238E27FC236}">
                <a16:creationId xmlns:a16="http://schemas.microsoft.com/office/drawing/2014/main" id="{94509387-2CE7-4ABD-8CA8-F70DFCF41CD4}"/>
              </a:ext>
            </a:extLst>
          </p:cNvPr>
          <p:cNvSpPr>
            <a:spLocks xmlns:a="http://schemas.openxmlformats.org/drawingml/2006/main" noGrp="1"/>
          </p:cNvSpPr>
          <p:nvPr/>
        </p:nvSpPr>
        <p:spPr>
          <a:xfrm xmlns:a="http://schemas.openxmlformats.org/drawingml/2006/main" rot="0" flipH="0" flipV="0">
            <a:off x="10100986" y="2472494"/>
            <a:ext cx="6897554" cy="18721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582925" lvl="1" indent="-291463" algn="l">
              <a:lnSpc>
                <a:spcPts val="3779"/>
              </a:lnSpc>
              <a:buFont typeface="Arial"/>
              <a:buChar char="•"/>
            </a:pPr>
            <a:r>
              <a:rPr sz="2699">
                <a:solidFill>
                  <a:srgbClr val="FFFFFF"/>
                </a:solidFill>
                <a:latin typeface="Inter"/>
                <a:ea typeface="Inter"/>
                <a:cs typeface="Inter"/>
              </a:rPr>
              <a:t>Reserva de turnos e historial clínico de las mascotas.</a:t>
            </a:r>
          </a:p>
          <a:p xmlns:a="http://schemas.openxmlformats.org/drawingml/2006/main">
            <a:pPr marL="582925" lvl="1" indent="-291463" algn="l">
              <a:lnSpc>
                <a:spcPts val="3779"/>
              </a:lnSpc>
              <a:buFont typeface="Arial"/>
              <a:buChar char="•"/>
            </a:pPr>
            <a:r>
              <a:rPr sz="2699">
                <a:solidFill>
                  <a:srgbClr val="FFFFFF"/>
                </a:solidFill>
                <a:latin typeface="Inter"/>
                <a:ea typeface="Inter"/>
                <a:cs typeface="Inter"/>
              </a:rPr>
              <a:t>Actualmente estos procesos se manejas de manera dispersa</a:t>
            </a:r>
          </a:p>
        </p:txBody>
      </p:sp>
      <p:sp>
        <p:nvSpPr>
          <p:cNvPr id="14" name="Freeform 14">
            <a:extLst xmlns:a="http://schemas.openxmlformats.org/drawingml/2006/main">
              <a:ext uri="{FF2B5EF4-FFF2-40B4-BE49-F238E27FC236}">
                <a16:creationId xmlns:a16="http://schemas.microsoft.com/office/drawing/2014/main" id="{6B31E1B7-A636-440F-A524-450A8AD77423}"/>
              </a:ext>
            </a:extLst>
          </p:cNvPr>
          <p:cNvSpPr>
            <a:spLocks xmlns:a="http://schemas.openxmlformats.org/drawingml/2006/main" noGrp="1"/>
          </p:cNvSpPr>
          <p:nvPr/>
        </p:nvSpPr>
        <p:spPr>
          <a:xfrm xmlns:a="http://schemas.openxmlformats.org/drawingml/2006/main" rot="0" flipH="0" flipV="0">
            <a:off x="9840349" y="2315693"/>
            <a:ext cx="260637" cy="2505189"/>
          </a:xfrm>
          <a:custGeom xmlns:a="http://schemas.openxmlformats.org/drawingml/2006/main">
            <a:rect l="l" t="t" r="r" b="b"/>
            <a:pathLst>
              <a:path w="68645" h="659803">
                <a:moveTo>
                  <a:pt x="34323" y="0"/>
                </a:moveTo>
                <a:lnTo>
                  <a:pt x="34323" y="0"/>
                </a:lnTo>
                <a:cubicBezTo>
                  <a:pt x="43426" y="0"/>
                  <a:pt x="52156" y="3616"/>
                  <a:pt x="58592" y="10053"/>
                </a:cubicBezTo>
                <a:cubicBezTo>
                  <a:pt x="65029" y="16490"/>
                  <a:pt x="68645" y="25220"/>
                  <a:pt x="68645" y="34323"/>
                </a:cubicBezTo>
                <a:lnTo>
                  <a:pt x="68645" y="625480"/>
                </a:lnTo>
                <a:cubicBezTo>
                  <a:pt x="68645" y="644436"/>
                  <a:pt x="53279" y="659803"/>
                  <a:pt x="34323" y="659803"/>
                </a:cubicBezTo>
                <a:lnTo>
                  <a:pt x="34323" y="659803"/>
                </a:lnTo>
                <a:cubicBezTo>
                  <a:pt x="15367" y="659803"/>
                  <a:pt x="0" y="644436"/>
                  <a:pt x="0" y="625480"/>
                </a:cubicBezTo>
                <a:lnTo>
                  <a:pt x="0" y="34323"/>
                </a:lnTo>
                <a:cubicBezTo>
                  <a:pt x="0" y="15367"/>
                  <a:pt x="15367" y="0"/>
                  <a:pt x="34323" y="0"/>
                </a:cubicBezTo>
                <a:close/>
              </a:path>
            </a:pathLst>
          </a:custGeom>
          <a:solidFill xmlns:a="http://schemas.openxmlformats.org/drawingml/2006/main">
            <a:srgbClr val="FFFFFF"/>
          </a:solidFill>
        </p:spPr>
      </p:sp>
      <p:sp>
        <p:nvSpPr>
          <p:cNvPr id="15" name="TextBox 15">
            <a:extLst xmlns:a="http://schemas.openxmlformats.org/drawingml/2006/main">
              <a:ext uri="{FF2B5EF4-FFF2-40B4-BE49-F238E27FC236}">
                <a16:creationId xmlns:a16="http://schemas.microsoft.com/office/drawing/2014/main" id="{E2E0473D-C164-4EE3-ADD7-1101E290F9AC}"/>
              </a:ext>
            </a:extLst>
          </p:cNvPr>
          <p:cNvSpPr>
            <a:spLocks xmlns:a="http://schemas.openxmlformats.org/drawingml/2006/main" noGrp="1"/>
          </p:cNvSpPr>
          <p:nvPr/>
        </p:nvSpPr>
        <p:spPr>
          <a:xfrm xmlns:a="http://schemas.openxmlformats.org/drawingml/2006/main" rot="0" flipH="0" flipV="0">
            <a:off x="9840349" y="2171033"/>
            <a:ext cx="260637" cy="2649850"/>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spcBef>
                <a:spcPct val="0"/>
              </a:spcBef>
              <a:buNone/>
            </a:pPr>
          </a:p>
        </p:txBody>
      </p:sp>
      <p:sp>
        <p:nvSpPr>
          <p:cNvPr id="16" name="Freeform 16">
            <a:extLst xmlns:a="http://schemas.openxmlformats.org/drawingml/2006/main">
              <a:ext uri="{FF2B5EF4-FFF2-40B4-BE49-F238E27FC236}">
                <a16:creationId xmlns:a16="http://schemas.microsoft.com/office/drawing/2014/main" id="{652DBD1E-58E3-444C-B279-CC13AD0D6DF7}"/>
              </a:ext>
            </a:extLst>
          </p:cNvPr>
          <p:cNvSpPr>
            <a:spLocks xmlns:a="http://schemas.openxmlformats.org/drawingml/2006/main" noGrp="1"/>
          </p:cNvSpPr>
          <p:nvPr/>
        </p:nvSpPr>
        <p:spPr>
          <a:xfrm xmlns:a="http://schemas.openxmlformats.org/drawingml/2006/main" rot="0" flipH="0" flipV="0">
            <a:off x="4837421" y="7619293"/>
            <a:ext cx="3385756" cy="3278015"/>
          </a:xfrm>
          <a:custGeom xmlns:a="http://schemas.openxmlformats.org/drawingml/2006/main">
            <a:rect l="l" t="t" r="r" b="b"/>
            <a:pathLst>
              <a:path w="3385756" h="3278015">
                <a:moveTo>
                  <a:pt x="0" y="0"/>
                </a:moveTo>
                <a:lnTo>
                  <a:pt x="3385755" y="0"/>
                </a:lnTo>
                <a:lnTo>
                  <a:pt x="3385755" y="3278014"/>
                </a:lnTo>
                <a:lnTo>
                  <a:pt x="0" y="3278014"/>
                </a:lnTo>
                <a:lnTo>
                  <a:pt x="0" y="0"/>
                </a:lnTo>
                <a:close/>
              </a:path>
            </a:pathLst>
          </a:custGeom>
          <a:blipFill xmlns:a="http://schemas.openxmlformats.org/drawingml/2006/main">
            <a:blip xmlns:r="http://schemas.openxmlformats.org/officeDocument/2006/relationships" r:embed="R53127c82a4464791">
              <a:extLst>
                <a:ext uri="{96DAC541-7B7A-43D3-8B79-37D633B846F1}">
                  <asvg:svgBlip xmlns:asvg="http://schemas.microsoft.com/office/drawing/2016/SVG/main" r:embed="R07bd4507a98040ff"/>
                </a:ext>
              </a:extLst>
            </a:blip>
            <a:stretch>
              <a:fillRect l="0" t="0" r="0" b="0"/>
            </a:stretch>
          </a:blipFill>
        </p:spPr>
      </p:sp>
      <p:sp>
        <p:nvSpPr>
          <p:cNvPr id="17" name="Freeform 17">
            <a:extLst xmlns:a="http://schemas.openxmlformats.org/drawingml/2006/main">
              <a:ext uri="{FF2B5EF4-FFF2-40B4-BE49-F238E27FC236}">
                <a16:creationId xmlns:a16="http://schemas.microsoft.com/office/drawing/2014/main" id="{B3BC4C87-85D4-443A-89CA-F7C7675E891D}"/>
              </a:ext>
            </a:extLst>
          </p:cNvPr>
          <p:cNvSpPr>
            <a:spLocks xmlns:a="http://schemas.openxmlformats.org/drawingml/2006/main" noGrp="1"/>
          </p:cNvSpPr>
          <p:nvPr/>
        </p:nvSpPr>
        <p:spPr>
          <a:xfrm xmlns:a="http://schemas.openxmlformats.org/drawingml/2006/main" rot="0" flipH="1" flipV="0">
            <a:off x="1056012" y="8361045"/>
            <a:ext cx="926746" cy="897255"/>
          </a:xfrm>
          <a:custGeom xmlns:a="http://schemas.openxmlformats.org/drawingml/2006/main">
            <a:rect l="l" t="t" r="r" b="b"/>
            <a:pathLst>
              <a:path w="926746" h="897255">
                <a:moveTo>
                  <a:pt x="926746" y="0"/>
                </a:moveTo>
                <a:lnTo>
                  <a:pt x="0" y="0"/>
                </a:lnTo>
                <a:lnTo>
                  <a:pt x="0" y="897255"/>
                </a:lnTo>
                <a:lnTo>
                  <a:pt x="926746" y="897255"/>
                </a:lnTo>
                <a:lnTo>
                  <a:pt x="926746" y="0"/>
                </a:lnTo>
                <a:close/>
              </a:path>
            </a:pathLst>
          </a:custGeom>
          <a:blipFill xmlns:a="http://schemas.openxmlformats.org/drawingml/2006/main">
            <a:blip xmlns:r="http://schemas.openxmlformats.org/officeDocument/2006/relationships" r:embed="R906167fdd8cb43bc">
              <a:extLst>
                <a:ext uri="{96DAC541-7B7A-43D3-8B79-37D633B846F1}">
                  <asvg:svgBlip xmlns:asvg="http://schemas.microsoft.com/office/drawing/2016/SVG/main" r:embed="R02d54702c6af4e35"/>
                </a:ext>
              </a:extLst>
            </a:blip>
            <a:stretch>
              <a:fillRect l="0" t="0" r="0" b="0"/>
            </a:stretch>
          </a:blipFill>
        </p:spPr>
      </p:sp>
      <p:sp>
        <p:nvSpPr>
          <p:cNvPr id="20" name="Freeform 20">
            <a:extLst xmlns:a="http://schemas.openxmlformats.org/drawingml/2006/main">
              <a:ext uri="{FF2B5EF4-FFF2-40B4-BE49-F238E27FC236}">
                <a16:creationId xmlns:a16="http://schemas.microsoft.com/office/drawing/2014/main" id="{EAB3D4F8-B5A4-4A6E-BBCA-9FFE2F2AC116}"/>
              </a:ext>
            </a:extLst>
          </p:cNvPr>
          <p:cNvSpPr>
            <a:spLocks xmlns:a="http://schemas.openxmlformats.org/drawingml/2006/main" noGrp="1"/>
          </p:cNvSpPr>
          <p:nvPr/>
        </p:nvSpPr>
        <p:spPr>
          <a:xfrm xmlns:a="http://schemas.openxmlformats.org/drawingml/2006/main" rot="0" flipH="0" flipV="0">
            <a:off x="9858975" y="7201737"/>
            <a:ext cx="260637" cy="1995485"/>
          </a:xfrm>
          <a:custGeom xmlns:a="http://schemas.openxmlformats.org/drawingml/2006/main">
            <a:rect l="l" t="t" r="r" b="b"/>
            <a:pathLst>
              <a:path w="68645" h="525560">
                <a:moveTo>
                  <a:pt x="34323" y="0"/>
                </a:moveTo>
                <a:lnTo>
                  <a:pt x="34323" y="0"/>
                </a:lnTo>
                <a:cubicBezTo>
                  <a:pt x="43426" y="0"/>
                  <a:pt x="52156" y="3616"/>
                  <a:pt x="58592" y="10053"/>
                </a:cubicBezTo>
                <a:cubicBezTo>
                  <a:pt x="65029" y="16490"/>
                  <a:pt x="68645" y="25220"/>
                  <a:pt x="68645" y="34323"/>
                </a:cubicBezTo>
                <a:lnTo>
                  <a:pt x="68645" y="491237"/>
                </a:lnTo>
                <a:cubicBezTo>
                  <a:pt x="68645" y="510193"/>
                  <a:pt x="53279" y="525560"/>
                  <a:pt x="34323" y="525560"/>
                </a:cubicBezTo>
                <a:lnTo>
                  <a:pt x="34323" y="525560"/>
                </a:lnTo>
                <a:cubicBezTo>
                  <a:pt x="25220" y="525560"/>
                  <a:pt x="16490" y="521944"/>
                  <a:pt x="10053" y="515507"/>
                </a:cubicBezTo>
                <a:cubicBezTo>
                  <a:pt x="3616" y="509070"/>
                  <a:pt x="0" y="500340"/>
                  <a:pt x="0" y="491237"/>
                </a:cubicBezTo>
                <a:lnTo>
                  <a:pt x="0" y="34323"/>
                </a:lnTo>
                <a:cubicBezTo>
                  <a:pt x="0" y="15367"/>
                  <a:pt x="15367" y="0"/>
                  <a:pt x="34323" y="0"/>
                </a:cubicBezTo>
                <a:close/>
              </a:path>
            </a:pathLst>
          </a:custGeom>
          <a:solidFill xmlns:a="http://schemas.openxmlformats.org/drawingml/2006/main">
            <a:srgbClr val="FFFFFF"/>
          </a:solidFill>
        </p:spPr>
      </p:sp>
      <p:sp>
        <p:nvSpPr>
          <p:cNvPr id="21" name="TextBox 21">
            <a:extLst xmlns:a="http://schemas.openxmlformats.org/drawingml/2006/main">
              <a:ext uri="{FF2B5EF4-FFF2-40B4-BE49-F238E27FC236}">
                <a16:creationId xmlns:a16="http://schemas.microsoft.com/office/drawing/2014/main" id="{A1073F8F-3B20-4D36-8032-237F3B8FEAB1}"/>
              </a:ext>
            </a:extLst>
          </p:cNvPr>
          <p:cNvSpPr>
            <a:spLocks xmlns:a="http://schemas.openxmlformats.org/drawingml/2006/main" noGrp="1"/>
          </p:cNvSpPr>
          <p:nvPr/>
        </p:nvSpPr>
        <p:spPr>
          <a:xfrm xmlns:a="http://schemas.openxmlformats.org/drawingml/2006/main" rot="0" flipH="0" flipV="0">
            <a:off x="9858975" y="7057077"/>
            <a:ext cx="260637" cy="2140146"/>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spcBef>
                <a:spcPct val="0"/>
              </a:spcBef>
              <a:buNone/>
            </a:pPr>
          </a:p>
        </p:txBody>
      </p:sp>
      <p:sp>
        <p:nvSpPr>
          <p:cNvPr id="22" name="TextBox 22">
            <a:extLst xmlns:a="http://schemas.openxmlformats.org/drawingml/2006/main">
              <a:ext uri="{FF2B5EF4-FFF2-40B4-BE49-F238E27FC236}">
                <a16:creationId xmlns:a16="http://schemas.microsoft.com/office/drawing/2014/main" id="{178614A7-90FF-4E6E-A91F-D9B09F5E0AC2}"/>
              </a:ext>
            </a:extLst>
          </p:cNvPr>
          <p:cNvSpPr>
            <a:spLocks xmlns:a="http://schemas.openxmlformats.org/drawingml/2006/main" noGrp="1"/>
          </p:cNvSpPr>
          <p:nvPr/>
        </p:nvSpPr>
        <p:spPr>
          <a:xfrm xmlns:a="http://schemas.openxmlformats.org/drawingml/2006/main" rot="0" flipH="0" flipV="0">
            <a:off x="10361745" y="6671036"/>
            <a:ext cx="5463638" cy="53070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479"/>
              </a:lnSpc>
              <a:spcBef>
                <a:spcPct val="0"/>
              </a:spcBef>
              <a:buNone/>
            </a:pPr>
            <a:r>
              <a:rPr sz="3199" b="1">
                <a:solidFill>
                  <a:srgbClr val="FFFFFF"/>
                </a:solidFill>
                <a:latin typeface="Inter Bold"/>
                <a:ea typeface="Inter Bold"/>
                <a:cs typeface="Inter Bold"/>
              </a:rPr>
              <a:t>3 Roles</a:t>
            </a:r>
          </a:p>
        </p:txBody>
      </p:sp>
      <p:sp>
        <p:nvSpPr>
          <p:cNvPr id="23" name="TextBox 23">
            <a:extLst xmlns:a="http://schemas.openxmlformats.org/drawingml/2006/main">
              <a:ext uri="{FF2B5EF4-FFF2-40B4-BE49-F238E27FC236}">
                <a16:creationId xmlns:a16="http://schemas.microsoft.com/office/drawing/2014/main" id="{907FAF96-0A82-48F2-81F3-369FD3780824}"/>
              </a:ext>
            </a:extLst>
          </p:cNvPr>
          <p:cNvSpPr>
            <a:spLocks xmlns:a="http://schemas.openxmlformats.org/drawingml/2006/main" noGrp="1"/>
          </p:cNvSpPr>
          <p:nvPr/>
        </p:nvSpPr>
        <p:spPr>
          <a:xfrm xmlns:a="http://schemas.openxmlformats.org/drawingml/2006/main" rot="0" flipH="0" flipV="0">
            <a:off x="10361745" y="7386160"/>
            <a:ext cx="6897554" cy="18721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582925" lvl="1" indent="-291463" algn="l">
              <a:lnSpc>
                <a:spcPts val="3779"/>
              </a:lnSpc>
              <a:buFont typeface="Arial"/>
              <a:buChar char="•"/>
            </a:pPr>
            <a:r>
              <a:rPr sz="2699">
                <a:solidFill>
                  <a:srgbClr val="FFFFFF"/>
                </a:solidFill>
                <a:latin typeface="Inter"/>
                <a:ea typeface="Inter"/>
                <a:cs typeface="Inter"/>
              </a:rPr>
              <a:t>Cliente: gestiona sus mascotas, reserva turnos y ve historial de sus mascotas</a:t>
            </a:r>
          </a:p>
          <a:p xmlns:a="http://schemas.openxmlformats.org/drawingml/2006/main">
            <a:pPr marL="582925" lvl="1" indent="-291463" algn="l">
              <a:lnSpc>
                <a:spcPts val="3779"/>
              </a:lnSpc>
              <a:buFont typeface="Arial"/>
              <a:buChar char="•"/>
            </a:pPr>
            <a:r>
              <a:rPr sz="2699">
                <a:solidFill>
                  <a:srgbClr val="FFFFFF"/>
                </a:solidFill>
                <a:latin typeface="Inter"/>
                <a:ea typeface="Inter"/>
                <a:cs typeface="Inter"/>
              </a:rPr>
              <a:t>Administrador: gestiona usuarios</a:t>
            </a:r>
          </a:p>
        </p:txBody>
      </p:sp>
    </p:spTree>
    <p:extLst>
      <p:ext uri="{BB962C8B-B14F-4D97-AF65-F5344CB8AC3E}">
        <p14:creationId xmlns:p14="http://schemas.microsoft.com/office/powerpoint/2010/main" val="1233995699"/>
      </p:ext>
    </p:extLst>
  </p:cSld>
</p:sld>
</file>

<file path=ppt/slides/slide8.xml><?xml version="1.0" encoding="utf-8"?>
<p:sld xmlns:p="http://schemas.openxmlformats.org/presentationml/2006/main">
  <p:cSld>
    <p:bg>
      <p:bgPr>
        <a:solidFill xmlns:a="http://schemas.openxmlformats.org/drawingml/2006/main">
          <a:srgbClr val="022135"/>
        </a:solidFill>
      </p:bgPr>
    </p:bg>
    <p:spTree>
      <p:nvGrpSpPr>
        <p:cNvPr id="1" name=""/>
        <p:cNvGrpSpPr/>
        <p:nvPr/>
      </p:nvGrpSpPr>
      <p:grpSpPr>
        <a:xfrm xmlns:a="http://schemas.openxmlformats.org/drawingml/2006/main"/>
      </p:grpSpPr>
      <p:sp>
        <p:nvSpPr>
          <p:cNvPr id="3" name="AutoShape 3">
            <a:extLst xmlns:a="http://schemas.openxmlformats.org/drawingml/2006/main">
              <a:ext uri="{FF2B5EF4-FFF2-40B4-BE49-F238E27FC236}">
                <a16:creationId xmlns:a16="http://schemas.microsoft.com/office/drawing/2014/main" id="{3644F7A7-0BFA-47A8-AA41-9C773B45DF07}"/>
              </a:ext>
            </a:extLst>
          </p:cNvPr>
          <p:cNvSpPr>
            <a:spLocks xmlns:a="http://schemas.openxmlformats.org/drawingml/2006/main" noGrp="1"/>
          </p:cNvSpPr>
          <p:nvPr/>
        </p:nvSpPr>
        <p:spPr>
          <a:xfrm xmlns:a="http://schemas.openxmlformats.org/drawingml/2006/main" rot="0" flipH="0" flipV="0">
            <a:off x="16827670" y="10477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4" name="AutoShape 4">
            <a:extLst xmlns:a="http://schemas.openxmlformats.org/drawingml/2006/main">
              <a:ext uri="{FF2B5EF4-FFF2-40B4-BE49-F238E27FC236}">
                <a16:creationId xmlns:a16="http://schemas.microsoft.com/office/drawing/2014/main" id="{C79319A3-1C5B-4396-9306-A724E4A86B42}"/>
              </a:ext>
            </a:extLst>
          </p:cNvPr>
          <p:cNvSpPr>
            <a:spLocks xmlns:a="http://schemas.openxmlformats.org/drawingml/2006/main" noGrp="1"/>
          </p:cNvSpPr>
          <p:nvPr/>
        </p:nvSpPr>
        <p:spPr>
          <a:xfrm xmlns:a="http://schemas.openxmlformats.org/drawingml/2006/main" rot="0" flipH="0" flipV="0">
            <a:off x="16827670" y="12001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5" name="AutoShape 5">
            <a:extLst xmlns:a="http://schemas.openxmlformats.org/drawingml/2006/main">
              <a:ext uri="{FF2B5EF4-FFF2-40B4-BE49-F238E27FC236}">
                <a16:creationId xmlns:a16="http://schemas.microsoft.com/office/drawing/2014/main" id="{A882B02C-2245-46B0-B787-3791ACC2D80F}"/>
              </a:ext>
            </a:extLst>
          </p:cNvPr>
          <p:cNvSpPr>
            <a:spLocks xmlns:a="http://schemas.openxmlformats.org/drawingml/2006/main" noGrp="1"/>
          </p:cNvSpPr>
          <p:nvPr/>
        </p:nvSpPr>
        <p:spPr>
          <a:xfrm xmlns:a="http://schemas.openxmlformats.org/drawingml/2006/main" rot="0" flipH="0" flipV="0">
            <a:off x="16827670" y="13525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7" name="TextBox 7">
            <a:extLst xmlns:a="http://schemas.openxmlformats.org/drawingml/2006/main">
              <a:ext uri="{FF2B5EF4-FFF2-40B4-BE49-F238E27FC236}">
                <a16:creationId xmlns:a16="http://schemas.microsoft.com/office/drawing/2014/main" id="{28C7502F-4068-4FB4-9540-7B07155EA0C5}"/>
              </a:ext>
            </a:extLst>
          </p:cNvPr>
          <p:cNvSpPr>
            <a:spLocks xmlns:a="http://schemas.openxmlformats.org/drawingml/2006/main" noGrp="1"/>
          </p:cNvSpPr>
          <p:nvPr/>
        </p:nvSpPr>
        <p:spPr>
          <a:xfrm xmlns:a="http://schemas.openxmlformats.org/drawingml/2006/main" rot="0" flipH="0" flipV="0">
            <a:off x="955400" y="3321349"/>
            <a:ext cx="7017108" cy="256460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10499"/>
              </a:lnSpc>
              <a:spcBef>
                <a:spcPct val="0"/>
              </a:spcBef>
              <a:buNone/>
            </a:pPr>
            <a:r>
              <a:rPr sz="7499" b="1">
                <a:solidFill>
                  <a:srgbClr val="FFFFFF"/>
                </a:solidFill>
                <a:latin typeface="Bricolage Grotesque Bold"/>
                <a:ea typeface="Bricolage Grotesque Bold"/>
                <a:cs typeface="Bricolage Grotesque Bold"/>
              </a:rPr>
              <a:t>¿Qué es Pet-Core?</a:t>
            </a:r>
          </a:p>
        </p:txBody>
      </p:sp>
      <p:sp>
        <p:nvSpPr>
          <p:cNvPr id="8" name="TextBox 8">
            <a:extLst xmlns:a="http://schemas.openxmlformats.org/drawingml/2006/main">
              <a:ext uri="{FF2B5EF4-FFF2-40B4-BE49-F238E27FC236}">
                <a16:creationId xmlns:a16="http://schemas.microsoft.com/office/drawing/2014/main" id="{A9ACAAA0-12BE-4D34-A546-1E21D35BE1EE}"/>
              </a:ext>
            </a:extLst>
          </p:cNvPr>
          <p:cNvSpPr>
            <a:spLocks xmlns:a="http://schemas.openxmlformats.org/drawingml/2006/main" noGrp="1"/>
          </p:cNvSpPr>
          <p:nvPr/>
        </p:nvSpPr>
        <p:spPr>
          <a:xfrm xmlns:a="http://schemas.openxmlformats.org/drawingml/2006/main" rot="0" flipH="0" flipV="0">
            <a:off x="955400" y="6204390"/>
            <a:ext cx="7017108" cy="37734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219"/>
              </a:lnSpc>
              <a:spcBef>
                <a:spcPct val="0"/>
              </a:spcBef>
              <a:buNone/>
            </a:pPr>
            <a:r>
              <a:rPr sz="2299">
                <a:solidFill>
                  <a:srgbClr val="FFFFFF"/>
                </a:solidFill>
                <a:latin typeface="Inter"/>
                <a:ea typeface="Inter"/>
                <a:cs typeface="Inter"/>
              </a:rPr>
              <a:t>Sistema de gestión para una clínica veterinaria</a:t>
            </a:r>
          </a:p>
        </p:txBody>
      </p:sp>
      <p:sp>
        <p:nvSpPr>
          <p:cNvPr id="9" name="Freeform 9">
            <a:extLst xmlns:a="http://schemas.openxmlformats.org/drawingml/2006/main">
              <a:ext uri="{FF2B5EF4-FFF2-40B4-BE49-F238E27FC236}">
                <a16:creationId xmlns:a16="http://schemas.microsoft.com/office/drawing/2014/main" id="{83F3B9D8-603C-4AAB-8B52-765B7D592FF9}"/>
              </a:ext>
            </a:extLst>
          </p:cNvPr>
          <p:cNvSpPr>
            <a:spLocks xmlns:a="http://schemas.openxmlformats.org/drawingml/2006/main" noGrp="1"/>
          </p:cNvSpPr>
          <p:nvPr/>
        </p:nvSpPr>
        <p:spPr>
          <a:xfrm xmlns:a="http://schemas.openxmlformats.org/drawingml/2006/main" rot="0" flipH="1" flipV="0">
            <a:off x="6352930" y="599065"/>
            <a:ext cx="3385756" cy="3278015"/>
          </a:xfrm>
          <a:custGeom xmlns:a="http://schemas.openxmlformats.org/drawingml/2006/main">
            <a:rect l="l" t="t" r="r" b="b"/>
            <a:pathLst>
              <a:path w="3385756" h="3278015">
                <a:moveTo>
                  <a:pt x="3385756" y="0"/>
                </a:moveTo>
                <a:lnTo>
                  <a:pt x="0" y="0"/>
                </a:lnTo>
                <a:lnTo>
                  <a:pt x="0" y="3278015"/>
                </a:lnTo>
                <a:lnTo>
                  <a:pt x="3385756" y="3278015"/>
                </a:lnTo>
                <a:lnTo>
                  <a:pt x="3385756" y="0"/>
                </a:lnTo>
                <a:close/>
              </a:path>
            </a:pathLst>
          </a:custGeom>
          <a:blipFill xmlns:a="http://schemas.openxmlformats.org/drawingml/2006/main">
            <a:blip xmlns:r="http://schemas.openxmlformats.org/officeDocument/2006/relationships" r:embed="Rbff57692ca4d483d">
              <a:extLst>
                <a:ext uri="{96DAC541-7B7A-43D3-8B79-37D633B846F1}">
                  <asvg:svgBlip xmlns:asvg="http://schemas.microsoft.com/office/drawing/2016/SVG/main" r:embed="R045e652b6e974a1b"/>
                </a:ext>
              </a:extLst>
            </a:blip>
            <a:stretch>
              <a:fillRect l="0" t="0" r="0" b="0"/>
            </a:stretch>
          </a:blipFill>
        </p:spPr>
      </p:sp>
      <p:sp>
        <p:nvSpPr>
          <p:cNvPr id="11" name="TextBox 11">
            <a:extLst xmlns:a="http://schemas.openxmlformats.org/drawingml/2006/main">
              <a:ext uri="{FF2B5EF4-FFF2-40B4-BE49-F238E27FC236}">
                <a16:creationId xmlns:a16="http://schemas.microsoft.com/office/drawing/2014/main" id="{4E2F1B5E-64AC-45EF-9090-8657BC764C90}"/>
              </a:ext>
            </a:extLst>
          </p:cNvPr>
          <p:cNvSpPr>
            <a:spLocks xmlns:a="http://schemas.openxmlformats.org/drawingml/2006/main" noGrp="1"/>
          </p:cNvSpPr>
          <p:nvPr/>
        </p:nvSpPr>
        <p:spPr>
          <a:xfrm xmlns:a="http://schemas.openxmlformats.org/drawingml/2006/main" rot="0" flipH="0" flipV="0">
            <a:off x="10343119" y="1784992"/>
            <a:ext cx="5463638" cy="53070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479"/>
              </a:lnSpc>
              <a:spcBef>
                <a:spcPct val="0"/>
              </a:spcBef>
              <a:buNone/>
            </a:pPr>
            <a:r>
              <a:rPr sz="3199" b="1">
                <a:solidFill>
                  <a:srgbClr val="FFFFFF"/>
                </a:solidFill>
                <a:latin typeface="Inter Bold"/>
                <a:ea typeface="Inter Bold"/>
                <a:cs typeface="Inter Bold"/>
              </a:rPr>
              <a:t>Centraliza 2 procesos</a:t>
            </a:r>
          </a:p>
        </p:txBody>
      </p:sp>
      <p:sp>
        <p:nvSpPr>
          <p:cNvPr id="12" name="TextBox 12">
            <a:extLst xmlns:a="http://schemas.openxmlformats.org/drawingml/2006/main">
              <a:ext uri="{FF2B5EF4-FFF2-40B4-BE49-F238E27FC236}">
                <a16:creationId xmlns:a16="http://schemas.microsoft.com/office/drawing/2014/main" id="{94509387-2CE7-4ABD-8CA8-F70DFCF41CD4}"/>
              </a:ext>
            </a:extLst>
          </p:cNvPr>
          <p:cNvSpPr>
            <a:spLocks xmlns:a="http://schemas.openxmlformats.org/drawingml/2006/main" noGrp="1"/>
          </p:cNvSpPr>
          <p:nvPr/>
        </p:nvSpPr>
        <p:spPr>
          <a:xfrm xmlns:a="http://schemas.openxmlformats.org/drawingml/2006/main" rot="0" flipH="0" flipV="0">
            <a:off x="10100986" y="2472494"/>
            <a:ext cx="6897554" cy="18721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582925" lvl="1" indent="-291463" algn="l">
              <a:lnSpc>
                <a:spcPts val="3779"/>
              </a:lnSpc>
              <a:buFont typeface="Arial"/>
              <a:buChar char="•"/>
            </a:pPr>
            <a:r>
              <a:rPr sz="2699">
                <a:solidFill>
                  <a:srgbClr val="FFFFFF"/>
                </a:solidFill>
                <a:latin typeface="Inter"/>
                <a:ea typeface="Inter"/>
                <a:cs typeface="Inter"/>
              </a:rPr>
              <a:t>Reserva de turnos e historial clínico de las mascotas.</a:t>
            </a:r>
          </a:p>
          <a:p xmlns:a="http://schemas.openxmlformats.org/drawingml/2006/main">
            <a:pPr marL="582925" lvl="1" indent="-291463" algn="l">
              <a:lnSpc>
                <a:spcPts val="3779"/>
              </a:lnSpc>
              <a:buFont typeface="Arial"/>
              <a:buChar char="•"/>
            </a:pPr>
            <a:r>
              <a:rPr sz="2699">
                <a:solidFill>
                  <a:srgbClr val="FFFFFF"/>
                </a:solidFill>
                <a:latin typeface="Inter"/>
                <a:ea typeface="Inter"/>
                <a:cs typeface="Inter"/>
              </a:rPr>
              <a:t>Actualmente estos procesos se manejas de manera dispersa</a:t>
            </a:r>
          </a:p>
        </p:txBody>
      </p:sp>
      <p:sp>
        <p:nvSpPr>
          <p:cNvPr id="14" name="Freeform 14">
            <a:extLst xmlns:a="http://schemas.openxmlformats.org/drawingml/2006/main">
              <a:ext uri="{FF2B5EF4-FFF2-40B4-BE49-F238E27FC236}">
                <a16:creationId xmlns:a16="http://schemas.microsoft.com/office/drawing/2014/main" id="{6B31E1B7-A636-440F-A524-450A8AD77423}"/>
              </a:ext>
            </a:extLst>
          </p:cNvPr>
          <p:cNvSpPr>
            <a:spLocks xmlns:a="http://schemas.openxmlformats.org/drawingml/2006/main" noGrp="1"/>
          </p:cNvSpPr>
          <p:nvPr/>
        </p:nvSpPr>
        <p:spPr>
          <a:xfrm xmlns:a="http://schemas.openxmlformats.org/drawingml/2006/main" rot="0" flipH="0" flipV="0">
            <a:off x="9840349" y="2315693"/>
            <a:ext cx="260637" cy="2505189"/>
          </a:xfrm>
          <a:custGeom xmlns:a="http://schemas.openxmlformats.org/drawingml/2006/main">
            <a:rect l="l" t="t" r="r" b="b"/>
            <a:pathLst>
              <a:path w="68645" h="659803">
                <a:moveTo>
                  <a:pt x="34323" y="0"/>
                </a:moveTo>
                <a:lnTo>
                  <a:pt x="34323" y="0"/>
                </a:lnTo>
                <a:cubicBezTo>
                  <a:pt x="43426" y="0"/>
                  <a:pt x="52156" y="3616"/>
                  <a:pt x="58592" y="10053"/>
                </a:cubicBezTo>
                <a:cubicBezTo>
                  <a:pt x="65029" y="16490"/>
                  <a:pt x="68645" y="25220"/>
                  <a:pt x="68645" y="34323"/>
                </a:cubicBezTo>
                <a:lnTo>
                  <a:pt x="68645" y="625480"/>
                </a:lnTo>
                <a:cubicBezTo>
                  <a:pt x="68645" y="644436"/>
                  <a:pt x="53279" y="659803"/>
                  <a:pt x="34323" y="659803"/>
                </a:cubicBezTo>
                <a:lnTo>
                  <a:pt x="34323" y="659803"/>
                </a:lnTo>
                <a:cubicBezTo>
                  <a:pt x="15367" y="659803"/>
                  <a:pt x="0" y="644436"/>
                  <a:pt x="0" y="625480"/>
                </a:cubicBezTo>
                <a:lnTo>
                  <a:pt x="0" y="34323"/>
                </a:lnTo>
                <a:cubicBezTo>
                  <a:pt x="0" y="15367"/>
                  <a:pt x="15367" y="0"/>
                  <a:pt x="34323" y="0"/>
                </a:cubicBezTo>
                <a:close/>
              </a:path>
            </a:pathLst>
          </a:custGeom>
          <a:solidFill xmlns:a="http://schemas.openxmlformats.org/drawingml/2006/main">
            <a:srgbClr val="FFFFFF"/>
          </a:solidFill>
        </p:spPr>
      </p:sp>
      <p:sp>
        <p:nvSpPr>
          <p:cNvPr id="15" name="TextBox 15">
            <a:extLst xmlns:a="http://schemas.openxmlformats.org/drawingml/2006/main">
              <a:ext uri="{FF2B5EF4-FFF2-40B4-BE49-F238E27FC236}">
                <a16:creationId xmlns:a16="http://schemas.microsoft.com/office/drawing/2014/main" id="{E2E0473D-C164-4EE3-ADD7-1101E290F9AC}"/>
              </a:ext>
            </a:extLst>
          </p:cNvPr>
          <p:cNvSpPr>
            <a:spLocks xmlns:a="http://schemas.openxmlformats.org/drawingml/2006/main" noGrp="1"/>
          </p:cNvSpPr>
          <p:nvPr/>
        </p:nvSpPr>
        <p:spPr>
          <a:xfrm xmlns:a="http://schemas.openxmlformats.org/drawingml/2006/main" rot="0" flipH="0" flipV="0">
            <a:off x="9840349" y="2171033"/>
            <a:ext cx="260637" cy="2649850"/>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spcBef>
                <a:spcPct val="0"/>
              </a:spcBef>
              <a:buNone/>
            </a:pPr>
          </a:p>
        </p:txBody>
      </p:sp>
      <p:sp>
        <p:nvSpPr>
          <p:cNvPr id="16" name="Freeform 16">
            <a:extLst xmlns:a="http://schemas.openxmlformats.org/drawingml/2006/main">
              <a:ext uri="{FF2B5EF4-FFF2-40B4-BE49-F238E27FC236}">
                <a16:creationId xmlns:a16="http://schemas.microsoft.com/office/drawing/2014/main" id="{652DBD1E-58E3-444C-B279-CC13AD0D6DF7}"/>
              </a:ext>
            </a:extLst>
          </p:cNvPr>
          <p:cNvSpPr>
            <a:spLocks xmlns:a="http://schemas.openxmlformats.org/drawingml/2006/main" noGrp="1"/>
          </p:cNvSpPr>
          <p:nvPr/>
        </p:nvSpPr>
        <p:spPr>
          <a:xfrm xmlns:a="http://schemas.openxmlformats.org/drawingml/2006/main" rot="0" flipH="0" flipV="0">
            <a:off x="4837421" y="7619293"/>
            <a:ext cx="3385756" cy="3278015"/>
          </a:xfrm>
          <a:custGeom xmlns:a="http://schemas.openxmlformats.org/drawingml/2006/main">
            <a:rect l="l" t="t" r="r" b="b"/>
            <a:pathLst>
              <a:path w="3385756" h="3278015">
                <a:moveTo>
                  <a:pt x="0" y="0"/>
                </a:moveTo>
                <a:lnTo>
                  <a:pt x="3385755" y="0"/>
                </a:lnTo>
                <a:lnTo>
                  <a:pt x="3385755" y="3278014"/>
                </a:lnTo>
                <a:lnTo>
                  <a:pt x="0" y="3278014"/>
                </a:lnTo>
                <a:lnTo>
                  <a:pt x="0" y="0"/>
                </a:lnTo>
                <a:close/>
              </a:path>
            </a:pathLst>
          </a:custGeom>
          <a:blipFill xmlns:a="http://schemas.openxmlformats.org/drawingml/2006/main">
            <a:blip xmlns:r="http://schemas.openxmlformats.org/officeDocument/2006/relationships" r:embed="Rbff57692ca4d483d">
              <a:extLst>
                <a:ext uri="{96DAC541-7B7A-43D3-8B79-37D633B846F1}">
                  <asvg:svgBlip xmlns:asvg="http://schemas.microsoft.com/office/drawing/2016/SVG/main" r:embed="R045e652b6e974a1b"/>
                </a:ext>
              </a:extLst>
            </a:blip>
            <a:stretch>
              <a:fillRect l="0" t="0" r="0" b="0"/>
            </a:stretch>
          </a:blipFill>
        </p:spPr>
      </p:sp>
      <p:sp>
        <p:nvSpPr>
          <p:cNvPr id="17" name="Freeform 17">
            <a:extLst xmlns:a="http://schemas.openxmlformats.org/drawingml/2006/main">
              <a:ext uri="{FF2B5EF4-FFF2-40B4-BE49-F238E27FC236}">
                <a16:creationId xmlns:a16="http://schemas.microsoft.com/office/drawing/2014/main" id="{B3BC4C87-85D4-443A-89CA-F7C7675E891D}"/>
              </a:ext>
            </a:extLst>
          </p:cNvPr>
          <p:cNvSpPr>
            <a:spLocks xmlns:a="http://schemas.openxmlformats.org/drawingml/2006/main" noGrp="1"/>
          </p:cNvSpPr>
          <p:nvPr/>
        </p:nvSpPr>
        <p:spPr>
          <a:xfrm xmlns:a="http://schemas.openxmlformats.org/drawingml/2006/main" rot="0" flipH="1" flipV="0">
            <a:off x="1056012" y="8361045"/>
            <a:ext cx="926746" cy="897255"/>
          </a:xfrm>
          <a:custGeom xmlns:a="http://schemas.openxmlformats.org/drawingml/2006/main">
            <a:rect l="l" t="t" r="r" b="b"/>
            <a:pathLst>
              <a:path w="926746" h="897255">
                <a:moveTo>
                  <a:pt x="926746" y="0"/>
                </a:moveTo>
                <a:lnTo>
                  <a:pt x="0" y="0"/>
                </a:lnTo>
                <a:lnTo>
                  <a:pt x="0" y="897255"/>
                </a:lnTo>
                <a:lnTo>
                  <a:pt x="926746" y="897255"/>
                </a:lnTo>
                <a:lnTo>
                  <a:pt x="926746" y="0"/>
                </a:lnTo>
                <a:close/>
              </a:path>
            </a:pathLst>
          </a:custGeom>
          <a:blipFill xmlns:a="http://schemas.openxmlformats.org/drawingml/2006/main">
            <a:blip xmlns:r="http://schemas.openxmlformats.org/officeDocument/2006/relationships" r:embed="R1d364cc006c84590">
              <a:extLst>
                <a:ext uri="{96DAC541-7B7A-43D3-8B79-37D633B846F1}">
                  <asvg:svgBlip xmlns:asvg="http://schemas.microsoft.com/office/drawing/2016/SVG/main" r:embed="R87529a4d444f401a"/>
                </a:ext>
              </a:extLst>
            </a:blip>
            <a:stretch>
              <a:fillRect l="0" t="0" r="0" b="0"/>
            </a:stretch>
          </a:blipFill>
        </p:spPr>
      </p:sp>
      <p:sp>
        <p:nvSpPr>
          <p:cNvPr id="20" name="Freeform 20">
            <a:extLst xmlns:a="http://schemas.openxmlformats.org/drawingml/2006/main">
              <a:ext uri="{FF2B5EF4-FFF2-40B4-BE49-F238E27FC236}">
                <a16:creationId xmlns:a16="http://schemas.microsoft.com/office/drawing/2014/main" id="{EAB3D4F8-B5A4-4A6E-BBCA-9FFE2F2AC116}"/>
              </a:ext>
            </a:extLst>
          </p:cNvPr>
          <p:cNvSpPr>
            <a:spLocks xmlns:a="http://schemas.openxmlformats.org/drawingml/2006/main" noGrp="1"/>
          </p:cNvSpPr>
          <p:nvPr/>
        </p:nvSpPr>
        <p:spPr>
          <a:xfrm xmlns:a="http://schemas.openxmlformats.org/drawingml/2006/main" rot="0" flipH="0" flipV="0">
            <a:off x="9858975" y="7201737"/>
            <a:ext cx="260637" cy="1995485"/>
          </a:xfrm>
          <a:custGeom xmlns:a="http://schemas.openxmlformats.org/drawingml/2006/main">
            <a:rect l="l" t="t" r="r" b="b"/>
            <a:pathLst>
              <a:path w="68645" h="525560">
                <a:moveTo>
                  <a:pt x="34323" y="0"/>
                </a:moveTo>
                <a:lnTo>
                  <a:pt x="34323" y="0"/>
                </a:lnTo>
                <a:cubicBezTo>
                  <a:pt x="43426" y="0"/>
                  <a:pt x="52156" y="3616"/>
                  <a:pt x="58592" y="10053"/>
                </a:cubicBezTo>
                <a:cubicBezTo>
                  <a:pt x="65029" y="16490"/>
                  <a:pt x="68645" y="25220"/>
                  <a:pt x="68645" y="34323"/>
                </a:cubicBezTo>
                <a:lnTo>
                  <a:pt x="68645" y="491237"/>
                </a:lnTo>
                <a:cubicBezTo>
                  <a:pt x="68645" y="510193"/>
                  <a:pt x="53279" y="525560"/>
                  <a:pt x="34323" y="525560"/>
                </a:cubicBezTo>
                <a:lnTo>
                  <a:pt x="34323" y="525560"/>
                </a:lnTo>
                <a:cubicBezTo>
                  <a:pt x="25220" y="525560"/>
                  <a:pt x="16490" y="521944"/>
                  <a:pt x="10053" y="515507"/>
                </a:cubicBezTo>
                <a:cubicBezTo>
                  <a:pt x="3616" y="509070"/>
                  <a:pt x="0" y="500340"/>
                  <a:pt x="0" y="491237"/>
                </a:cubicBezTo>
                <a:lnTo>
                  <a:pt x="0" y="34323"/>
                </a:lnTo>
                <a:cubicBezTo>
                  <a:pt x="0" y="15367"/>
                  <a:pt x="15367" y="0"/>
                  <a:pt x="34323" y="0"/>
                </a:cubicBezTo>
                <a:close/>
              </a:path>
            </a:pathLst>
          </a:custGeom>
          <a:solidFill xmlns:a="http://schemas.openxmlformats.org/drawingml/2006/main">
            <a:srgbClr val="FFFFFF"/>
          </a:solidFill>
        </p:spPr>
      </p:sp>
      <p:sp>
        <p:nvSpPr>
          <p:cNvPr id="21" name="TextBox 21">
            <a:extLst xmlns:a="http://schemas.openxmlformats.org/drawingml/2006/main">
              <a:ext uri="{FF2B5EF4-FFF2-40B4-BE49-F238E27FC236}">
                <a16:creationId xmlns:a16="http://schemas.microsoft.com/office/drawing/2014/main" id="{A1073F8F-3B20-4D36-8032-237F3B8FEAB1}"/>
              </a:ext>
            </a:extLst>
          </p:cNvPr>
          <p:cNvSpPr>
            <a:spLocks xmlns:a="http://schemas.openxmlformats.org/drawingml/2006/main" noGrp="1"/>
          </p:cNvSpPr>
          <p:nvPr/>
        </p:nvSpPr>
        <p:spPr>
          <a:xfrm xmlns:a="http://schemas.openxmlformats.org/drawingml/2006/main" rot="0" flipH="0" flipV="0">
            <a:off x="9858975" y="7057077"/>
            <a:ext cx="260637" cy="2140146"/>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spcBef>
                <a:spcPct val="0"/>
              </a:spcBef>
              <a:buNone/>
            </a:pPr>
          </a:p>
        </p:txBody>
      </p:sp>
      <p:sp>
        <p:nvSpPr>
          <p:cNvPr id="22" name="TextBox 22">
            <a:extLst xmlns:a="http://schemas.openxmlformats.org/drawingml/2006/main">
              <a:ext uri="{FF2B5EF4-FFF2-40B4-BE49-F238E27FC236}">
                <a16:creationId xmlns:a16="http://schemas.microsoft.com/office/drawing/2014/main" id="{178614A7-90FF-4E6E-A91F-D9B09F5E0AC2}"/>
              </a:ext>
            </a:extLst>
          </p:cNvPr>
          <p:cNvSpPr>
            <a:spLocks xmlns:a="http://schemas.openxmlformats.org/drawingml/2006/main" noGrp="1"/>
          </p:cNvSpPr>
          <p:nvPr/>
        </p:nvSpPr>
        <p:spPr>
          <a:xfrm xmlns:a="http://schemas.openxmlformats.org/drawingml/2006/main" rot="0" flipH="0" flipV="0">
            <a:off x="10361745" y="6671036"/>
            <a:ext cx="5463638" cy="53070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479"/>
              </a:lnSpc>
              <a:spcBef>
                <a:spcPct val="0"/>
              </a:spcBef>
              <a:buNone/>
            </a:pPr>
            <a:r>
              <a:rPr sz="3199" b="1">
                <a:solidFill>
                  <a:srgbClr val="FFFFFF"/>
                </a:solidFill>
                <a:latin typeface="Inter Bold"/>
                <a:ea typeface="Inter Bold"/>
                <a:cs typeface="Inter Bold"/>
              </a:rPr>
              <a:t>3 Roles</a:t>
            </a:r>
          </a:p>
        </p:txBody>
      </p:sp>
      <p:sp>
        <p:nvSpPr>
          <p:cNvPr id="23" name="TextBox 23">
            <a:extLst xmlns:a="http://schemas.openxmlformats.org/drawingml/2006/main">
              <a:ext uri="{FF2B5EF4-FFF2-40B4-BE49-F238E27FC236}">
                <a16:creationId xmlns:a16="http://schemas.microsoft.com/office/drawing/2014/main" id="{907FAF96-0A82-48F2-81F3-369FD3780824}"/>
              </a:ext>
            </a:extLst>
          </p:cNvPr>
          <p:cNvSpPr>
            <a:spLocks xmlns:a="http://schemas.openxmlformats.org/drawingml/2006/main" noGrp="1"/>
          </p:cNvSpPr>
          <p:nvPr/>
        </p:nvSpPr>
        <p:spPr>
          <a:xfrm xmlns:a="http://schemas.openxmlformats.org/drawingml/2006/main" rot="0" flipH="0" flipV="0">
            <a:off x="10361745" y="7386160"/>
            <a:ext cx="6897554" cy="18721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582925" lvl="1" indent="-291463" algn="l">
              <a:lnSpc>
                <a:spcPts val="3779"/>
              </a:lnSpc>
              <a:buFont typeface="Arial"/>
              <a:buChar char="•"/>
            </a:pPr>
            <a:r>
              <a:rPr sz="2699">
                <a:solidFill>
                  <a:srgbClr val="FFFFFF"/>
                </a:solidFill>
                <a:latin typeface="Inter"/>
                <a:ea typeface="Inter"/>
                <a:cs typeface="Inter"/>
              </a:rPr>
              <a:t>Cliente: gestiona sus mascotas, reserva turnos y ve historial de sus mascotas</a:t>
            </a:r>
          </a:p>
          <a:p xmlns:a="http://schemas.openxmlformats.org/drawingml/2006/main">
            <a:pPr marL="582925" lvl="1" indent="-291463" algn="l">
              <a:lnSpc>
                <a:spcPts val="3779"/>
              </a:lnSpc>
              <a:buFont typeface="Arial"/>
              <a:buChar char="•"/>
            </a:pPr>
            <a:r>
              <a:rPr sz="2699">
                <a:solidFill>
                  <a:srgbClr val="FFFFFF"/>
                </a:solidFill>
                <a:latin typeface="Inter"/>
                <a:ea typeface="Inter"/>
                <a:cs typeface="Inter"/>
              </a:rPr>
              <a:t>Administrador: gestiona usuarios</a:t>
            </a:r>
          </a:p>
        </p:txBody>
      </p:sp>
    </p:spTree>
    <p:extLst>
      <p:ext uri="{BB962C8B-B14F-4D97-AF65-F5344CB8AC3E}">
        <p14:creationId xmlns:p14="http://schemas.microsoft.com/office/powerpoint/2010/main" val="1233995699"/>
      </p:ext>
    </p:extLst>
  </p:cSld>
</p:sld>
</file>

<file path=ppt/slides/slide9.xml><?xml version="1.0" encoding="utf-8"?>
<p:sld xmlns:p="http://schemas.openxmlformats.org/presentationml/2006/main">
  <p:cSld>
    <p:bg>
      <p:bgPr>
        <a:solidFill xmlns:a="http://schemas.openxmlformats.org/drawingml/2006/main">
          <a:srgbClr val="022135"/>
        </a:solidFill>
      </p:bgPr>
    </p:bg>
    <p:spTree>
      <p:nvGrpSpPr>
        <p:cNvPr id="1" name=""/>
        <p:cNvGrpSpPr/>
        <p:nvPr/>
      </p:nvGrpSpPr>
      <p:grpSpPr>
        <a:xfrm xmlns:a="http://schemas.openxmlformats.org/drawingml/2006/main"/>
      </p:grpSpPr>
      <p:sp>
        <p:nvSpPr>
          <p:cNvPr id="3" name="AutoShape 3">
            <a:extLst xmlns:a="http://schemas.openxmlformats.org/drawingml/2006/main">
              <a:ext uri="{FF2B5EF4-FFF2-40B4-BE49-F238E27FC236}">
                <a16:creationId xmlns:a16="http://schemas.microsoft.com/office/drawing/2014/main" id="{87638D65-FDE4-4447-AAC1-8898A2B93A95}"/>
              </a:ext>
            </a:extLst>
          </p:cNvPr>
          <p:cNvSpPr>
            <a:spLocks xmlns:a="http://schemas.openxmlformats.org/drawingml/2006/main" noGrp="1"/>
          </p:cNvSpPr>
          <p:nvPr/>
        </p:nvSpPr>
        <p:spPr>
          <a:xfrm xmlns:a="http://schemas.openxmlformats.org/drawingml/2006/main" rot="0" flipH="0" flipV="0">
            <a:off x="16827670" y="10477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4" name="AutoShape 4">
            <a:extLst xmlns:a="http://schemas.openxmlformats.org/drawingml/2006/main">
              <a:ext uri="{FF2B5EF4-FFF2-40B4-BE49-F238E27FC236}">
                <a16:creationId xmlns:a16="http://schemas.microsoft.com/office/drawing/2014/main" id="{F9C8CC03-6EE2-40B4-860D-95E564590373}"/>
              </a:ext>
            </a:extLst>
          </p:cNvPr>
          <p:cNvSpPr>
            <a:spLocks xmlns:a="http://schemas.openxmlformats.org/drawingml/2006/main" noGrp="1"/>
          </p:cNvSpPr>
          <p:nvPr/>
        </p:nvSpPr>
        <p:spPr>
          <a:xfrm xmlns:a="http://schemas.openxmlformats.org/drawingml/2006/main" rot="0" flipH="0" flipV="0">
            <a:off x="16827670" y="12001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5" name="AutoShape 5">
            <a:extLst xmlns:a="http://schemas.openxmlformats.org/drawingml/2006/main">
              <a:ext uri="{FF2B5EF4-FFF2-40B4-BE49-F238E27FC236}">
                <a16:creationId xmlns:a16="http://schemas.microsoft.com/office/drawing/2014/main" id="{717E86AA-E420-4DEA-9421-B3A544447C79}"/>
              </a:ext>
            </a:extLst>
          </p:cNvPr>
          <p:cNvSpPr>
            <a:spLocks xmlns:a="http://schemas.openxmlformats.org/drawingml/2006/main" noGrp="1"/>
          </p:cNvSpPr>
          <p:nvPr/>
        </p:nvSpPr>
        <p:spPr>
          <a:xfrm xmlns:a="http://schemas.openxmlformats.org/drawingml/2006/main" rot="0" flipH="0" flipV="0">
            <a:off x="16827670" y="13525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6" name="Freeform 6">
            <a:extLst xmlns:a="http://schemas.openxmlformats.org/drawingml/2006/main">
              <a:ext uri="{FF2B5EF4-FFF2-40B4-BE49-F238E27FC236}">
                <a16:creationId xmlns:a16="http://schemas.microsoft.com/office/drawing/2014/main" id="{D7351AEC-E045-44E1-81C8-C570EE01EB07}"/>
              </a:ext>
            </a:extLst>
          </p:cNvPr>
          <p:cNvSpPr>
            <a:spLocks xmlns:a="http://schemas.openxmlformats.org/drawingml/2006/main" noGrp="1"/>
          </p:cNvSpPr>
          <p:nvPr/>
        </p:nvSpPr>
        <p:spPr>
          <a:xfrm xmlns:a="http://schemas.openxmlformats.org/drawingml/2006/main" rot="0" flipH="1" flipV="0">
            <a:off x="689510" y="3861352"/>
            <a:ext cx="3325202" cy="3219389"/>
          </a:xfrm>
          <a:custGeom xmlns:a="http://schemas.openxmlformats.org/drawingml/2006/main">
            <a:rect l="l" t="t" r="r" b="b"/>
            <a:pathLst>
              <a:path w="3325202" h="3219389">
                <a:moveTo>
                  <a:pt x="3325202" y="0"/>
                </a:moveTo>
                <a:lnTo>
                  <a:pt x="0" y="0"/>
                </a:lnTo>
                <a:lnTo>
                  <a:pt x="0" y="3219389"/>
                </a:lnTo>
                <a:lnTo>
                  <a:pt x="3325202" y="3219389"/>
                </a:lnTo>
                <a:lnTo>
                  <a:pt x="3325202" y="0"/>
                </a:lnTo>
                <a:close/>
              </a:path>
            </a:pathLst>
          </a:custGeom>
          <a:blipFill xmlns:a="http://schemas.openxmlformats.org/drawingml/2006/main">
            <a:blip xmlns:r="http://schemas.openxmlformats.org/officeDocument/2006/relationships" r:embed="Rbd296ba959534156">
              <a:extLst>
                <a:ext uri="{96DAC541-7B7A-43D3-8B79-37D633B846F1}">
                  <asvg:svgBlip xmlns:asvg="http://schemas.microsoft.com/office/drawing/2016/SVG/main" r:embed="Rcdfd39fece4b4180"/>
                </a:ext>
              </a:extLst>
            </a:blip>
            <a:stretch>
              <a:fillRect l="0" t="0" r="0" b="0"/>
            </a:stretch>
          </a:blipFill>
        </p:spPr>
      </p:sp>
      <p:sp>
        <p:nvSpPr>
          <p:cNvPr id="7" name="TextBox 7">
            <a:extLst xmlns:a="http://schemas.openxmlformats.org/drawingml/2006/main">
              <a:ext uri="{FF2B5EF4-FFF2-40B4-BE49-F238E27FC236}">
                <a16:creationId xmlns:a16="http://schemas.microsoft.com/office/drawing/2014/main" id="{4B11311B-D0AF-4EF5-B829-52931EB06C0B}"/>
              </a:ext>
            </a:extLst>
          </p:cNvPr>
          <p:cNvSpPr>
            <a:spLocks xmlns:a="http://schemas.openxmlformats.org/drawingml/2006/main" noGrp="1"/>
          </p:cNvSpPr>
          <p:nvPr/>
        </p:nvSpPr>
        <p:spPr>
          <a:xfrm xmlns:a="http://schemas.openxmlformats.org/drawingml/2006/main" rot="0">
            <a:off x="689510" y="1527810"/>
            <a:ext cx="15964654" cy="895931"/>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639"/>
              </a:lnSpc>
              <a:buNone/>
            </a:pPr>
            <a:r>
              <a:rPr sz="2599">
                <a:solidFill>
                  <a:srgbClr val="FFFFFF"/>
                </a:solidFill>
                <a:latin typeface="Inter"/>
                <a:ea typeface="Inter"/>
                <a:cs typeface="Inter"/>
              </a:rPr>
              <a:t>El valor del sistema aparece cuando el turno y el historial médico quedan conectados.</a:t>
            </a:r>
          </a:p>
          <a:p xmlns:a="http://schemas.openxmlformats.org/drawingml/2006/main">
            <a:pPr algn="ctr">
              <a:lnSpc>
                <a:spcPts val="3639"/>
              </a:lnSpc>
              <a:spcBef>
                <a:spcPct val="0"/>
              </a:spcBef>
              <a:buNone/>
            </a:pPr>
          </a:p>
        </p:txBody>
      </p:sp>
      <p:sp>
        <p:nvSpPr>
          <p:cNvPr id="8" name="Freeform 8">
            <a:extLst xmlns:a="http://schemas.openxmlformats.org/drawingml/2006/main">
              <a:ext uri="{FF2B5EF4-FFF2-40B4-BE49-F238E27FC236}">
                <a16:creationId xmlns:a16="http://schemas.microsoft.com/office/drawing/2014/main" id="{10B439F8-443A-4502-BADD-0EED808B9FEB}"/>
              </a:ext>
            </a:extLst>
          </p:cNvPr>
          <p:cNvSpPr>
            <a:spLocks xmlns:a="http://schemas.openxmlformats.org/drawingml/2006/main" noGrp="1"/>
          </p:cNvSpPr>
          <p:nvPr/>
        </p:nvSpPr>
        <p:spPr>
          <a:xfrm xmlns:a="http://schemas.openxmlformats.org/drawingml/2006/main" rot="0" flipH="1" flipV="0">
            <a:off x="5178150" y="2319572"/>
            <a:ext cx="3325202" cy="3219389"/>
          </a:xfrm>
          <a:custGeom xmlns:a="http://schemas.openxmlformats.org/drawingml/2006/main">
            <a:rect l="l" t="t" r="r" b="b"/>
            <a:pathLst>
              <a:path w="3325202" h="3219389">
                <a:moveTo>
                  <a:pt x="3325202" y="0"/>
                </a:moveTo>
                <a:lnTo>
                  <a:pt x="0" y="0"/>
                </a:lnTo>
                <a:lnTo>
                  <a:pt x="0" y="3219388"/>
                </a:lnTo>
                <a:lnTo>
                  <a:pt x="3325202" y="3219388"/>
                </a:lnTo>
                <a:lnTo>
                  <a:pt x="3325202" y="0"/>
                </a:lnTo>
                <a:close/>
              </a:path>
            </a:pathLst>
          </a:custGeom>
          <a:blipFill xmlns:a="http://schemas.openxmlformats.org/drawingml/2006/main">
            <a:blip xmlns:r="http://schemas.openxmlformats.org/officeDocument/2006/relationships" r:embed="Rbd296ba959534156">
              <a:extLst>
                <a:ext uri="{96DAC541-7B7A-43D3-8B79-37D633B846F1}">
                  <asvg:svgBlip xmlns:asvg="http://schemas.microsoft.com/office/drawing/2016/SVG/main" r:embed="Rcdfd39fece4b4180"/>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5B5A2A3A-5F3F-4884-A8CA-2B295A8AC9C2}"/>
              </a:ext>
            </a:extLst>
          </p:cNvPr>
          <p:cNvSpPr>
            <a:spLocks xmlns:a="http://schemas.openxmlformats.org/drawingml/2006/main" noGrp="1"/>
          </p:cNvSpPr>
          <p:nvPr/>
        </p:nvSpPr>
        <p:spPr>
          <a:xfrm xmlns:a="http://schemas.openxmlformats.org/drawingml/2006/main" rot="0" flipH="1" flipV="0">
            <a:off x="9666790" y="3861352"/>
            <a:ext cx="3325202" cy="3219389"/>
          </a:xfrm>
          <a:custGeom xmlns:a="http://schemas.openxmlformats.org/drawingml/2006/main">
            <a:rect l="l" t="t" r="r" b="b"/>
            <a:pathLst>
              <a:path w="3325202" h="3219389">
                <a:moveTo>
                  <a:pt x="3325202" y="0"/>
                </a:moveTo>
                <a:lnTo>
                  <a:pt x="0" y="0"/>
                </a:lnTo>
                <a:lnTo>
                  <a:pt x="0" y="3219389"/>
                </a:lnTo>
                <a:lnTo>
                  <a:pt x="3325202" y="3219389"/>
                </a:lnTo>
                <a:lnTo>
                  <a:pt x="3325202" y="0"/>
                </a:lnTo>
                <a:close/>
              </a:path>
            </a:pathLst>
          </a:custGeom>
          <a:blipFill xmlns:a="http://schemas.openxmlformats.org/drawingml/2006/main">
            <a:blip xmlns:r="http://schemas.openxmlformats.org/officeDocument/2006/relationships" r:embed="Rbd296ba959534156">
              <a:extLst>
                <a:ext uri="{96DAC541-7B7A-43D3-8B79-37D633B846F1}">
                  <asvg:svgBlip xmlns:asvg="http://schemas.microsoft.com/office/drawing/2016/SVG/main" r:embed="Rcdfd39fece4b4180"/>
                </a:ext>
              </a:extLst>
            </a:blip>
            <a:stretch>
              <a:fillRect l="0" t="0" r="0" b="0"/>
            </a:stretch>
          </a:blipFill>
        </p:spPr>
      </p:sp>
      <p:sp>
        <p:nvSpPr>
          <p:cNvPr id="10" name="Freeform 10">
            <a:extLst xmlns:a="http://schemas.openxmlformats.org/drawingml/2006/main">
              <a:ext uri="{FF2B5EF4-FFF2-40B4-BE49-F238E27FC236}">
                <a16:creationId xmlns:a16="http://schemas.microsoft.com/office/drawing/2014/main" id="{6AF80E8E-897A-4759-8A6E-BCEE55614203}"/>
              </a:ext>
            </a:extLst>
          </p:cNvPr>
          <p:cNvSpPr>
            <a:spLocks xmlns:a="http://schemas.openxmlformats.org/drawingml/2006/main" noGrp="1"/>
          </p:cNvSpPr>
          <p:nvPr/>
        </p:nvSpPr>
        <p:spPr>
          <a:xfrm xmlns:a="http://schemas.openxmlformats.org/drawingml/2006/main" rot="0" flipH="1" flipV="0">
            <a:off x="13934098" y="2423795"/>
            <a:ext cx="3325202" cy="3219389"/>
          </a:xfrm>
          <a:custGeom xmlns:a="http://schemas.openxmlformats.org/drawingml/2006/main">
            <a:rect l="l" t="t" r="r" b="b"/>
            <a:pathLst>
              <a:path w="3325202" h="3219389">
                <a:moveTo>
                  <a:pt x="3325202" y="0"/>
                </a:moveTo>
                <a:lnTo>
                  <a:pt x="0" y="0"/>
                </a:lnTo>
                <a:lnTo>
                  <a:pt x="0" y="3219389"/>
                </a:lnTo>
                <a:lnTo>
                  <a:pt x="3325202" y="3219389"/>
                </a:lnTo>
                <a:lnTo>
                  <a:pt x="3325202" y="0"/>
                </a:lnTo>
                <a:close/>
              </a:path>
            </a:pathLst>
          </a:custGeom>
          <a:blipFill xmlns:a="http://schemas.openxmlformats.org/drawingml/2006/main">
            <a:blip xmlns:r="http://schemas.openxmlformats.org/officeDocument/2006/relationships" r:embed="Rbd296ba959534156">
              <a:extLst>
                <a:ext uri="{96DAC541-7B7A-43D3-8B79-37D633B846F1}">
                  <asvg:svgBlip xmlns:asvg="http://schemas.microsoft.com/office/drawing/2016/SVG/main" r:embed="Rcdfd39fece4b4180"/>
                </a:ext>
              </a:extLst>
            </a:blip>
            <a:stretch>
              <a:fillRect l="0" t="0" r="0" b="0"/>
            </a:stretch>
          </a:blipFill>
        </p:spPr>
      </p:sp>
      <p:sp>
        <p:nvSpPr>
          <p:cNvPr id="11" name="Freeform 11">
            <a:extLst xmlns:a="http://schemas.openxmlformats.org/drawingml/2006/main">
              <a:ext uri="{FF2B5EF4-FFF2-40B4-BE49-F238E27FC236}">
                <a16:creationId xmlns:a16="http://schemas.microsoft.com/office/drawing/2014/main" id="{82522D1C-9E8C-45DB-9DF1-E1D365E69780}"/>
              </a:ext>
            </a:extLst>
          </p:cNvPr>
          <p:cNvSpPr>
            <a:spLocks xmlns:a="http://schemas.openxmlformats.org/drawingml/2006/main" noGrp="1"/>
          </p:cNvSpPr>
          <p:nvPr/>
        </p:nvSpPr>
        <p:spPr>
          <a:xfrm xmlns:a="http://schemas.openxmlformats.org/drawingml/2006/main" rot="3163539" flipH="0" flipV="1">
            <a:off x="12610232" y="3080947"/>
            <a:ext cx="882023" cy="2632903"/>
          </a:xfrm>
          <a:custGeom xmlns:a="http://schemas.openxmlformats.org/drawingml/2006/main">
            <a:rect l="l" t="t" r="r" b="b"/>
            <a:pathLst>
              <a:path w="882023" h="2632903">
                <a:moveTo>
                  <a:pt x="0" y="2632903"/>
                </a:moveTo>
                <a:lnTo>
                  <a:pt x="882023" y="2632903"/>
                </a:lnTo>
                <a:lnTo>
                  <a:pt x="882023" y="0"/>
                </a:lnTo>
                <a:lnTo>
                  <a:pt x="0" y="0"/>
                </a:lnTo>
                <a:lnTo>
                  <a:pt x="0" y="2632903"/>
                </a:lnTo>
                <a:close/>
              </a:path>
            </a:pathLst>
          </a:custGeom>
          <a:blipFill xmlns:a="http://schemas.openxmlformats.org/drawingml/2006/main">
            <a:blip xmlns:r="http://schemas.openxmlformats.org/officeDocument/2006/relationships" r:embed="R4ac98923c1144717">
              <a:extLst>
                <a:ext uri="{96DAC541-7B7A-43D3-8B79-37D633B846F1}">
                  <asvg:svgBlip xmlns:asvg="http://schemas.microsoft.com/office/drawing/2016/SVG/main" r:embed="R878c751529c54a3f"/>
                </a:ext>
              </a:extLst>
            </a:blip>
            <a:stretch>
              <a:fillRect l="0" t="0" r="0" b="0"/>
            </a:stretch>
          </a:blipFill>
        </p:spPr>
      </p:sp>
      <p:sp>
        <p:nvSpPr>
          <p:cNvPr id="12" name="Freeform 12">
            <a:extLst xmlns:a="http://schemas.openxmlformats.org/drawingml/2006/main">
              <a:ext uri="{FF2B5EF4-FFF2-40B4-BE49-F238E27FC236}">
                <a16:creationId xmlns:a16="http://schemas.microsoft.com/office/drawing/2014/main" id="{FD9B1CD9-8182-4C1A-ABB0-2FA48FAE7C5A}"/>
              </a:ext>
            </a:extLst>
          </p:cNvPr>
          <p:cNvSpPr>
            <a:spLocks xmlns:a="http://schemas.openxmlformats.org/drawingml/2006/main" noGrp="1"/>
          </p:cNvSpPr>
          <p:nvPr/>
        </p:nvSpPr>
        <p:spPr>
          <a:xfrm xmlns:a="http://schemas.openxmlformats.org/drawingml/2006/main" rot="2060370" flipH="0" flipV="0">
            <a:off x="7623721" y="3328340"/>
            <a:ext cx="3040558" cy="1048992"/>
          </a:xfrm>
          <a:custGeom xmlns:a="http://schemas.openxmlformats.org/drawingml/2006/main">
            <a:rect l="l" t="t" r="r" b="b"/>
            <a:pathLst>
              <a:path w="3040558" h="1048992">
                <a:moveTo>
                  <a:pt x="0" y="0"/>
                </a:moveTo>
                <a:lnTo>
                  <a:pt x="3040558" y="0"/>
                </a:lnTo>
                <a:lnTo>
                  <a:pt x="3040558" y="1048992"/>
                </a:lnTo>
                <a:lnTo>
                  <a:pt x="0" y="1048992"/>
                </a:lnTo>
                <a:lnTo>
                  <a:pt x="0" y="0"/>
                </a:lnTo>
                <a:close/>
              </a:path>
            </a:pathLst>
          </a:custGeom>
          <a:blipFill xmlns:a="http://schemas.openxmlformats.org/drawingml/2006/main">
            <a:blip xmlns:r="http://schemas.openxmlformats.org/officeDocument/2006/relationships" r:embed="R1bf90bb11d1d4ee1">
              <a:extLst>
                <a:ext uri="{96DAC541-7B7A-43D3-8B79-37D633B846F1}">
                  <asvg:svgBlip xmlns:asvg="http://schemas.microsoft.com/office/drawing/2016/SVG/main" r:embed="Ra4f57c9315e34e24"/>
                </a:ext>
              </a:extLst>
            </a:blip>
            <a:stretch>
              <a:fillRect l="0" t="0" r="0" b="0"/>
            </a:stretch>
          </a:blipFill>
        </p:spPr>
      </p:sp>
      <p:sp>
        <p:nvSpPr>
          <p:cNvPr id="13" name="TextBox 13">
            <a:extLst xmlns:a="http://schemas.openxmlformats.org/drawingml/2006/main">
              <a:ext uri="{FF2B5EF4-FFF2-40B4-BE49-F238E27FC236}">
                <a16:creationId xmlns:a16="http://schemas.microsoft.com/office/drawing/2014/main" id="{9B22D0FB-B2A0-4B73-8169-1951D61AC476}"/>
              </a:ext>
            </a:extLst>
          </p:cNvPr>
          <p:cNvSpPr>
            <a:spLocks xmlns:a="http://schemas.openxmlformats.org/drawingml/2006/main" noGrp="1"/>
          </p:cNvSpPr>
          <p:nvPr/>
        </p:nvSpPr>
        <p:spPr>
          <a:xfrm xmlns:a="http://schemas.openxmlformats.org/drawingml/2006/main" rot="0">
            <a:off x="1028700" y="4658428"/>
            <a:ext cx="2461611" cy="140779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779"/>
              </a:lnSpc>
              <a:buNone/>
            </a:pPr>
            <a:r>
              <a:rPr sz="2699" b="1">
                <a:solidFill>
                  <a:srgbClr val="FFFFFF"/>
                </a:solidFill>
                <a:latin typeface="Inter Bold"/>
                <a:ea typeface="Inter Bold"/>
                <a:cs typeface="Inter Bold"/>
              </a:rPr>
              <a:t>1 </a:t>
            </a:r>
          </a:p>
          <a:p xmlns:a="http://schemas.openxmlformats.org/drawingml/2006/main">
            <a:pPr algn="ctr">
              <a:lnSpc>
                <a:spcPts val="3779"/>
              </a:lnSpc>
              <a:spcBef>
                <a:spcPct val="0"/>
              </a:spcBef>
              <a:buNone/>
            </a:pPr>
            <a:r>
              <a:rPr sz="2699" b="1">
                <a:solidFill>
                  <a:srgbClr val="FFFFFF"/>
                </a:solidFill>
                <a:latin typeface="Inter Bold"/>
                <a:ea typeface="Inter Bold"/>
                <a:cs typeface="Inter Bold"/>
              </a:rPr>
              <a:t>Registrar mascota</a:t>
            </a:r>
          </a:p>
        </p:txBody>
      </p:sp>
      <p:sp>
        <p:nvSpPr>
          <p:cNvPr id="14" name="TextBox 14">
            <a:extLst xmlns:a="http://schemas.openxmlformats.org/drawingml/2006/main">
              <a:ext uri="{FF2B5EF4-FFF2-40B4-BE49-F238E27FC236}">
                <a16:creationId xmlns:a16="http://schemas.microsoft.com/office/drawing/2014/main" id="{5BC8E9AB-8F53-45D9-98A4-8CC19688DFEA}"/>
              </a:ext>
            </a:extLst>
          </p:cNvPr>
          <p:cNvSpPr>
            <a:spLocks xmlns:a="http://schemas.openxmlformats.org/drawingml/2006/main" noGrp="1"/>
          </p:cNvSpPr>
          <p:nvPr/>
        </p:nvSpPr>
        <p:spPr>
          <a:xfrm xmlns:a="http://schemas.openxmlformats.org/drawingml/2006/main" rot="0">
            <a:off x="689510" y="339036"/>
            <a:ext cx="15964654" cy="123639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0080"/>
              </a:lnSpc>
              <a:spcBef>
                <a:spcPct val="0"/>
              </a:spcBef>
              <a:buNone/>
            </a:pPr>
            <a:r>
              <a:rPr sz="7200" b="1">
                <a:solidFill>
                  <a:srgbClr val="FFFFFF"/>
                </a:solidFill>
                <a:latin typeface="Bricolage Grotesque Bold"/>
                <a:ea typeface="Bricolage Grotesque Bold"/>
                <a:cs typeface="Bricolage Grotesque Bold"/>
              </a:rPr>
              <a:t>Flujo principal de la aplicación</a:t>
            </a:r>
          </a:p>
        </p:txBody>
      </p:sp>
      <p:sp>
        <p:nvSpPr>
          <p:cNvPr id="15" name="TextBox 15">
            <a:extLst xmlns:a="http://schemas.openxmlformats.org/drawingml/2006/main">
              <a:ext uri="{FF2B5EF4-FFF2-40B4-BE49-F238E27FC236}">
                <a16:creationId xmlns:a16="http://schemas.microsoft.com/office/drawing/2014/main" id="{320116BC-AD53-44D7-89C5-DF8C957595C3}"/>
              </a:ext>
            </a:extLst>
          </p:cNvPr>
          <p:cNvSpPr>
            <a:spLocks xmlns:a="http://schemas.openxmlformats.org/drawingml/2006/main" noGrp="1"/>
          </p:cNvSpPr>
          <p:nvPr/>
        </p:nvSpPr>
        <p:spPr>
          <a:xfrm xmlns:a="http://schemas.openxmlformats.org/drawingml/2006/main" rot="0">
            <a:off x="5609946" y="3133642"/>
            <a:ext cx="2461611" cy="140779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779"/>
              </a:lnSpc>
              <a:buNone/>
            </a:pPr>
            <a:r>
              <a:rPr sz="2699" b="1">
                <a:solidFill>
                  <a:srgbClr val="FFFFFF"/>
                </a:solidFill>
                <a:latin typeface="Inter Bold"/>
                <a:ea typeface="Inter Bold"/>
                <a:cs typeface="Inter Bold"/>
              </a:rPr>
              <a:t>2</a:t>
            </a:r>
          </a:p>
          <a:p xmlns:a="http://schemas.openxmlformats.org/drawingml/2006/main">
            <a:pPr algn="ctr">
              <a:lnSpc>
                <a:spcPts val="3779"/>
              </a:lnSpc>
              <a:buNone/>
            </a:pPr>
            <a:r>
              <a:rPr sz="2699" b="1">
                <a:solidFill>
                  <a:srgbClr val="FFFFFF"/>
                </a:solidFill>
                <a:latin typeface="Inter Bold"/>
                <a:ea typeface="Inter Bold"/>
                <a:cs typeface="Inter Bold"/>
              </a:rPr>
              <a:t>Solicitar </a:t>
            </a:r>
          </a:p>
          <a:p xmlns:a="http://schemas.openxmlformats.org/drawingml/2006/main">
            <a:pPr algn="ctr">
              <a:lnSpc>
                <a:spcPts val="3779"/>
              </a:lnSpc>
              <a:spcBef>
                <a:spcPct val="0"/>
              </a:spcBef>
              <a:buNone/>
            </a:pPr>
            <a:r>
              <a:rPr sz="2699" b="1">
                <a:solidFill>
                  <a:srgbClr val="FFFFFF"/>
                </a:solidFill>
                <a:latin typeface="Inter Bold"/>
                <a:ea typeface="Inter Bold"/>
                <a:cs typeface="Inter Bold"/>
              </a:rPr>
              <a:t>turno</a:t>
            </a:r>
          </a:p>
        </p:txBody>
      </p:sp>
      <p:sp>
        <p:nvSpPr>
          <p:cNvPr id="16" name="TextBox 16">
            <a:extLst xmlns:a="http://schemas.openxmlformats.org/drawingml/2006/main">
              <a:ext uri="{FF2B5EF4-FFF2-40B4-BE49-F238E27FC236}">
                <a16:creationId xmlns:a16="http://schemas.microsoft.com/office/drawing/2014/main" id="{15B1D1A9-93DE-4276-B063-7A2E607AE315}"/>
              </a:ext>
            </a:extLst>
          </p:cNvPr>
          <p:cNvSpPr>
            <a:spLocks xmlns:a="http://schemas.openxmlformats.org/drawingml/2006/main" noGrp="1"/>
          </p:cNvSpPr>
          <p:nvPr/>
        </p:nvSpPr>
        <p:spPr>
          <a:xfrm xmlns:a="http://schemas.openxmlformats.org/drawingml/2006/main" rot="0">
            <a:off x="10098586" y="4915474"/>
            <a:ext cx="2461611" cy="140779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779"/>
              </a:lnSpc>
              <a:buNone/>
            </a:pPr>
            <a:r>
              <a:rPr sz="2699" b="1">
                <a:solidFill>
                  <a:srgbClr val="FFFFFF"/>
                </a:solidFill>
                <a:latin typeface="Inter Bold"/>
                <a:ea typeface="Inter Bold"/>
                <a:cs typeface="Inter Bold"/>
              </a:rPr>
              <a:t>3</a:t>
            </a:r>
          </a:p>
          <a:p xmlns:a="http://schemas.openxmlformats.org/drawingml/2006/main">
            <a:pPr algn="ctr">
              <a:lnSpc>
                <a:spcPts val="3779"/>
              </a:lnSpc>
              <a:buNone/>
            </a:pPr>
            <a:r>
              <a:rPr sz="2699" b="1">
                <a:solidFill>
                  <a:srgbClr val="FFFFFF"/>
                </a:solidFill>
                <a:latin typeface="Inter Bold"/>
                <a:ea typeface="Inter Bold"/>
                <a:cs typeface="Inter Bold"/>
              </a:rPr>
              <a:t>Atender </a:t>
            </a:r>
          </a:p>
          <a:p xmlns:a="http://schemas.openxmlformats.org/drawingml/2006/main">
            <a:pPr algn="ctr">
              <a:lnSpc>
                <a:spcPts val="3779"/>
              </a:lnSpc>
              <a:spcBef>
                <a:spcPct val="0"/>
              </a:spcBef>
              <a:buNone/>
            </a:pPr>
            <a:r>
              <a:rPr sz="2699" b="1">
                <a:solidFill>
                  <a:srgbClr val="FFFFFF"/>
                </a:solidFill>
                <a:latin typeface="Inter Bold"/>
                <a:ea typeface="Inter Bold"/>
                <a:cs typeface="Inter Bold"/>
              </a:rPr>
              <a:t>consulta</a:t>
            </a:r>
          </a:p>
        </p:txBody>
      </p:sp>
      <p:sp>
        <p:nvSpPr>
          <p:cNvPr id="17" name="TextBox 17">
            <a:extLst xmlns:a="http://schemas.openxmlformats.org/drawingml/2006/main">
              <a:ext uri="{FF2B5EF4-FFF2-40B4-BE49-F238E27FC236}">
                <a16:creationId xmlns:a16="http://schemas.microsoft.com/office/drawing/2014/main" id="{859F8E49-33AF-4E07-963C-33670BF2A64A}"/>
              </a:ext>
            </a:extLst>
          </p:cNvPr>
          <p:cNvSpPr>
            <a:spLocks xmlns:a="http://schemas.openxmlformats.org/drawingml/2006/main" noGrp="1"/>
          </p:cNvSpPr>
          <p:nvPr/>
        </p:nvSpPr>
        <p:spPr>
          <a:xfrm xmlns:a="http://schemas.openxmlformats.org/drawingml/2006/main" rot="0">
            <a:off x="14365893" y="3201556"/>
            <a:ext cx="2461611" cy="140779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779"/>
              </a:lnSpc>
              <a:buNone/>
            </a:pPr>
            <a:r>
              <a:rPr sz="2699" b="1">
                <a:solidFill>
                  <a:srgbClr val="FFFFFF"/>
                </a:solidFill>
                <a:latin typeface="Inter Bold"/>
                <a:ea typeface="Inter Bold"/>
                <a:cs typeface="Inter Bold"/>
              </a:rPr>
              <a:t>4</a:t>
            </a:r>
          </a:p>
          <a:p xmlns:a="http://schemas.openxmlformats.org/drawingml/2006/main">
            <a:pPr algn="ctr">
              <a:lnSpc>
                <a:spcPts val="3779"/>
              </a:lnSpc>
              <a:buNone/>
            </a:pPr>
            <a:r>
              <a:rPr sz="2699" b="1">
                <a:solidFill>
                  <a:srgbClr val="FFFFFF"/>
                </a:solidFill>
                <a:latin typeface="Inter Bold"/>
                <a:ea typeface="Inter Bold"/>
                <a:cs typeface="Inter Bold"/>
              </a:rPr>
              <a:t>Actualizar</a:t>
            </a:r>
          </a:p>
          <a:p xmlns:a="http://schemas.openxmlformats.org/drawingml/2006/main">
            <a:pPr algn="ctr">
              <a:lnSpc>
                <a:spcPts val="3779"/>
              </a:lnSpc>
              <a:spcBef>
                <a:spcPct val="0"/>
              </a:spcBef>
              <a:buNone/>
            </a:pPr>
            <a:r>
              <a:rPr sz="2699" b="1">
                <a:solidFill>
                  <a:srgbClr val="FFFFFF"/>
                </a:solidFill>
                <a:latin typeface="Inter Bold"/>
                <a:ea typeface="Inter Bold"/>
                <a:cs typeface="Inter Bold"/>
              </a:rPr>
              <a:t>historial</a:t>
            </a:r>
          </a:p>
        </p:txBody>
      </p:sp>
      <p:sp>
        <p:nvSpPr>
          <p:cNvPr id="18" name="Freeform 18">
            <a:extLst xmlns:a="http://schemas.openxmlformats.org/drawingml/2006/main">
              <a:ext uri="{FF2B5EF4-FFF2-40B4-BE49-F238E27FC236}">
                <a16:creationId xmlns:a16="http://schemas.microsoft.com/office/drawing/2014/main" id="{5E542108-0B34-4C72-8ED7-7CFD684872C4}"/>
              </a:ext>
            </a:extLst>
          </p:cNvPr>
          <p:cNvSpPr>
            <a:spLocks xmlns:a="http://schemas.openxmlformats.org/drawingml/2006/main" noGrp="1"/>
          </p:cNvSpPr>
          <p:nvPr/>
        </p:nvSpPr>
        <p:spPr>
          <a:xfrm xmlns:a="http://schemas.openxmlformats.org/drawingml/2006/main" rot="4190437" flipH="1" flipV="1">
            <a:off x="4332713" y="4515236"/>
            <a:ext cx="738804" cy="2205384"/>
          </a:xfrm>
          <a:custGeom xmlns:a="http://schemas.openxmlformats.org/drawingml/2006/main">
            <a:rect l="l" t="t" r="r" b="b"/>
            <a:pathLst>
              <a:path w="738804" h="2205384">
                <a:moveTo>
                  <a:pt x="738804" y="2205384"/>
                </a:moveTo>
                <a:lnTo>
                  <a:pt x="0" y="2205384"/>
                </a:lnTo>
                <a:lnTo>
                  <a:pt x="0" y="0"/>
                </a:lnTo>
                <a:lnTo>
                  <a:pt x="738804" y="0"/>
                </a:lnTo>
                <a:lnTo>
                  <a:pt x="738804" y="2205384"/>
                </a:lnTo>
                <a:close/>
              </a:path>
            </a:pathLst>
          </a:custGeom>
          <a:blipFill xmlns:a="http://schemas.openxmlformats.org/drawingml/2006/main">
            <a:blip xmlns:r="http://schemas.openxmlformats.org/officeDocument/2006/relationships" r:embed="R4ac98923c1144717">
              <a:extLst>
                <a:ext uri="{96DAC541-7B7A-43D3-8B79-37D633B846F1}">
                  <asvg:svgBlip xmlns:asvg="http://schemas.microsoft.com/office/drawing/2016/SVG/main" r:embed="R878c751529c54a3f"/>
                </a:ext>
              </a:extLst>
            </a:blip>
            <a:stretch>
              <a:fillRect l="0" t="0" r="0" b="0"/>
            </a:stretch>
          </a:blipFill>
        </p:spPr>
      </p:sp>
      <p:sp>
        <p:nvSpPr>
          <p:cNvPr id="19" name="TextBox 19">
            <a:extLst xmlns:a="http://schemas.openxmlformats.org/drawingml/2006/main">
              <a:ext uri="{FF2B5EF4-FFF2-40B4-BE49-F238E27FC236}">
                <a16:creationId xmlns:a16="http://schemas.microsoft.com/office/drawing/2014/main" id="{95D9A0EC-6881-4B13-A4C4-502CEE085EA6}"/>
              </a:ext>
            </a:extLst>
          </p:cNvPr>
          <p:cNvSpPr>
            <a:spLocks xmlns:a="http://schemas.openxmlformats.org/drawingml/2006/main" noGrp="1"/>
          </p:cNvSpPr>
          <p:nvPr/>
        </p:nvSpPr>
        <p:spPr>
          <a:xfrm xmlns:a="http://schemas.openxmlformats.org/drawingml/2006/main" rot="0">
            <a:off x="1028700" y="7861791"/>
            <a:ext cx="7039594" cy="1353104"/>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639"/>
              </a:lnSpc>
              <a:spcBef>
                <a:spcPct val="0"/>
              </a:spcBef>
              <a:buNone/>
            </a:pPr>
            <a:r>
              <a:rPr sz="2599">
                <a:solidFill>
                  <a:srgbClr val="FFFFFF"/>
                </a:solidFill>
                <a:latin typeface="Inter"/>
                <a:ea typeface="Inter"/>
                <a:cs typeface="Inter"/>
              </a:rPr>
              <a:t>El sistema debe evitar doble reserva de horarios y mantener la información médica consistente.</a:t>
            </a:r>
          </a:p>
        </p:txBody>
      </p:sp>
      <p:sp>
        <p:nvSpPr>
          <p:cNvPr id="20" name="TextBox 20">
            <a:extLst xmlns:a="http://schemas.openxmlformats.org/drawingml/2006/main">
              <a:ext uri="{FF2B5EF4-FFF2-40B4-BE49-F238E27FC236}">
                <a16:creationId xmlns:a16="http://schemas.microsoft.com/office/drawing/2014/main" id="{EFFD19AF-DF75-4699-8512-ACBFABC90827}"/>
              </a:ext>
            </a:extLst>
          </p:cNvPr>
          <p:cNvSpPr>
            <a:spLocks xmlns:a="http://schemas.openxmlformats.org/drawingml/2006/main" noGrp="1"/>
          </p:cNvSpPr>
          <p:nvPr/>
        </p:nvSpPr>
        <p:spPr>
          <a:xfrm xmlns:a="http://schemas.openxmlformats.org/drawingml/2006/main" rot="0">
            <a:off x="10219706" y="7861791"/>
            <a:ext cx="7039594" cy="1353104"/>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639"/>
              </a:lnSpc>
              <a:spcBef>
                <a:spcPct val="0"/>
              </a:spcBef>
              <a:buNone/>
            </a:pPr>
            <a:r>
              <a:rPr sz="2599">
                <a:solidFill>
                  <a:srgbClr val="FFFFFF"/>
                </a:solidFill>
                <a:latin typeface="Inter"/>
                <a:ea typeface="Inter"/>
                <a:cs typeface="Inter"/>
              </a:rPr>
              <a:t>La historia clínica queda disponible para futuras consultas del veterinario y del cliente.</a:t>
            </a:r>
          </a:p>
        </p:txBody>
      </p:sp>
    </p:spTree>
    <p:extLst>
      <p:ext uri="{BB962C8B-B14F-4D97-AF65-F5344CB8AC3E}">
        <p14:creationId xmlns:p14="http://schemas.microsoft.com/office/powerpoint/2010/main" val="135430460"/>
      </p:ext>
    </p:extLst>
  </p:cSld>
</p:sld>
</file>

<file path=ppt/slides/slide10.xml><?xml version="1.0" encoding="utf-8"?>
<p:sld xmlns:p="http://schemas.openxmlformats.org/presentationml/2006/main">
  <p:cSld>
    <p:bg>
      <p:bgPr>
        <a:solidFill xmlns:a="http://schemas.openxmlformats.org/drawingml/2006/main">
          <a:srgbClr val="022135"/>
        </a:solidFill>
      </p:bgPr>
    </p:bg>
    <p:spTree>
      <p:nvGrpSpPr>
        <p:cNvPr id="1" name=""/>
        <p:cNvGrpSpPr/>
        <p:nvPr/>
      </p:nvGrpSpPr>
      <p:grpSpPr>
        <a:xfrm xmlns:a="http://schemas.openxmlformats.org/drawingml/2006/main"/>
      </p:grpSpPr>
      <p:sp>
        <p:nvSpPr>
          <p:cNvPr id="3" name="AutoShape 3">
            <a:extLst xmlns:a="http://schemas.openxmlformats.org/drawingml/2006/main">
              <a:ext uri="{FF2B5EF4-FFF2-40B4-BE49-F238E27FC236}">
                <a16:creationId xmlns:a16="http://schemas.microsoft.com/office/drawing/2014/main" id="{87638D65-FDE4-4447-AAC1-8898A2B93A95}"/>
              </a:ext>
            </a:extLst>
          </p:cNvPr>
          <p:cNvSpPr>
            <a:spLocks xmlns:a="http://schemas.openxmlformats.org/drawingml/2006/main" noGrp="1"/>
          </p:cNvSpPr>
          <p:nvPr/>
        </p:nvSpPr>
        <p:spPr>
          <a:xfrm xmlns:a="http://schemas.openxmlformats.org/drawingml/2006/main" rot="0" flipH="0" flipV="0">
            <a:off x="16827670" y="10477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4" name="AutoShape 4">
            <a:extLst xmlns:a="http://schemas.openxmlformats.org/drawingml/2006/main">
              <a:ext uri="{FF2B5EF4-FFF2-40B4-BE49-F238E27FC236}">
                <a16:creationId xmlns:a16="http://schemas.microsoft.com/office/drawing/2014/main" id="{F9C8CC03-6EE2-40B4-860D-95E564590373}"/>
              </a:ext>
            </a:extLst>
          </p:cNvPr>
          <p:cNvSpPr>
            <a:spLocks xmlns:a="http://schemas.openxmlformats.org/drawingml/2006/main" noGrp="1"/>
          </p:cNvSpPr>
          <p:nvPr/>
        </p:nvSpPr>
        <p:spPr>
          <a:xfrm xmlns:a="http://schemas.openxmlformats.org/drawingml/2006/main" rot="0" flipH="0" flipV="0">
            <a:off x="16827670" y="12001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5" name="AutoShape 5">
            <a:extLst xmlns:a="http://schemas.openxmlformats.org/drawingml/2006/main">
              <a:ext uri="{FF2B5EF4-FFF2-40B4-BE49-F238E27FC236}">
                <a16:creationId xmlns:a16="http://schemas.microsoft.com/office/drawing/2014/main" id="{717E86AA-E420-4DEA-9421-B3A544447C79}"/>
              </a:ext>
            </a:extLst>
          </p:cNvPr>
          <p:cNvSpPr>
            <a:spLocks xmlns:a="http://schemas.openxmlformats.org/drawingml/2006/main" noGrp="1"/>
          </p:cNvSpPr>
          <p:nvPr/>
        </p:nvSpPr>
        <p:spPr>
          <a:xfrm xmlns:a="http://schemas.openxmlformats.org/drawingml/2006/main" rot="0" flipH="0" flipV="0">
            <a:off x="16827670" y="13525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6" name="Freeform 6">
            <a:extLst xmlns:a="http://schemas.openxmlformats.org/drawingml/2006/main">
              <a:ext uri="{FF2B5EF4-FFF2-40B4-BE49-F238E27FC236}">
                <a16:creationId xmlns:a16="http://schemas.microsoft.com/office/drawing/2014/main" id="{D7351AEC-E045-44E1-81C8-C570EE01EB07}"/>
              </a:ext>
            </a:extLst>
          </p:cNvPr>
          <p:cNvSpPr>
            <a:spLocks xmlns:a="http://schemas.openxmlformats.org/drawingml/2006/main" noGrp="1"/>
          </p:cNvSpPr>
          <p:nvPr/>
        </p:nvSpPr>
        <p:spPr>
          <a:xfrm xmlns:a="http://schemas.openxmlformats.org/drawingml/2006/main" rot="0" flipH="1" flipV="0">
            <a:off x="689510" y="3861352"/>
            <a:ext cx="3325202" cy="3219389"/>
          </a:xfrm>
          <a:custGeom xmlns:a="http://schemas.openxmlformats.org/drawingml/2006/main">
            <a:rect l="l" t="t" r="r" b="b"/>
            <a:pathLst>
              <a:path w="3325202" h="3219389">
                <a:moveTo>
                  <a:pt x="3325202" y="0"/>
                </a:moveTo>
                <a:lnTo>
                  <a:pt x="0" y="0"/>
                </a:lnTo>
                <a:lnTo>
                  <a:pt x="0" y="3219389"/>
                </a:lnTo>
                <a:lnTo>
                  <a:pt x="3325202" y="3219389"/>
                </a:lnTo>
                <a:lnTo>
                  <a:pt x="3325202" y="0"/>
                </a:lnTo>
                <a:close/>
              </a:path>
            </a:pathLst>
          </a:custGeom>
          <a:blipFill xmlns:a="http://schemas.openxmlformats.org/drawingml/2006/main">
            <a:blip xmlns:r="http://schemas.openxmlformats.org/officeDocument/2006/relationships" r:embed="R6f21c821fd804dd7">
              <a:extLst>
                <a:ext uri="{96DAC541-7B7A-43D3-8B79-37D633B846F1}">
                  <asvg:svgBlip xmlns:asvg="http://schemas.microsoft.com/office/drawing/2016/SVG/main" r:embed="R072463bafa314ba4"/>
                </a:ext>
              </a:extLst>
            </a:blip>
            <a:stretch>
              <a:fillRect l="0" t="0" r="0" b="0"/>
            </a:stretch>
          </a:blipFill>
        </p:spPr>
      </p:sp>
      <p:sp>
        <p:nvSpPr>
          <p:cNvPr id="7" name="TextBox 7">
            <a:extLst xmlns:a="http://schemas.openxmlformats.org/drawingml/2006/main">
              <a:ext uri="{FF2B5EF4-FFF2-40B4-BE49-F238E27FC236}">
                <a16:creationId xmlns:a16="http://schemas.microsoft.com/office/drawing/2014/main" id="{4B11311B-D0AF-4EF5-B829-52931EB06C0B}"/>
              </a:ext>
            </a:extLst>
          </p:cNvPr>
          <p:cNvSpPr>
            <a:spLocks xmlns:a="http://schemas.openxmlformats.org/drawingml/2006/main" noGrp="1"/>
          </p:cNvSpPr>
          <p:nvPr/>
        </p:nvSpPr>
        <p:spPr>
          <a:xfrm xmlns:a="http://schemas.openxmlformats.org/drawingml/2006/main" rot="0">
            <a:off x="689510" y="1527810"/>
            <a:ext cx="15964654" cy="895931"/>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639"/>
              </a:lnSpc>
              <a:buNone/>
            </a:pPr>
            <a:r>
              <a:rPr sz="2599">
                <a:solidFill>
                  <a:srgbClr val="FFFFFF"/>
                </a:solidFill>
                <a:latin typeface="Inter"/>
                <a:ea typeface="Inter"/>
                <a:cs typeface="Inter"/>
              </a:rPr>
              <a:t>El valor del sistema aparece cuando el turno y el historial médico quedan conectados.</a:t>
            </a:r>
          </a:p>
          <a:p xmlns:a="http://schemas.openxmlformats.org/drawingml/2006/main">
            <a:pPr algn="ctr">
              <a:lnSpc>
                <a:spcPts val="3639"/>
              </a:lnSpc>
              <a:spcBef>
                <a:spcPct val="0"/>
              </a:spcBef>
              <a:buNone/>
            </a:pPr>
          </a:p>
        </p:txBody>
      </p:sp>
      <p:sp>
        <p:nvSpPr>
          <p:cNvPr id="8" name="Freeform 8">
            <a:extLst xmlns:a="http://schemas.openxmlformats.org/drawingml/2006/main">
              <a:ext uri="{FF2B5EF4-FFF2-40B4-BE49-F238E27FC236}">
                <a16:creationId xmlns:a16="http://schemas.microsoft.com/office/drawing/2014/main" id="{10B439F8-443A-4502-BADD-0EED808B9FEB}"/>
              </a:ext>
            </a:extLst>
          </p:cNvPr>
          <p:cNvSpPr>
            <a:spLocks xmlns:a="http://schemas.openxmlformats.org/drawingml/2006/main" noGrp="1"/>
          </p:cNvSpPr>
          <p:nvPr/>
        </p:nvSpPr>
        <p:spPr>
          <a:xfrm xmlns:a="http://schemas.openxmlformats.org/drawingml/2006/main" rot="0" flipH="1" flipV="0">
            <a:off x="5178150" y="2319572"/>
            <a:ext cx="3325202" cy="3219389"/>
          </a:xfrm>
          <a:custGeom xmlns:a="http://schemas.openxmlformats.org/drawingml/2006/main">
            <a:rect l="l" t="t" r="r" b="b"/>
            <a:pathLst>
              <a:path w="3325202" h="3219389">
                <a:moveTo>
                  <a:pt x="3325202" y="0"/>
                </a:moveTo>
                <a:lnTo>
                  <a:pt x="0" y="0"/>
                </a:lnTo>
                <a:lnTo>
                  <a:pt x="0" y="3219388"/>
                </a:lnTo>
                <a:lnTo>
                  <a:pt x="3325202" y="3219388"/>
                </a:lnTo>
                <a:lnTo>
                  <a:pt x="3325202" y="0"/>
                </a:lnTo>
                <a:close/>
              </a:path>
            </a:pathLst>
          </a:custGeom>
          <a:blipFill xmlns:a="http://schemas.openxmlformats.org/drawingml/2006/main">
            <a:blip xmlns:r="http://schemas.openxmlformats.org/officeDocument/2006/relationships" r:embed="R6f21c821fd804dd7">
              <a:extLst>
                <a:ext uri="{96DAC541-7B7A-43D3-8B79-37D633B846F1}">
                  <asvg:svgBlip xmlns:asvg="http://schemas.microsoft.com/office/drawing/2016/SVG/main" r:embed="R072463bafa314ba4"/>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5B5A2A3A-5F3F-4884-A8CA-2B295A8AC9C2}"/>
              </a:ext>
            </a:extLst>
          </p:cNvPr>
          <p:cNvSpPr>
            <a:spLocks xmlns:a="http://schemas.openxmlformats.org/drawingml/2006/main" noGrp="1"/>
          </p:cNvSpPr>
          <p:nvPr/>
        </p:nvSpPr>
        <p:spPr>
          <a:xfrm xmlns:a="http://schemas.openxmlformats.org/drawingml/2006/main" rot="0" flipH="1" flipV="0">
            <a:off x="9666790" y="3861352"/>
            <a:ext cx="3325202" cy="3219389"/>
          </a:xfrm>
          <a:custGeom xmlns:a="http://schemas.openxmlformats.org/drawingml/2006/main">
            <a:rect l="l" t="t" r="r" b="b"/>
            <a:pathLst>
              <a:path w="3325202" h="3219389">
                <a:moveTo>
                  <a:pt x="3325202" y="0"/>
                </a:moveTo>
                <a:lnTo>
                  <a:pt x="0" y="0"/>
                </a:lnTo>
                <a:lnTo>
                  <a:pt x="0" y="3219389"/>
                </a:lnTo>
                <a:lnTo>
                  <a:pt x="3325202" y="3219389"/>
                </a:lnTo>
                <a:lnTo>
                  <a:pt x="3325202" y="0"/>
                </a:lnTo>
                <a:close/>
              </a:path>
            </a:pathLst>
          </a:custGeom>
          <a:blipFill xmlns:a="http://schemas.openxmlformats.org/drawingml/2006/main">
            <a:blip xmlns:r="http://schemas.openxmlformats.org/officeDocument/2006/relationships" r:embed="R6f21c821fd804dd7">
              <a:extLst>
                <a:ext uri="{96DAC541-7B7A-43D3-8B79-37D633B846F1}">
                  <asvg:svgBlip xmlns:asvg="http://schemas.microsoft.com/office/drawing/2016/SVG/main" r:embed="R072463bafa314ba4"/>
                </a:ext>
              </a:extLst>
            </a:blip>
            <a:stretch>
              <a:fillRect l="0" t="0" r="0" b="0"/>
            </a:stretch>
          </a:blipFill>
        </p:spPr>
      </p:sp>
      <p:sp>
        <p:nvSpPr>
          <p:cNvPr id="10" name="Freeform 10">
            <a:extLst xmlns:a="http://schemas.openxmlformats.org/drawingml/2006/main">
              <a:ext uri="{FF2B5EF4-FFF2-40B4-BE49-F238E27FC236}">
                <a16:creationId xmlns:a16="http://schemas.microsoft.com/office/drawing/2014/main" id="{6AF80E8E-897A-4759-8A6E-BCEE55614203}"/>
              </a:ext>
            </a:extLst>
          </p:cNvPr>
          <p:cNvSpPr>
            <a:spLocks xmlns:a="http://schemas.openxmlformats.org/drawingml/2006/main" noGrp="1"/>
          </p:cNvSpPr>
          <p:nvPr/>
        </p:nvSpPr>
        <p:spPr>
          <a:xfrm xmlns:a="http://schemas.openxmlformats.org/drawingml/2006/main" rot="0" flipH="1" flipV="0">
            <a:off x="13934098" y="2423795"/>
            <a:ext cx="3325202" cy="3219389"/>
          </a:xfrm>
          <a:custGeom xmlns:a="http://schemas.openxmlformats.org/drawingml/2006/main">
            <a:rect l="l" t="t" r="r" b="b"/>
            <a:pathLst>
              <a:path w="3325202" h="3219389">
                <a:moveTo>
                  <a:pt x="3325202" y="0"/>
                </a:moveTo>
                <a:lnTo>
                  <a:pt x="0" y="0"/>
                </a:lnTo>
                <a:lnTo>
                  <a:pt x="0" y="3219389"/>
                </a:lnTo>
                <a:lnTo>
                  <a:pt x="3325202" y="3219389"/>
                </a:lnTo>
                <a:lnTo>
                  <a:pt x="3325202" y="0"/>
                </a:lnTo>
                <a:close/>
              </a:path>
            </a:pathLst>
          </a:custGeom>
          <a:blipFill xmlns:a="http://schemas.openxmlformats.org/drawingml/2006/main">
            <a:blip xmlns:r="http://schemas.openxmlformats.org/officeDocument/2006/relationships" r:embed="R6f21c821fd804dd7">
              <a:extLst>
                <a:ext uri="{96DAC541-7B7A-43D3-8B79-37D633B846F1}">
                  <asvg:svgBlip xmlns:asvg="http://schemas.microsoft.com/office/drawing/2016/SVG/main" r:embed="R072463bafa314ba4"/>
                </a:ext>
              </a:extLst>
            </a:blip>
            <a:stretch>
              <a:fillRect l="0" t="0" r="0" b="0"/>
            </a:stretch>
          </a:blipFill>
        </p:spPr>
      </p:sp>
      <p:sp>
        <p:nvSpPr>
          <p:cNvPr id="11" name="Freeform 11">
            <a:extLst xmlns:a="http://schemas.openxmlformats.org/drawingml/2006/main">
              <a:ext uri="{FF2B5EF4-FFF2-40B4-BE49-F238E27FC236}">
                <a16:creationId xmlns:a16="http://schemas.microsoft.com/office/drawing/2014/main" id="{82522D1C-9E8C-45DB-9DF1-E1D365E69780}"/>
              </a:ext>
            </a:extLst>
          </p:cNvPr>
          <p:cNvSpPr>
            <a:spLocks xmlns:a="http://schemas.openxmlformats.org/drawingml/2006/main" noGrp="1"/>
          </p:cNvSpPr>
          <p:nvPr/>
        </p:nvSpPr>
        <p:spPr>
          <a:xfrm xmlns:a="http://schemas.openxmlformats.org/drawingml/2006/main" rot="3163539" flipH="0" flipV="1">
            <a:off x="12610232" y="3080947"/>
            <a:ext cx="882023" cy="2632903"/>
          </a:xfrm>
          <a:custGeom xmlns:a="http://schemas.openxmlformats.org/drawingml/2006/main">
            <a:rect l="l" t="t" r="r" b="b"/>
            <a:pathLst>
              <a:path w="882023" h="2632903">
                <a:moveTo>
                  <a:pt x="0" y="2632903"/>
                </a:moveTo>
                <a:lnTo>
                  <a:pt x="882023" y="2632903"/>
                </a:lnTo>
                <a:lnTo>
                  <a:pt x="882023" y="0"/>
                </a:lnTo>
                <a:lnTo>
                  <a:pt x="0" y="0"/>
                </a:lnTo>
                <a:lnTo>
                  <a:pt x="0" y="2632903"/>
                </a:lnTo>
                <a:close/>
              </a:path>
            </a:pathLst>
          </a:custGeom>
          <a:blipFill xmlns:a="http://schemas.openxmlformats.org/drawingml/2006/main">
            <a:blip xmlns:r="http://schemas.openxmlformats.org/officeDocument/2006/relationships" r:embed="R483fd9b4fcc24cd3">
              <a:extLst>
                <a:ext uri="{96DAC541-7B7A-43D3-8B79-37D633B846F1}">
                  <asvg:svgBlip xmlns:asvg="http://schemas.microsoft.com/office/drawing/2016/SVG/main" r:embed="R2a4e19fa9e4d4502"/>
                </a:ext>
              </a:extLst>
            </a:blip>
            <a:stretch>
              <a:fillRect l="0" t="0" r="0" b="0"/>
            </a:stretch>
          </a:blipFill>
        </p:spPr>
      </p:sp>
      <p:sp>
        <p:nvSpPr>
          <p:cNvPr id="12" name="Freeform 12">
            <a:extLst xmlns:a="http://schemas.openxmlformats.org/drawingml/2006/main">
              <a:ext uri="{FF2B5EF4-FFF2-40B4-BE49-F238E27FC236}">
                <a16:creationId xmlns:a16="http://schemas.microsoft.com/office/drawing/2014/main" id="{FD9B1CD9-8182-4C1A-ABB0-2FA48FAE7C5A}"/>
              </a:ext>
            </a:extLst>
          </p:cNvPr>
          <p:cNvSpPr>
            <a:spLocks xmlns:a="http://schemas.openxmlformats.org/drawingml/2006/main" noGrp="1"/>
          </p:cNvSpPr>
          <p:nvPr/>
        </p:nvSpPr>
        <p:spPr>
          <a:xfrm xmlns:a="http://schemas.openxmlformats.org/drawingml/2006/main" rot="2060370" flipH="0" flipV="0">
            <a:off x="7623721" y="3328340"/>
            <a:ext cx="3040558" cy="1048992"/>
          </a:xfrm>
          <a:custGeom xmlns:a="http://schemas.openxmlformats.org/drawingml/2006/main">
            <a:rect l="l" t="t" r="r" b="b"/>
            <a:pathLst>
              <a:path w="3040558" h="1048992">
                <a:moveTo>
                  <a:pt x="0" y="0"/>
                </a:moveTo>
                <a:lnTo>
                  <a:pt x="3040558" y="0"/>
                </a:lnTo>
                <a:lnTo>
                  <a:pt x="3040558" y="1048992"/>
                </a:lnTo>
                <a:lnTo>
                  <a:pt x="0" y="1048992"/>
                </a:lnTo>
                <a:lnTo>
                  <a:pt x="0" y="0"/>
                </a:lnTo>
                <a:close/>
              </a:path>
            </a:pathLst>
          </a:custGeom>
          <a:blipFill xmlns:a="http://schemas.openxmlformats.org/drawingml/2006/main">
            <a:blip xmlns:r="http://schemas.openxmlformats.org/officeDocument/2006/relationships" r:embed="R49235cf16d094695">
              <a:extLst>
                <a:ext uri="{96DAC541-7B7A-43D3-8B79-37D633B846F1}">
                  <asvg:svgBlip xmlns:asvg="http://schemas.microsoft.com/office/drawing/2016/SVG/main" r:embed="R2d68c99eedbb443f"/>
                </a:ext>
              </a:extLst>
            </a:blip>
            <a:stretch>
              <a:fillRect l="0" t="0" r="0" b="0"/>
            </a:stretch>
          </a:blipFill>
        </p:spPr>
      </p:sp>
      <p:sp>
        <p:nvSpPr>
          <p:cNvPr id="13" name="TextBox 13">
            <a:extLst xmlns:a="http://schemas.openxmlformats.org/drawingml/2006/main">
              <a:ext uri="{FF2B5EF4-FFF2-40B4-BE49-F238E27FC236}">
                <a16:creationId xmlns:a16="http://schemas.microsoft.com/office/drawing/2014/main" id="{9B22D0FB-B2A0-4B73-8169-1951D61AC476}"/>
              </a:ext>
            </a:extLst>
          </p:cNvPr>
          <p:cNvSpPr>
            <a:spLocks xmlns:a="http://schemas.openxmlformats.org/drawingml/2006/main" noGrp="1"/>
          </p:cNvSpPr>
          <p:nvPr/>
        </p:nvSpPr>
        <p:spPr>
          <a:xfrm xmlns:a="http://schemas.openxmlformats.org/drawingml/2006/main" rot="0">
            <a:off x="1028700" y="4658428"/>
            <a:ext cx="2461611" cy="140779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779"/>
              </a:lnSpc>
              <a:buNone/>
            </a:pPr>
            <a:r>
              <a:rPr sz="2699" b="1">
                <a:solidFill>
                  <a:srgbClr val="FFFFFF"/>
                </a:solidFill>
                <a:latin typeface="Inter Bold"/>
                <a:ea typeface="Inter Bold"/>
                <a:cs typeface="Inter Bold"/>
              </a:rPr>
              <a:t>1 </a:t>
            </a:r>
          </a:p>
          <a:p xmlns:a="http://schemas.openxmlformats.org/drawingml/2006/main">
            <a:pPr algn="ctr">
              <a:lnSpc>
                <a:spcPts val="3779"/>
              </a:lnSpc>
              <a:spcBef>
                <a:spcPct val="0"/>
              </a:spcBef>
              <a:buNone/>
            </a:pPr>
            <a:r>
              <a:rPr sz="2699" b="1">
                <a:solidFill>
                  <a:srgbClr val="FFFFFF"/>
                </a:solidFill>
                <a:latin typeface="Inter Bold"/>
                <a:ea typeface="Inter Bold"/>
                <a:cs typeface="Inter Bold"/>
              </a:rPr>
              <a:t>Registrar mascota</a:t>
            </a:r>
          </a:p>
        </p:txBody>
      </p:sp>
      <p:sp>
        <p:nvSpPr>
          <p:cNvPr id="14" name="TextBox 14">
            <a:extLst xmlns:a="http://schemas.openxmlformats.org/drawingml/2006/main">
              <a:ext uri="{FF2B5EF4-FFF2-40B4-BE49-F238E27FC236}">
                <a16:creationId xmlns:a16="http://schemas.microsoft.com/office/drawing/2014/main" id="{5BC8E9AB-8F53-45D9-98A4-8CC19688DFEA}"/>
              </a:ext>
            </a:extLst>
          </p:cNvPr>
          <p:cNvSpPr>
            <a:spLocks xmlns:a="http://schemas.openxmlformats.org/drawingml/2006/main" noGrp="1"/>
          </p:cNvSpPr>
          <p:nvPr/>
        </p:nvSpPr>
        <p:spPr>
          <a:xfrm xmlns:a="http://schemas.openxmlformats.org/drawingml/2006/main" rot="0">
            <a:off x="689510" y="339036"/>
            <a:ext cx="15964654" cy="123639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0080"/>
              </a:lnSpc>
              <a:spcBef>
                <a:spcPct val="0"/>
              </a:spcBef>
              <a:buNone/>
            </a:pPr>
            <a:r>
              <a:rPr sz="7200" b="1">
                <a:solidFill>
                  <a:srgbClr val="FFFFFF"/>
                </a:solidFill>
                <a:latin typeface="Bricolage Grotesque Bold"/>
                <a:ea typeface="Bricolage Grotesque Bold"/>
                <a:cs typeface="Bricolage Grotesque Bold"/>
              </a:rPr>
              <a:t>Flujo principal de la aplicación</a:t>
            </a:r>
          </a:p>
        </p:txBody>
      </p:sp>
      <p:sp>
        <p:nvSpPr>
          <p:cNvPr id="15" name="TextBox 15">
            <a:extLst xmlns:a="http://schemas.openxmlformats.org/drawingml/2006/main">
              <a:ext uri="{FF2B5EF4-FFF2-40B4-BE49-F238E27FC236}">
                <a16:creationId xmlns:a16="http://schemas.microsoft.com/office/drawing/2014/main" id="{320116BC-AD53-44D7-89C5-DF8C957595C3}"/>
              </a:ext>
            </a:extLst>
          </p:cNvPr>
          <p:cNvSpPr>
            <a:spLocks xmlns:a="http://schemas.openxmlformats.org/drawingml/2006/main" noGrp="1"/>
          </p:cNvSpPr>
          <p:nvPr/>
        </p:nvSpPr>
        <p:spPr>
          <a:xfrm xmlns:a="http://schemas.openxmlformats.org/drawingml/2006/main" rot="0">
            <a:off x="5609946" y="3133642"/>
            <a:ext cx="2461611" cy="140779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779"/>
              </a:lnSpc>
              <a:buNone/>
            </a:pPr>
            <a:r>
              <a:rPr sz="2699" b="1">
                <a:solidFill>
                  <a:srgbClr val="FFFFFF"/>
                </a:solidFill>
                <a:latin typeface="Inter Bold"/>
                <a:ea typeface="Inter Bold"/>
                <a:cs typeface="Inter Bold"/>
              </a:rPr>
              <a:t>2</a:t>
            </a:r>
          </a:p>
          <a:p xmlns:a="http://schemas.openxmlformats.org/drawingml/2006/main">
            <a:pPr algn="ctr">
              <a:lnSpc>
                <a:spcPts val="3779"/>
              </a:lnSpc>
              <a:buNone/>
            </a:pPr>
            <a:r>
              <a:rPr sz="2699" b="1">
                <a:solidFill>
                  <a:srgbClr val="FFFFFF"/>
                </a:solidFill>
                <a:latin typeface="Inter Bold"/>
                <a:ea typeface="Inter Bold"/>
                <a:cs typeface="Inter Bold"/>
              </a:rPr>
              <a:t>Solicitar </a:t>
            </a:r>
          </a:p>
          <a:p xmlns:a="http://schemas.openxmlformats.org/drawingml/2006/main">
            <a:pPr algn="ctr">
              <a:lnSpc>
                <a:spcPts val="3779"/>
              </a:lnSpc>
              <a:spcBef>
                <a:spcPct val="0"/>
              </a:spcBef>
              <a:buNone/>
            </a:pPr>
            <a:r>
              <a:rPr sz="2699" b="1">
                <a:solidFill>
                  <a:srgbClr val="FFFFFF"/>
                </a:solidFill>
                <a:latin typeface="Inter Bold"/>
                <a:ea typeface="Inter Bold"/>
                <a:cs typeface="Inter Bold"/>
              </a:rPr>
              <a:t>turno</a:t>
            </a:r>
          </a:p>
        </p:txBody>
      </p:sp>
      <p:sp>
        <p:nvSpPr>
          <p:cNvPr id="16" name="TextBox 16">
            <a:extLst xmlns:a="http://schemas.openxmlformats.org/drawingml/2006/main">
              <a:ext uri="{FF2B5EF4-FFF2-40B4-BE49-F238E27FC236}">
                <a16:creationId xmlns:a16="http://schemas.microsoft.com/office/drawing/2014/main" id="{15B1D1A9-93DE-4276-B063-7A2E607AE315}"/>
              </a:ext>
            </a:extLst>
          </p:cNvPr>
          <p:cNvSpPr>
            <a:spLocks xmlns:a="http://schemas.openxmlformats.org/drawingml/2006/main" noGrp="1"/>
          </p:cNvSpPr>
          <p:nvPr/>
        </p:nvSpPr>
        <p:spPr>
          <a:xfrm xmlns:a="http://schemas.openxmlformats.org/drawingml/2006/main" rot="0">
            <a:off x="10098586" y="4915474"/>
            <a:ext cx="2461611" cy="140779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779"/>
              </a:lnSpc>
              <a:buNone/>
            </a:pPr>
            <a:r>
              <a:rPr sz="2699" b="1">
                <a:solidFill>
                  <a:srgbClr val="FFFFFF"/>
                </a:solidFill>
                <a:latin typeface="Inter Bold"/>
                <a:ea typeface="Inter Bold"/>
                <a:cs typeface="Inter Bold"/>
              </a:rPr>
              <a:t>3</a:t>
            </a:r>
          </a:p>
          <a:p xmlns:a="http://schemas.openxmlformats.org/drawingml/2006/main">
            <a:pPr algn="ctr">
              <a:lnSpc>
                <a:spcPts val="3779"/>
              </a:lnSpc>
              <a:buNone/>
            </a:pPr>
            <a:r>
              <a:rPr sz="2699" b="1">
                <a:solidFill>
                  <a:srgbClr val="FFFFFF"/>
                </a:solidFill>
                <a:latin typeface="Inter Bold"/>
                <a:ea typeface="Inter Bold"/>
                <a:cs typeface="Inter Bold"/>
              </a:rPr>
              <a:t>Atender </a:t>
            </a:r>
          </a:p>
          <a:p xmlns:a="http://schemas.openxmlformats.org/drawingml/2006/main">
            <a:pPr algn="ctr">
              <a:lnSpc>
                <a:spcPts val="3779"/>
              </a:lnSpc>
              <a:spcBef>
                <a:spcPct val="0"/>
              </a:spcBef>
              <a:buNone/>
            </a:pPr>
            <a:r>
              <a:rPr sz="2699" b="1">
                <a:solidFill>
                  <a:srgbClr val="FFFFFF"/>
                </a:solidFill>
                <a:latin typeface="Inter Bold"/>
                <a:ea typeface="Inter Bold"/>
                <a:cs typeface="Inter Bold"/>
              </a:rPr>
              <a:t>consulta</a:t>
            </a:r>
          </a:p>
        </p:txBody>
      </p:sp>
      <p:sp>
        <p:nvSpPr>
          <p:cNvPr id="17" name="TextBox 17">
            <a:extLst xmlns:a="http://schemas.openxmlformats.org/drawingml/2006/main">
              <a:ext uri="{FF2B5EF4-FFF2-40B4-BE49-F238E27FC236}">
                <a16:creationId xmlns:a16="http://schemas.microsoft.com/office/drawing/2014/main" id="{859F8E49-33AF-4E07-963C-33670BF2A64A}"/>
              </a:ext>
            </a:extLst>
          </p:cNvPr>
          <p:cNvSpPr>
            <a:spLocks xmlns:a="http://schemas.openxmlformats.org/drawingml/2006/main" noGrp="1"/>
          </p:cNvSpPr>
          <p:nvPr/>
        </p:nvSpPr>
        <p:spPr>
          <a:xfrm xmlns:a="http://schemas.openxmlformats.org/drawingml/2006/main" rot="0">
            <a:off x="14365893" y="3201556"/>
            <a:ext cx="2461611" cy="140779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779"/>
              </a:lnSpc>
              <a:buNone/>
            </a:pPr>
            <a:r>
              <a:rPr sz="2699" b="1">
                <a:solidFill>
                  <a:srgbClr val="FFFFFF"/>
                </a:solidFill>
                <a:latin typeface="Inter Bold"/>
                <a:ea typeface="Inter Bold"/>
                <a:cs typeface="Inter Bold"/>
              </a:rPr>
              <a:t>4</a:t>
            </a:r>
          </a:p>
          <a:p xmlns:a="http://schemas.openxmlformats.org/drawingml/2006/main">
            <a:pPr algn="ctr">
              <a:lnSpc>
                <a:spcPts val="3779"/>
              </a:lnSpc>
              <a:buNone/>
            </a:pPr>
            <a:r>
              <a:rPr sz="2699" b="1">
                <a:solidFill>
                  <a:srgbClr val="FFFFFF"/>
                </a:solidFill>
                <a:latin typeface="Inter Bold"/>
                <a:ea typeface="Inter Bold"/>
                <a:cs typeface="Inter Bold"/>
              </a:rPr>
              <a:t>Actualizar</a:t>
            </a:r>
          </a:p>
          <a:p xmlns:a="http://schemas.openxmlformats.org/drawingml/2006/main">
            <a:pPr algn="ctr">
              <a:lnSpc>
                <a:spcPts val="3779"/>
              </a:lnSpc>
              <a:spcBef>
                <a:spcPct val="0"/>
              </a:spcBef>
              <a:buNone/>
            </a:pPr>
            <a:r>
              <a:rPr sz="2699" b="1">
                <a:solidFill>
                  <a:srgbClr val="FFFFFF"/>
                </a:solidFill>
                <a:latin typeface="Inter Bold"/>
                <a:ea typeface="Inter Bold"/>
                <a:cs typeface="Inter Bold"/>
              </a:rPr>
              <a:t>historial</a:t>
            </a:r>
          </a:p>
        </p:txBody>
      </p:sp>
      <p:sp>
        <p:nvSpPr>
          <p:cNvPr id="18" name="Freeform 18">
            <a:extLst xmlns:a="http://schemas.openxmlformats.org/drawingml/2006/main">
              <a:ext uri="{FF2B5EF4-FFF2-40B4-BE49-F238E27FC236}">
                <a16:creationId xmlns:a16="http://schemas.microsoft.com/office/drawing/2014/main" id="{5E542108-0B34-4C72-8ED7-7CFD684872C4}"/>
              </a:ext>
            </a:extLst>
          </p:cNvPr>
          <p:cNvSpPr>
            <a:spLocks xmlns:a="http://schemas.openxmlformats.org/drawingml/2006/main" noGrp="1"/>
          </p:cNvSpPr>
          <p:nvPr/>
        </p:nvSpPr>
        <p:spPr>
          <a:xfrm xmlns:a="http://schemas.openxmlformats.org/drawingml/2006/main" rot="4190437" flipH="1" flipV="1">
            <a:off x="4332713" y="4515236"/>
            <a:ext cx="738804" cy="2205384"/>
          </a:xfrm>
          <a:custGeom xmlns:a="http://schemas.openxmlformats.org/drawingml/2006/main">
            <a:rect l="l" t="t" r="r" b="b"/>
            <a:pathLst>
              <a:path w="738804" h="2205384">
                <a:moveTo>
                  <a:pt x="738804" y="2205384"/>
                </a:moveTo>
                <a:lnTo>
                  <a:pt x="0" y="2205384"/>
                </a:lnTo>
                <a:lnTo>
                  <a:pt x="0" y="0"/>
                </a:lnTo>
                <a:lnTo>
                  <a:pt x="738804" y="0"/>
                </a:lnTo>
                <a:lnTo>
                  <a:pt x="738804" y="2205384"/>
                </a:lnTo>
                <a:close/>
              </a:path>
            </a:pathLst>
          </a:custGeom>
          <a:blipFill xmlns:a="http://schemas.openxmlformats.org/drawingml/2006/main">
            <a:blip xmlns:r="http://schemas.openxmlformats.org/officeDocument/2006/relationships" r:embed="R483fd9b4fcc24cd3">
              <a:extLst>
                <a:ext uri="{96DAC541-7B7A-43D3-8B79-37D633B846F1}">
                  <asvg:svgBlip xmlns:asvg="http://schemas.microsoft.com/office/drawing/2016/SVG/main" r:embed="R2a4e19fa9e4d4502"/>
                </a:ext>
              </a:extLst>
            </a:blip>
            <a:stretch>
              <a:fillRect l="0" t="0" r="0" b="0"/>
            </a:stretch>
          </a:blipFill>
        </p:spPr>
      </p:sp>
      <p:sp>
        <p:nvSpPr>
          <p:cNvPr id="19" name="TextBox 19">
            <a:extLst xmlns:a="http://schemas.openxmlformats.org/drawingml/2006/main">
              <a:ext uri="{FF2B5EF4-FFF2-40B4-BE49-F238E27FC236}">
                <a16:creationId xmlns:a16="http://schemas.microsoft.com/office/drawing/2014/main" id="{95D9A0EC-6881-4B13-A4C4-502CEE085EA6}"/>
              </a:ext>
            </a:extLst>
          </p:cNvPr>
          <p:cNvSpPr>
            <a:spLocks xmlns:a="http://schemas.openxmlformats.org/drawingml/2006/main" noGrp="1"/>
          </p:cNvSpPr>
          <p:nvPr/>
        </p:nvSpPr>
        <p:spPr>
          <a:xfrm xmlns:a="http://schemas.openxmlformats.org/drawingml/2006/main" rot="0">
            <a:off x="1028700" y="7861791"/>
            <a:ext cx="7039594" cy="1353104"/>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639"/>
              </a:lnSpc>
              <a:spcBef>
                <a:spcPct val="0"/>
              </a:spcBef>
              <a:buNone/>
            </a:pPr>
            <a:r>
              <a:rPr sz="2599">
                <a:solidFill>
                  <a:srgbClr val="FFFFFF"/>
                </a:solidFill>
                <a:latin typeface="Inter"/>
                <a:ea typeface="Inter"/>
                <a:cs typeface="Inter"/>
              </a:rPr>
              <a:t>El sistema debe evitar doble reserva de horarios y mantener la información médica consistente.</a:t>
            </a:r>
          </a:p>
        </p:txBody>
      </p:sp>
      <p:sp>
        <p:nvSpPr>
          <p:cNvPr id="20" name="TextBox 20">
            <a:extLst xmlns:a="http://schemas.openxmlformats.org/drawingml/2006/main">
              <a:ext uri="{FF2B5EF4-FFF2-40B4-BE49-F238E27FC236}">
                <a16:creationId xmlns:a16="http://schemas.microsoft.com/office/drawing/2014/main" id="{EFFD19AF-DF75-4699-8512-ACBFABC90827}"/>
              </a:ext>
            </a:extLst>
          </p:cNvPr>
          <p:cNvSpPr>
            <a:spLocks xmlns:a="http://schemas.openxmlformats.org/drawingml/2006/main" noGrp="1"/>
          </p:cNvSpPr>
          <p:nvPr/>
        </p:nvSpPr>
        <p:spPr>
          <a:xfrm xmlns:a="http://schemas.openxmlformats.org/drawingml/2006/main" rot="0">
            <a:off x="10219706" y="7861791"/>
            <a:ext cx="7039594" cy="1353104"/>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639"/>
              </a:lnSpc>
              <a:spcBef>
                <a:spcPct val="0"/>
              </a:spcBef>
              <a:buNone/>
            </a:pPr>
            <a:r>
              <a:rPr sz="2599">
                <a:solidFill>
                  <a:srgbClr val="FFFFFF"/>
                </a:solidFill>
                <a:latin typeface="Inter"/>
                <a:ea typeface="Inter"/>
                <a:cs typeface="Inter"/>
              </a:rPr>
              <a:t>La historia clínica queda disponible para futuras consultas del veterinario y del cliente.</a:t>
            </a:r>
          </a:p>
        </p:txBody>
      </p:sp>
    </p:spTree>
    <p:extLst>
      <p:ext uri="{BB962C8B-B14F-4D97-AF65-F5344CB8AC3E}">
        <p14:creationId xmlns:p14="http://schemas.microsoft.com/office/powerpoint/2010/main" val="135430460"/>
      </p:ext>
    </p:extLst>
  </p:cSld>
</p:sld>
</file>

<file path=ppt/slides/slide11.xml><?xml version="1.0" encoding="utf-8"?>
<p:sld xmlns:p="http://schemas.openxmlformats.org/presentationml/2006/main">
  <p:cSld>
    <p:bg>
      <p:bgPr>
        <a:solidFill xmlns:a="http://schemas.openxmlformats.org/drawingml/2006/main">
          <a:srgbClr val="022135"/>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06ADB618-2500-4304-9E0B-DF26AF789FF8}"/>
              </a:ext>
            </a:extLst>
          </p:cNvPr>
          <p:cNvSpPr>
            <a:spLocks xmlns:a="http://schemas.openxmlformats.org/drawingml/2006/main" noGrp="1"/>
          </p:cNvSpPr>
          <p:nvPr/>
        </p:nvSpPr>
        <p:spPr>
          <a:xfrm xmlns:a="http://schemas.openxmlformats.org/drawingml/2006/main" rot="0" flipH="1" flipV="0">
            <a:off x="8019160" y="1028700"/>
            <a:ext cx="2249680" cy="2178091"/>
          </a:xfrm>
          <a:custGeom xmlns:a="http://schemas.openxmlformats.org/drawingml/2006/main">
            <a:rect l="l" t="t" r="r" b="b"/>
            <a:pathLst>
              <a:path w="2249680" h="2178091">
                <a:moveTo>
                  <a:pt x="2249680" y="0"/>
                </a:moveTo>
                <a:lnTo>
                  <a:pt x="0" y="0"/>
                </a:lnTo>
                <a:lnTo>
                  <a:pt x="0" y="2178091"/>
                </a:lnTo>
                <a:lnTo>
                  <a:pt x="2249680" y="2178091"/>
                </a:lnTo>
                <a:lnTo>
                  <a:pt x="2249680" y="0"/>
                </a:lnTo>
                <a:close/>
              </a:path>
            </a:pathLst>
          </a:custGeom>
          <a:blipFill xmlns:a="http://schemas.openxmlformats.org/drawingml/2006/main">
            <a:blip xmlns:r="http://schemas.openxmlformats.org/officeDocument/2006/relationships" r:embed="R5d905dd852ed499f">
              <a:extLst>
                <a:ext uri="{96DAC541-7B7A-43D3-8B79-37D633B846F1}">
                  <asvg:svgBlip xmlns:asvg="http://schemas.microsoft.com/office/drawing/2016/SVG/main" r:embed="R28660e125843434f"/>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711E67E2-EC7C-4EDB-AF01-BB2FBD80A8DA}"/>
              </a:ext>
            </a:extLst>
          </p:cNvPr>
          <p:cNvSpPr>
            <a:spLocks xmlns:a="http://schemas.openxmlformats.org/drawingml/2006/main" noGrp="1"/>
          </p:cNvSpPr>
          <p:nvPr/>
        </p:nvSpPr>
        <p:spPr>
          <a:xfrm xmlns:a="http://schemas.openxmlformats.org/drawingml/2006/main" rot="0" flipH="0" flipV="0">
            <a:off x="16066870" y="5143500"/>
            <a:ext cx="2972172" cy="2877592"/>
          </a:xfrm>
          <a:custGeom xmlns:a="http://schemas.openxmlformats.org/drawingml/2006/main">
            <a:rect l="l" t="t" r="r" b="b"/>
            <a:pathLst>
              <a:path w="2972172" h="2877592">
                <a:moveTo>
                  <a:pt x="0" y="0"/>
                </a:moveTo>
                <a:lnTo>
                  <a:pt x="2972172" y="0"/>
                </a:lnTo>
                <a:lnTo>
                  <a:pt x="2972172" y="2877592"/>
                </a:lnTo>
                <a:lnTo>
                  <a:pt x="0" y="2877592"/>
                </a:lnTo>
                <a:lnTo>
                  <a:pt x="0" y="0"/>
                </a:lnTo>
                <a:close/>
              </a:path>
            </a:pathLst>
          </a:custGeom>
          <a:blipFill xmlns:a="http://schemas.openxmlformats.org/drawingml/2006/main">
            <a:blip xmlns:r="http://schemas.openxmlformats.org/officeDocument/2006/relationships" r:embed="R5d905dd852ed499f">
              <a:extLst>
                <a:ext uri="{96DAC541-7B7A-43D3-8B79-37D633B846F1}">
                  <asvg:svgBlip xmlns:asvg="http://schemas.microsoft.com/office/drawing/2016/SVG/main" r:embed="R28660e125843434f"/>
                </a:ext>
              </a:extLst>
            </a:blip>
            <a:stretch>
              <a:fillRect l="0" t="0" r="0" b="0"/>
            </a:stretch>
          </a:blipFill>
        </p:spPr>
      </p:sp>
      <p:sp>
        <p:nvSpPr>
          <p:cNvPr id="5" name="AutoShape 5">
            <a:extLst xmlns:a="http://schemas.openxmlformats.org/drawingml/2006/main">
              <a:ext uri="{FF2B5EF4-FFF2-40B4-BE49-F238E27FC236}">
                <a16:creationId xmlns:a16="http://schemas.microsoft.com/office/drawing/2014/main" id="{733F20C1-F432-4D90-B6C9-F19D993A05C2}"/>
              </a:ext>
            </a:extLst>
          </p:cNvPr>
          <p:cNvSpPr>
            <a:spLocks xmlns:a="http://schemas.openxmlformats.org/drawingml/2006/main" noGrp="1"/>
          </p:cNvSpPr>
          <p:nvPr/>
        </p:nvSpPr>
        <p:spPr>
          <a:xfrm xmlns:a="http://schemas.openxmlformats.org/drawingml/2006/main" rot="0" flipH="0" flipV="0">
            <a:off x="16827670" y="10477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6" name="AutoShape 6">
            <a:extLst xmlns:a="http://schemas.openxmlformats.org/drawingml/2006/main">
              <a:ext uri="{FF2B5EF4-FFF2-40B4-BE49-F238E27FC236}">
                <a16:creationId xmlns:a16="http://schemas.microsoft.com/office/drawing/2014/main" id="{F292E228-3D4C-4556-A493-072E2221ED81}"/>
              </a:ext>
            </a:extLst>
          </p:cNvPr>
          <p:cNvSpPr>
            <a:spLocks xmlns:a="http://schemas.openxmlformats.org/drawingml/2006/main" noGrp="1"/>
          </p:cNvSpPr>
          <p:nvPr/>
        </p:nvSpPr>
        <p:spPr>
          <a:xfrm xmlns:a="http://schemas.openxmlformats.org/drawingml/2006/main" rot="0" flipH="0" flipV="0">
            <a:off x="16827670" y="12001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7" name="AutoShape 7">
            <a:extLst xmlns:a="http://schemas.openxmlformats.org/drawingml/2006/main">
              <a:ext uri="{FF2B5EF4-FFF2-40B4-BE49-F238E27FC236}">
                <a16:creationId xmlns:a16="http://schemas.microsoft.com/office/drawing/2014/main" id="{AD9CC00A-ABA1-470D-91EB-AF915A4F8B24}"/>
              </a:ext>
            </a:extLst>
          </p:cNvPr>
          <p:cNvSpPr>
            <a:spLocks xmlns:a="http://schemas.openxmlformats.org/drawingml/2006/main" noGrp="1"/>
          </p:cNvSpPr>
          <p:nvPr/>
        </p:nvSpPr>
        <p:spPr>
          <a:xfrm xmlns:a="http://schemas.openxmlformats.org/drawingml/2006/main" rot="0" flipH="0" flipV="0">
            <a:off x="16827670" y="13525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9" name="TextBox 9">
            <a:extLst xmlns:a="http://schemas.openxmlformats.org/drawingml/2006/main">
              <a:ext uri="{FF2B5EF4-FFF2-40B4-BE49-F238E27FC236}">
                <a16:creationId xmlns:a16="http://schemas.microsoft.com/office/drawing/2014/main" id="{0190C42D-900B-4CA3-9688-4B4B6834B7BA}"/>
              </a:ext>
            </a:extLst>
          </p:cNvPr>
          <p:cNvSpPr>
            <a:spLocks xmlns:a="http://schemas.openxmlformats.org/drawingml/2006/main" noGrp="1"/>
          </p:cNvSpPr>
          <p:nvPr/>
        </p:nvSpPr>
        <p:spPr>
          <a:xfrm xmlns:a="http://schemas.openxmlformats.org/drawingml/2006/main" rot="0" flipH="0" flipV="0">
            <a:off x="11612507" y="2210386"/>
            <a:ext cx="4449790" cy="12400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520"/>
              </a:lnSpc>
              <a:spcBef>
                <a:spcPct val="0"/>
              </a:spcBef>
              <a:buNone/>
            </a:pPr>
            <a:r>
              <a:rPr sz="1800">
                <a:solidFill>
                  <a:srgbClr val="FFFFFF"/>
                </a:solidFill>
                <a:latin typeface="Inter"/>
                <a:ea typeface="Inter"/>
                <a:cs typeface="Inter"/>
              </a:rPr>
              <a:t>El sistema deberá estar disponible al menos el</a:t>
            </a:r>
            <a:r>
              <a:rPr sz="1800">
                <a:solidFill>
                  <a:srgbClr val="FFFFFF"/>
                </a:solidFill>
                <a:latin typeface="Inter"/>
                <a:ea typeface="Inter"/>
                <a:cs typeface="Inter"/>
              </a:rPr>
              <a:t> 99,9 % del tiempo durante el horario de atención de la clínica.</a:t>
            </a:r>
          </a:p>
          <a:p xmlns:a="http://schemas.openxmlformats.org/drawingml/2006/main">
            <a:pPr algn="l">
              <a:lnSpc>
                <a:spcPts val="2520"/>
              </a:lnSpc>
              <a:spcBef>
                <a:spcPct val="0"/>
              </a:spcBef>
              <a:buNone/>
            </a:pPr>
            <a:r>
              <a:rPr sz="1800">
                <a:solidFill>
                  <a:srgbClr val="FFFFFF"/>
                </a:solidFill>
                <a:latin typeface="Inter"/>
                <a:ea typeface="Inter"/>
                <a:cs typeface="Inter"/>
              </a:rPr>
              <a:t>Disponibilidad</a:t>
            </a:r>
          </a:p>
        </p:txBody>
      </p:sp>
      <p:sp>
        <p:nvSpPr>
          <p:cNvPr id="11" name="Freeform 11">
            <a:extLst xmlns:a="http://schemas.openxmlformats.org/drawingml/2006/main">
              <a:ext uri="{FF2B5EF4-FFF2-40B4-BE49-F238E27FC236}">
                <a16:creationId xmlns:a16="http://schemas.microsoft.com/office/drawing/2014/main" id="{21542148-1CEA-43C7-8312-4BE75DACE825}"/>
              </a:ext>
            </a:extLst>
          </p:cNvPr>
          <p:cNvSpPr>
            <a:spLocks xmlns:a="http://schemas.openxmlformats.org/drawingml/2006/main" noGrp="1"/>
          </p:cNvSpPr>
          <p:nvPr/>
        </p:nvSpPr>
        <p:spPr>
          <a:xfrm xmlns:a="http://schemas.openxmlformats.org/drawingml/2006/main" rot="0" flipH="0" flipV="0">
            <a:off x="10950468" y="2117746"/>
            <a:ext cx="279445" cy="1454012"/>
          </a:xfrm>
          <a:custGeom xmlns:a="http://schemas.openxmlformats.org/drawingml/2006/main">
            <a:rect l="l" t="t" r="r" b="b"/>
            <a:pathLst>
              <a:path w="73599" h="382950">
                <a:moveTo>
                  <a:pt x="36799" y="0"/>
                </a:moveTo>
                <a:lnTo>
                  <a:pt x="36799" y="0"/>
                </a:lnTo>
                <a:cubicBezTo>
                  <a:pt x="46559" y="0"/>
                  <a:pt x="55919" y="3877"/>
                  <a:pt x="62820" y="10778"/>
                </a:cubicBezTo>
                <a:cubicBezTo>
                  <a:pt x="69722" y="17680"/>
                  <a:pt x="73599" y="27040"/>
                  <a:pt x="73599" y="36799"/>
                </a:cubicBezTo>
                <a:lnTo>
                  <a:pt x="73599" y="346150"/>
                </a:lnTo>
                <a:cubicBezTo>
                  <a:pt x="73599" y="366474"/>
                  <a:pt x="57123" y="382950"/>
                  <a:pt x="36799" y="382950"/>
                </a:cubicBezTo>
                <a:lnTo>
                  <a:pt x="36799" y="382950"/>
                </a:lnTo>
                <a:cubicBezTo>
                  <a:pt x="16476" y="382950"/>
                  <a:pt x="0" y="366474"/>
                  <a:pt x="0" y="346150"/>
                </a:cubicBezTo>
                <a:lnTo>
                  <a:pt x="0" y="36799"/>
                </a:lnTo>
                <a:cubicBezTo>
                  <a:pt x="0" y="16476"/>
                  <a:pt x="16476" y="0"/>
                  <a:pt x="36799" y="0"/>
                </a:cubicBezTo>
                <a:close/>
              </a:path>
            </a:pathLst>
          </a:custGeom>
          <a:solidFill xmlns:a="http://schemas.openxmlformats.org/drawingml/2006/main">
            <a:srgbClr val="FFFFFF"/>
          </a:solidFill>
        </p:spPr>
      </p:sp>
      <p:sp>
        <p:nvSpPr>
          <p:cNvPr id="12" name="TextBox 12">
            <a:extLst xmlns:a="http://schemas.openxmlformats.org/drawingml/2006/main">
              <a:ext uri="{FF2B5EF4-FFF2-40B4-BE49-F238E27FC236}">
                <a16:creationId xmlns:a16="http://schemas.microsoft.com/office/drawing/2014/main" id="{2F0921FB-0557-4A6B-9199-14320A6C8BC9}"/>
              </a:ext>
            </a:extLst>
          </p:cNvPr>
          <p:cNvSpPr>
            <a:spLocks xmlns:a="http://schemas.openxmlformats.org/drawingml/2006/main" noGrp="1"/>
          </p:cNvSpPr>
          <p:nvPr/>
        </p:nvSpPr>
        <p:spPr>
          <a:xfrm xmlns:a="http://schemas.openxmlformats.org/drawingml/2006/main" rot="0" flipH="0" flipV="0">
            <a:off x="10950468" y="1973086"/>
            <a:ext cx="279445" cy="159867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spcBef>
                <a:spcPct val="0"/>
              </a:spcBef>
              <a:buNone/>
            </a:pPr>
          </a:p>
        </p:txBody>
      </p:sp>
      <p:sp>
        <p:nvSpPr>
          <p:cNvPr id="14" name="TextBox 14">
            <a:extLst xmlns:a="http://schemas.openxmlformats.org/drawingml/2006/main">
              <a:ext uri="{FF2B5EF4-FFF2-40B4-BE49-F238E27FC236}">
                <a16:creationId xmlns:a16="http://schemas.microsoft.com/office/drawing/2014/main" id="{C134D0CD-A076-4E00-A99E-2B208D8C8738}"/>
              </a:ext>
            </a:extLst>
          </p:cNvPr>
          <p:cNvSpPr>
            <a:spLocks xmlns:a="http://schemas.openxmlformats.org/drawingml/2006/main" noGrp="1"/>
          </p:cNvSpPr>
          <p:nvPr/>
        </p:nvSpPr>
        <p:spPr>
          <a:xfrm xmlns:a="http://schemas.openxmlformats.org/drawingml/2006/main" rot="0" flipH="0" flipV="0">
            <a:off x="11528610" y="4029539"/>
            <a:ext cx="5154733" cy="12400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520"/>
              </a:lnSpc>
              <a:spcBef>
                <a:spcPct val="0"/>
              </a:spcBef>
              <a:buNone/>
            </a:pPr>
            <a:r>
              <a:rPr sz="1800">
                <a:solidFill>
                  <a:srgbClr val="FFFFFF"/>
                </a:solidFill>
                <a:latin typeface="Inter"/>
                <a:ea typeface="Inter"/>
                <a:cs typeface="Inter"/>
              </a:rPr>
              <a:t>Las consultas de mascotas, turnos e historiales médicos deberán responder en un máximo de 8 s</a:t>
            </a:r>
            <a:r>
              <a:rPr sz="1800">
                <a:solidFill>
                  <a:srgbClr val="FFFFFF"/>
                </a:solidFill>
                <a:latin typeface="Inter"/>
                <a:ea typeface="Inter"/>
                <a:cs typeface="Inter"/>
              </a:rPr>
              <a:t>egundos en al menos el 95% de las solicitudes. Rendimiento</a:t>
            </a:r>
          </a:p>
        </p:txBody>
      </p:sp>
      <p:sp>
        <p:nvSpPr>
          <p:cNvPr id="16" name="Freeform 16">
            <a:extLst xmlns:a="http://schemas.openxmlformats.org/drawingml/2006/main">
              <a:ext uri="{FF2B5EF4-FFF2-40B4-BE49-F238E27FC236}">
                <a16:creationId xmlns:a16="http://schemas.microsoft.com/office/drawing/2014/main" id="{81C064BA-3297-4395-BFB9-CBBA0A08E316}"/>
              </a:ext>
            </a:extLst>
          </p:cNvPr>
          <p:cNvSpPr>
            <a:spLocks xmlns:a="http://schemas.openxmlformats.org/drawingml/2006/main" noGrp="1"/>
          </p:cNvSpPr>
          <p:nvPr/>
        </p:nvSpPr>
        <p:spPr>
          <a:xfrm xmlns:a="http://schemas.openxmlformats.org/drawingml/2006/main" rot="0" flipH="0" flipV="0">
            <a:off x="10950468" y="3936899"/>
            <a:ext cx="244032" cy="1454012"/>
          </a:xfrm>
          <a:custGeom xmlns:a="http://schemas.openxmlformats.org/drawingml/2006/main">
            <a:rect l="l" t="t" r="r" b="b"/>
            <a:pathLst>
              <a:path w="64272" h="382950">
                <a:moveTo>
                  <a:pt x="32136" y="0"/>
                </a:moveTo>
                <a:lnTo>
                  <a:pt x="32136" y="0"/>
                </a:lnTo>
                <a:cubicBezTo>
                  <a:pt x="40659" y="0"/>
                  <a:pt x="48833" y="3386"/>
                  <a:pt x="54860" y="9412"/>
                </a:cubicBezTo>
                <a:cubicBezTo>
                  <a:pt x="60886" y="15439"/>
                  <a:pt x="64272" y="23613"/>
                  <a:pt x="64272" y="32136"/>
                </a:cubicBezTo>
                <a:lnTo>
                  <a:pt x="64272" y="350814"/>
                </a:lnTo>
                <a:cubicBezTo>
                  <a:pt x="64272" y="359337"/>
                  <a:pt x="60886" y="367511"/>
                  <a:pt x="54860" y="373537"/>
                </a:cubicBezTo>
                <a:cubicBezTo>
                  <a:pt x="48833" y="379564"/>
                  <a:pt x="40659" y="382950"/>
                  <a:pt x="32136" y="382950"/>
                </a:cubicBezTo>
                <a:lnTo>
                  <a:pt x="32136" y="382950"/>
                </a:lnTo>
                <a:cubicBezTo>
                  <a:pt x="23613" y="382950"/>
                  <a:pt x="15439" y="379564"/>
                  <a:pt x="9412" y="373537"/>
                </a:cubicBezTo>
                <a:cubicBezTo>
                  <a:pt x="3386" y="367511"/>
                  <a:pt x="0" y="359337"/>
                  <a:pt x="0" y="350814"/>
                </a:cubicBezTo>
                <a:lnTo>
                  <a:pt x="0" y="32136"/>
                </a:lnTo>
                <a:cubicBezTo>
                  <a:pt x="0" y="23613"/>
                  <a:pt x="3386" y="15439"/>
                  <a:pt x="9412" y="9412"/>
                </a:cubicBezTo>
                <a:cubicBezTo>
                  <a:pt x="15439" y="3386"/>
                  <a:pt x="23613" y="0"/>
                  <a:pt x="32136" y="0"/>
                </a:cubicBezTo>
                <a:close/>
              </a:path>
            </a:pathLst>
          </a:custGeom>
          <a:solidFill xmlns:a="http://schemas.openxmlformats.org/drawingml/2006/main">
            <a:srgbClr val="FFFFFF"/>
          </a:solidFill>
        </p:spPr>
      </p:sp>
      <p:sp>
        <p:nvSpPr>
          <p:cNvPr id="17" name="TextBox 17">
            <a:extLst xmlns:a="http://schemas.openxmlformats.org/drawingml/2006/main">
              <a:ext uri="{FF2B5EF4-FFF2-40B4-BE49-F238E27FC236}">
                <a16:creationId xmlns:a16="http://schemas.microsoft.com/office/drawing/2014/main" id="{5B864AA2-0936-4034-94AB-7FA688B36096}"/>
              </a:ext>
            </a:extLst>
          </p:cNvPr>
          <p:cNvSpPr>
            <a:spLocks xmlns:a="http://schemas.openxmlformats.org/drawingml/2006/main" noGrp="1"/>
          </p:cNvSpPr>
          <p:nvPr/>
        </p:nvSpPr>
        <p:spPr>
          <a:xfrm xmlns:a="http://schemas.openxmlformats.org/drawingml/2006/main" rot="0" flipH="0" flipV="0">
            <a:off x="10950468" y="3792239"/>
            <a:ext cx="244032" cy="159867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spcBef>
                <a:spcPct val="0"/>
              </a:spcBef>
              <a:buNone/>
            </a:pPr>
          </a:p>
        </p:txBody>
      </p:sp>
      <p:sp>
        <p:nvSpPr>
          <p:cNvPr id="19" name="TextBox 19">
            <a:extLst xmlns:a="http://schemas.openxmlformats.org/drawingml/2006/main">
              <a:ext uri="{FF2B5EF4-FFF2-40B4-BE49-F238E27FC236}">
                <a16:creationId xmlns:a16="http://schemas.microsoft.com/office/drawing/2014/main" id="{22E5151B-B012-4220-AB7D-F466852F4FC4}"/>
              </a:ext>
            </a:extLst>
          </p:cNvPr>
          <p:cNvSpPr>
            <a:spLocks xmlns:a="http://schemas.openxmlformats.org/drawingml/2006/main" noGrp="1"/>
          </p:cNvSpPr>
          <p:nvPr/>
        </p:nvSpPr>
        <p:spPr>
          <a:xfrm xmlns:a="http://schemas.openxmlformats.org/drawingml/2006/main" rot="0" flipH="0" flipV="0">
            <a:off x="1090218" y="8153627"/>
            <a:ext cx="5154733" cy="12400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520"/>
              </a:lnSpc>
              <a:spcBef>
                <a:spcPct val="0"/>
              </a:spcBef>
              <a:buNone/>
            </a:pPr>
            <a:r>
              <a:rPr sz="1800">
                <a:solidFill>
                  <a:srgbClr val="FFFFFF"/>
                </a:solidFill>
                <a:latin typeface="Inter"/>
                <a:ea typeface="Inter"/>
                <a:cs typeface="Inter"/>
              </a:rPr>
              <a:t>El sistema deberá aplicar control de acceso según el rol del usuario, impidiendo que un usuario acceda o modifique información para la cu</a:t>
            </a:r>
            <a:r>
              <a:rPr sz="1800">
                <a:solidFill>
                  <a:srgbClr val="FFFFFF"/>
                </a:solidFill>
                <a:latin typeface="Inter"/>
                <a:ea typeface="Inter"/>
                <a:cs typeface="Inter"/>
              </a:rPr>
              <a:t>al no está autorizado. Seguridad</a:t>
            </a:r>
          </a:p>
        </p:txBody>
      </p:sp>
      <p:sp>
        <p:nvSpPr>
          <p:cNvPr id="21" name="Freeform 21">
            <a:extLst xmlns:a="http://schemas.openxmlformats.org/drawingml/2006/main">
              <a:ext uri="{FF2B5EF4-FFF2-40B4-BE49-F238E27FC236}">
                <a16:creationId xmlns:a16="http://schemas.microsoft.com/office/drawing/2014/main" id="{3F3AF730-3A70-4961-9B1A-8AA65E7C71C3}"/>
              </a:ext>
            </a:extLst>
          </p:cNvPr>
          <p:cNvSpPr>
            <a:spLocks xmlns:a="http://schemas.openxmlformats.org/drawingml/2006/main" noGrp="1"/>
          </p:cNvSpPr>
          <p:nvPr/>
        </p:nvSpPr>
        <p:spPr>
          <a:xfrm xmlns:a="http://schemas.openxmlformats.org/drawingml/2006/main" rot="0" flipH="0" flipV="0">
            <a:off x="512076" y="8060987"/>
            <a:ext cx="244032" cy="1454012"/>
          </a:xfrm>
          <a:custGeom xmlns:a="http://schemas.openxmlformats.org/drawingml/2006/main">
            <a:rect l="l" t="t" r="r" b="b"/>
            <a:pathLst>
              <a:path w="64272" h="382950">
                <a:moveTo>
                  <a:pt x="32136" y="0"/>
                </a:moveTo>
                <a:lnTo>
                  <a:pt x="32136" y="0"/>
                </a:lnTo>
                <a:cubicBezTo>
                  <a:pt x="40659" y="0"/>
                  <a:pt x="48833" y="3386"/>
                  <a:pt x="54860" y="9412"/>
                </a:cubicBezTo>
                <a:cubicBezTo>
                  <a:pt x="60886" y="15439"/>
                  <a:pt x="64272" y="23613"/>
                  <a:pt x="64272" y="32136"/>
                </a:cubicBezTo>
                <a:lnTo>
                  <a:pt x="64272" y="350814"/>
                </a:lnTo>
                <a:cubicBezTo>
                  <a:pt x="64272" y="359337"/>
                  <a:pt x="60886" y="367511"/>
                  <a:pt x="54860" y="373537"/>
                </a:cubicBezTo>
                <a:cubicBezTo>
                  <a:pt x="48833" y="379564"/>
                  <a:pt x="40659" y="382950"/>
                  <a:pt x="32136" y="382950"/>
                </a:cubicBezTo>
                <a:lnTo>
                  <a:pt x="32136" y="382950"/>
                </a:lnTo>
                <a:cubicBezTo>
                  <a:pt x="23613" y="382950"/>
                  <a:pt x="15439" y="379564"/>
                  <a:pt x="9412" y="373537"/>
                </a:cubicBezTo>
                <a:cubicBezTo>
                  <a:pt x="3386" y="367511"/>
                  <a:pt x="0" y="359337"/>
                  <a:pt x="0" y="350814"/>
                </a:cubicBezTo>
                <a:lnTo>
                  <a:pt x="0" y="32136"/>
                </a:lnTo>
                <a:cubicBezTo>
                  <a:pt x="0" y="23613"/>
                  <a:pt x="3386" y="15439"/>
                  <a:pt x="9412" y="9412"/>
                </a:cubicBezTo>
                <a:cubicBezTo>
                  <a:pt x="15439" y="3386"/>
                  <a:pt x="23613" y="0"/>
                  <a:pt x="32136" y="0"/>
                </a:cubicBezTo>
                <a:close/>
              </a:path>
            </a:pathLst>
          </a:custGeom>
          <a:solidFill xmlns:a="http://schemas.openxmlformats.org/drawingml/2006/main">
            <a:srgbClr val="FFFFFF"/>
          </a:solidFill>
        </p:spPr>
      </p:sp>
      <p:sp>
        <p:nvSpPr>
          <p:cNvPr id="22" name="TextBox 22">
            <a:extLst xmlns:a="http://schemas.openxmlformats.org/drawingml/2006/main">
              <a:ext uri="{FF2B5EF4-FFF2-40B4-BE49-F238E27FC236}">
                <a16:creationId xmlns:a16="http://schemas.microsoft.com/office/drawing/2014/main" id="{F489B41C-1E81-4665-98CE-91BF681D95F7}"/>
              </a:ext>
            </a:extLst>
          </p:cNvPr>
          <p:cNvSpPr>
            <a:spLocks xmlns:a="http://schemas.openxmlformats.org/drawingml/2006/main" noGrp="1"/>
          </p:cNvSpPr>
          <p:nvPr/>
        </p:nvSpPr>
        <p:spPr>
          <a:xfrm xmlns:a="http://schemas.openxmlformats.org/drawingml/2006/main" rot="0" flipH="0" flipV="0">
            <a:off x="512076" y="7916327"/>
            <a:ext cx="244032" cy="159867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spcBef>
                <a:spcPct val="0"/>
              </a:spcBef>
              <a:buNone/>
            </a:pPr>
          </a:p>
        </p:txBody>
      </p:sp>
      <p:sp>
        <p:nvSpPr>
          <p:cNvPr id="24" name="TextBox 24">
            <a:extLst xmlns:a="http://schemas.openxmlformats.org/drawingml/2006/main">
              <a:ext uri="{FF2B5EF4-FFF2-40B4-BE49-F238E27FC236}">
                <a16:creationId xmlns:a16="http://schemas.microsoft.com/office/drawing/2014/main" id="{60CCBEF2-F251-4174-AD9D-61EB237F5A54}"/>
              </a:ext>
            </a:extLst>
          </p:cNvPr>
          <p:cNvSpPr>
            <a:spLocks xmlns:a="http://schemas.openxmlformats.org/drawingml/2006/main" noGrp="1"/>
          </p:cNvSpPr>
          <p:nvPr/>
        </p:nvSpPr>
        <p:spPr>
          <a:xfrm xmlns:a="http://schemas.openxmlformats.org/drawingml/2006/main" rot="0" flipH="0" flipV="0">
            <a:off x="7070892" y="8153627"/>
            <a:ext cx="5154733" cy="155434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520"/>
              </a:lnSpc>
              <a:spcBef>
                <a:spcPct val="0"/>
              </a:spcBef>
              <a:buNone/>
            </a:pPr>
            <a:r>
              <a:rPr sz="1800">
                <a:solidFill>
                  <a:srgbClr val="FFFFFF"/>
                </a:solidFill>
                <a:latin typeface="Inter"/>
                <a:ea typeface="Inter"/>
                <a:cs typeface="Inter"/>
              </a:rPr>
              <a:t>El sistema deberá permitir incorporar un nuevo tipo de us</a:t>
            </a:r>
            <a:r>
              <a:rPr sz="1800">
                <a:solidFill>
                  <a:srgbClr val="FFFFFF"/>
                </a:solidFill>
                <a:latin typeface="Inter"/>
                <a:ea typeface="Inter"/>
                <a:cs typeface="Inter"/>
              </a:rPr>
              <a:t>uario o rol, con su conjunto de permisos, sin modificar el código de los módulos de turnos, mascotas ni historial médico. Facilidad de Modificación</a:t>
            </a:r>
          </a:p>
        </p:txBody>
      </p:sp>
      <p:sp>
        <p:nvSpPr>
          <p:cNvPr id="26" name="Freeform 26">
            <a:extLst xmlns:a="http://schemas.openxmlformats.org/drawingml/2006/main">
              <a:ext uri="{FF2B5EF4-FFF2-40B4-BE49-F238E27FC236}">
                <a16:creationId xmlns:a16="http://schemas.microsoft.com/office/drawing/2014/main" id="{6BCD7079-BB13-4C37-AC52-6C02A87443B1}"/>
              </a:ext>
            </a:extLst>
          </p:cNvPr>
          <p:cNvSpPr>
            <a:spLocks xmlns:a="http://schemas.openxmlformats.org/drawingml/2006/main" noGrp="1"/>
          </p:cNvSpPr>
          <p:nvPr/>
        </p:nvSpPr>
        <p:spPr>
          <a:xfrm xmlns:a="http://schemas.openxmlformats.org/drawingml/2006/main" rot="0" flipH="0" flipV="0">
            <a:off x="6492750" y="8060987"/>
            <a:ext cx="244032" cy="1454012"/>
          </a:xfrm>
          <a:custGeom xmlns:a="http://schemas.openxmlformats.org/drawingml/2006/main">
            <a:rect l="l" t="t" r="r" b="b"/>
            <a:pathLst>
              <a:path w="64272" h="382950">
                <a:moveTo>
                  <a:pt x="32136" y="0"/>
                </a:moveTo>
                <a:lnTo>
                  <a:pt x="32136" y="0"/>
                </a:lnTo>
                <a:cubicBezTo>
                  <a:pt x="40659" y="0"/>
                  <a:pt x="48833" y="3386"/>
                  <a:pt x="54860" y="9412"/>
                </a:cubicBezTo>
                <a:cubicBezTo>
                  <a:pt x="60886" y="15439"/>
                  <a:pt x="64272" y="23613"/>
                  <a:pt x="64272" y="32136"/>
                </a:cubicBezTo>
                <a:lnTo>
                  <a:pt x="64272" y="350814"/>
                </a:lnTo>
                <a:cubicBezTo>
                  <a:pt x="64272" y="359337"/>
                  <a:pt x="60886" y="367511"/>
                  <a:pt x="54860" y="373537"/>
                </a:cubicBezTo>
                <a:cubicBezTo>
                  <a:pt x="48833" y="379564"/>
                  <a:pt x="40659" y="382950"/>
                  <a:pt x="32136" y="382950"/>
                </a:cubicBezTo>
                <a:lnTo>
                  <a:pt x="32136" y="382950"/>
                </a:lnTo>
                <a:cubicBezTo>
                  <a:pt x="23613" y="382950"/>
                  <a:pt x="15439" y="379564"/>
                  <a:pt x="9412" y="373537"/>
                </a:cubicBezTo>
                <a:cubicBezTo>
                  <a:pt x="3386" y="367511"/>
                  <a:pt x="0" y="359337"/>
                  <a:pt x="0" y="350814"/>
                </a:cubicBezTo>
                <a:lnTo>
                  <a:pt x="0" y="32136"/>
                </a:lnTo>
                <a:cubicBezTo>
                  <a:pt x="0" y="23613"/>
                  <a:pt x="3386" y="15439"/>
                  <a:pt x="9412" y="9412"/>
                </a:cubicBezTo>
                <a:cubicBezTo>
                  <a:pt x="15439" y="3386"/>
                  <a:pt x="23613" y="0"/>
                  <a:pt x="32136" y="0"/>
                </a:cubicBezTo>
                <a:close/>
              </a:path>
            </a:pathLst>
          </a:custGeom>
          <a:solidFill xmlns:a="http://schemas.openxmlformats.org/drawingml/2006/main">
            <a:srgbClr val="FFFFFF"/>
          </a:solidFill>
        </p:spPr>
      </p:sp>
      <p:sp>
        <p:nvSpPr>
          <p:cNvPr id="27" name="TextBox 27">
            <a:extLst xmlns:a="http://schemas.openxmlformats.org/drawingml/2006/main">
              <a:ext uri="{FF2B5EF4-FFF2-40B4-BE49-F238E27FC236}">
                <a16:creationId xmlns:a16="http://schemas.microsoft.com/office/drawing/2014/main" id="{7AE954BF-1296-4B30-AF7B-21E5F936209D}"/>
              </a:ext>
            </a:extLst>
          </p:cNvPr>
          <p:cNvSpPr>
            <a:spLocks xmlns:a="http://schemas.openxmlformats.org/drawingml/2006/main" noGrp="1"/>
          </p:cNvSpPr>
          <p:nvPr/>
        </p:nvSpPr>
        <p:spPr>
          <a:xfrm xmlns:a="http://schemas.openxmlformats.org/drawingml/2006/main" rot="0" flipH="0" flipV="0">
            <a:off x="6492750" y="7916327"/>
            <a:ext cx="244032" cy="159867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spcBef>
                <a:spcPct val="0"/>
              </a:spcBef>
              <a:buNone/>
            </a:pPr>
          </a:p>
        </p:txBody>
      </p:sp>
      <p:sp>
        <p:nvSpPr>
          <p:cNvPr id="29" name="Freeform 29">
            <a:extLst xmlns:a="http://schemas.openxmlformats.org/drawingml/2006/main">
              <a:ext uri="{FF2B5EF4-FFF2-40B4-BE49-F238E27FC236}">
                <a16:creationId xmlns:a16="http://schemas.microsoft.com/office/drawing/2014/main" id="{4FF75741-D236-4385-A982-84C866143F85}"/>
              </a:ext>
            </a:extLst>
          </p:cNvPr>
          <p:cNvSpPr>
            <a:spLocks xmlns:a="http://schemas.openxmlformats.org/drawingml/2006/main" noGrp="1"/>
          </p:cNvSpPr>
          <p:nvPr/>
        </p:nvSpPr>
        <p:spPr>
          <a:xfrm xmlns:a="http://schemas.openxmlformats.org/drawingml/2006/main" rot="0" flipH="0" flipV="0">
            <a:off x="12473423" y="8054144"/>
            <a:ext cx="244033" cy="1454012"/>
          </a:xfrm>
          <a:custGeom xmlns:a="http://schemas.openxmlformats.org/drawingml/2006/main">
            <a:rect l="l" t="t" r="r" b="b"/>
            <a:pathLst>
              <a:path w="64272" h="382950">
                <a:moveTo>
                  <a:pt x="32136" y="0"/>
                </a:moveTo>
                <a:lnTo>
                  <a:pt x="32136" y="0"/>
                </a:lnTo>
                <a:cubicBezTo>
                  <a:pt x="40659" y="0"/>
                  <a:pt x="48833" y="3386"/>
                  <a:pt x="54860" y="9412"/>
                </a:cubicBezTo>
                <a:cubicBezTo>
                  <a:pt x="60886" y="15439"/>
                  <a:pt x="64272" y="23613"/>
                  <a:pt x="64272" y="32136"/>
                </a:cubicBezTo>
                <a:lnTo>
                  <a:pt x="64272" y="350814"/>
                </a:lnTo>
                <a:cubicBezTo>
                  <a:pt x="64272" y="359337"/>
                  <a:pt x="60886" y="367511"/>
                  <a:pt x="54860" y="373537"/>
                </a:cubicBezTo>
                <a:cubicBezTo>
                  <a:pt x="48833" y="379564"/>
                  <a:pt x="40659" y="382950"/>
                  <a:pt x="32136" y="382950"/>
                </a:cubicBezTo>
                <a:lnTo>
                  <a:pt x="32136" y="382950"/>
                </a:lnTo>
                <a:cubicBezTo>
                  <a:pt x="23613" y="382950"/>
                  <a:pt x="15439" y="379564"/>
                  <a:pt x="9412" y="373537"/>
                </a:cubicBezTo>
                <a:cubicBezTo>
                  <a:pt x="3386" y="367511"/>
                  <a:pt x="0" y="359337"/>
                  <a:pt x="0" y="350814"/>
                </a:cubicBezTo>
                <a:lnTo>
                  <a:pt x="0" y="32136"/>
                </a:lnTo>
                <a:cubicBezTo>
                  <a:pt x="0" y="23613"/>
                  <a:pt x="3386" y="15439"/>
                  <a:pt x="9412" y="9412"/>
                </a:cubicBezTo>
                <a:cubicBezTo>
                  <a:pt x="15439" y="3386"/>
                  <a:pt x="23613" y="0"/>
                  <a:pt x="32136" y="0"/>
                </a:cubicBezTo>
                <a:close/>
              </a:path>
            </a:pathLst>
          </a:custGeom>
          <a:solidFill xmlns:a="http://schemas.openxmlformats.org/drawingml/2006/main">
            <a:srgbClr val="FFFFFF"/>
          </a:solidFill>
        </p:spPr>
      </p:sp>
      <p:sp>
        <p:nvSpPr>
          <p:cNvPr id="30" name="TextBox 30">
            <a:extLst xmlns:a="http://schemas.openxmlformats.org/drawingml/2006/main">
              <a:ext uri="{FF2B5EF4-FFF2-40B4-BE49-F238E27FC236}">
                <a16:creationId xmlns:a16="http://schemas.microsoft.com/office/drawing/2014/main" id="{CE1A11CD-4CBF-49A1-8D39-C48CE23D2011}"/>
              </a:ext>
            </a:extLst>
          </p:cNvPr>
          <p:cNvSpPr>
            <a:spLocks xmlns:a="http://schemas.openxmlformats.org/drawingml/2006/main" noGrp="1"/>
          </p:cNvSpPr>
          <p:nvPr/>
        </p:nvSpPr>
        <p:spPr>
          <a:xfrm xmlns:a="http://schemas.openxmlformats.org/drawingml/2006/main" rot="0" flipH="0" flipV="0">
            <a:off x="12473423" y="7909484"/>
            <a:ext cx="244033" cy="159867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spcBef>
                <a:spcPct val="0"/>
              </a:spcBef>
              <a:buNone/>
            </a:pPr>
          </a:p>
        </p:txBody>
      </p:sp>
      <p:sp>
        <p:nvSpPr>
          <p:cNvPr id="32" name="Freeform 32">
            <a:extLst xmlns:a="http://schemas.openxmlformats.org/drawingml/2006/main">
              <a:ext uri="{FF2B5EF4-FFF2-40B4-BE49-F238E27FC236}">
                <a16:creationId xmlns:a16="http://schemas.microsoft.com/office/drawing/2014/main" id="{DA59D884-C21C-41F5-BA51-3D9A4F8D1C2E}"/>
              </a:ext>
            </a:extLst>
          </p:cNvPr>
          <p:cNvSpPr>
            <a:spLocks xmlns:a="http://schemas.openxmlformats.org/drawingml/2006/main" noGrp="1"/>
          </p:cNvSpPr>
          <p:nvPr/>
        </p:nvSpPr>
        <p:spPr>
          <a:xfrm xmlns:a="http://schemas.openxmlformats.org/drawingml/2006/main" rot="0" flipH="0" flipV="0">
            <a:off x="172039" y="1200150"/>
            <a:ext cx="10379998" cy="6009907"/>
          </a:xfrm>
          <a:custGeom xmlns:a="http://schemas.openxmlformats.org/drawingml/2006/main">
            <a:rect l="l" t="t" r="r" b="b"/>
            <a:pathLst>
              <a:path w="1357111" h="785753">
                <a:moveTo>
                  <a:pt x="33563" y="0"/>
                </a:moveTo>
                <a:lnTo>
                  <a:pt x="1323548" y="0"/>
                </a:lnTo>
                <a:cubicBezTo>
                  <a:pt x="1342084" y="0"/>
                  <a:pt x="1357111" y="15027"/>
                  <a:pt x="1357111" y="33563"/>
                </a:cubicBezTo>
                <a:lnTo>
                  <a:pt x="1357111" y="752190"/>
                </a:lnTo>
                <a:cubicBezTo>
                  <a:pt x="1357111" y="770727"/>
                  <a:pt x="1342084" y="785753"/>
                  <a:pt x="1323548" y="785753"/>
                </a:cubicBezTo>
                <a:lnTo>
                  <a:pt x="33563" y="785753"/>
                </a:lnTo>
                <a:cubicBezTo>
                  <a:pt x="15027" y="785753"/>
                  <a:pt x="0" y="770727"/>
                  <a:pt x="0" y="752190"/>
                </a:cubicBezTo>
                <a:lnTo>
                  <a:pt x="0" y="33563"/>
                </a:lnTo>
                <a:cubicBezTo>
                  <a:pt x="0" y="15027"/>
                  <a:pt x="15027" y="0"/>
                  <a:pt x="33563" y="0"/>
                </a:cubicBezTo>
                <a:close/>
              </a:path>
            </a:pathLst>
          </a:custGeom>
          <a:blipFill xmlns:a="http://schemas.openxmlformats.org/drawingml/2006/main">
            <a:blip xmlns:r="http://schemas.openxmlformats.org/officeDocument/2006/relationships" r:embed="R99f3c54368c54663"/>
            <a:stretch>
              <a:fillRect l="0" t="-7643" r="0" b="-7643"/>
            </a:stretch>
          </a:blipFill>
        </p:spPr>
      </p:sp>
      <p:sp>
        <p:nvSpPr>
          <p:cNvPr id="34" name="TextBox 34">
            <a:extLst xmlns:a="http://schemas.openxmlformats.org/drawingml/2006/main">
              <a:ext uri="{FF2B5EF4-FFF2-40B4-BE49-F238E27FC236}">
                <a16:creationId xmlns:a16="http://schemas.microsoft.com/office/drawing/2014/main" id="{E037697C-AB85-413E-8B7C-36C8B831A478}"/>
              </a:ext>
            </a:extLst>
          </p:cNvPr>
          <p:cNvSpPr>
            <a:spLocks xmlns:a="http://schemas.openxmlformats.org/drawingml/2006/main" noGrp="1"/>
          </p:cNvSpPr>
          <p:nvPr/>
        </p:nvSpPr>
        <p:spPr>
          <a:xfrm xmlns:a="http://schemas.openxmlformats.org/drawingml/2006/main" rot="0" flipH="0" flipV="0">
            <a:off x="11528610" y="5848693"/>
            <a:ext cx="5154733" cy="12400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520"/>
              </a:lnSpc>
              <a:spcBef>
                <a:spcPct val="0"/>
              </a:spcBef>
              <a:buNone/>
            </a:pPr>
            <a:r>
              <a:rPr sz="1800">
                <a:solidFill>
                  <a:srgbClr val="FFFFFF"/>
                </a:solidFill>
                <a:latin typeface="Inter"/>
                <a:ea typeface="Inter"/>
                <a:cs typeface="Inter"/>
              </a:rPr>
              <a:t>Si ocurre un error mientras se registra una consulta médica, el sistema no deberá guardar información parcial y deberá cons</a:t>
            </a:r>
            <a:r>
              <a:rPr sz="1800">
                <a:solidFill>
                  <a:srgbClr val="FFFFFF"/>
                </a:solidFill>
                <a:latin typeface="Inter"/>
                <a:ea typeface="Inter"/>
                <a:cs typeface="Inter"/>
              </a:rPr>
              <a:t>ervar intacto el historial anterior de la mascota. Protección</a:t>
            </a:r>
          </a:p>
        </p:txBody>
      </p:sp>
      <p:sp>
        <p:nvSpPr>
          <p:cNvPr id="36" name="Freeform 36">
            <a:extLst xmlns:a="http://schemas.openxmlformats.org/drawingml/2006/main">
              <a:ext uri="{FF2B5EF4-FFF2-40B4-BE49-F238E27FC236}">
                <a16:creationId xmlns:a16="http://schemas.microsoft.com/office/drawing/2014/main" id="{D9A15F11-D7EF-45D5-86BA-0EDC575C5F2D}"/>
              </a:ext>
            </a:extLst>
          </p:cNvPr>
          <p:cNvSpPr>
            <a:spLocks xmlns:a="http://schemas.openxmlformats.org/drawingml/2006/main" noGrp="1"/>
          </p:cNvSpPr>
          <p:nvPr/>
        </p:nvSpPr>
        <p:spPr>
          <a:xfrm xmlns:a="http://schemas.openxmlformats.org/drawingml/2006/main" rot="0" flipH="0" flipV="0">
            <a:off x="10950468" y="5756053"/>
            <a:ext cx="244032" cy="1454012"/>
          </a:xfrm>
          <a:custGeom xmlns:a="http://schemas.openxmlformats.org/drawingml/2006/main">
            <a:rect l="l" t="t" r="r" b="b"/>
            <a:pathLst>
              <a:path w="64272" h="382950">
                <a:moveTo>
                  <a:pt x="32136" y="0"/>
                </a:moveTo>
                <a:lnTo>
                  <a:pt x="32136" y="0"/>
                </a:lnTo>
                <a:cubicBezTo>
                  <a:pt x="40659" y="0"/>
                  <a:pt x="48833" y="3386"/>
                  <a:pt x="54860" y="9412"/>
                </a:cubicBezTo>
                <a:cubicBezTo>
                  <a:pt x="60886" y="15439"/>
                  <a:pt x="64272" y="23613"/>
                  <a:pt x="64272" y="32136"/>
                </a:cubicBezTo>
                <a:lnTo>
                  <a:pt x="64272" y="350814"/>
                </a:lnTo>
                <a:cubicBezTo>
                  <a:pt x="64272" y="359337"/>
                  <a:pt x="60886" y="367511"/>
                  <a:pt x="54860" y="373537"/>
                </a:cubicBezTo>
                <a:cubicBezTo>
                  <a:pt x="48833" y="379564"/>
                  <a:pt x="40659" y="382950"/>
                  <a:pt x="32136" y="382950"/>
                </a:cubicBezTo>
                <a:lnTo>
                  <a:pt x="32136" y="382950"/>
                </a:lnTo>
                <a:cubicBezTo>
                  <a:pt x="23613" y="382950"/>
                  <a:pt x="15439" y="379564"/>
                  <a:pt x="9412" y="373537"/>
                </a:cubicBezTo>
                <a:cubicBezTo>
                  <a:pt x="3386" y="367511"/>
                  <a:pt x="0" y="359337"/>
                  <a:pt x="0" y="350814"/>
                </a:cubicBezTo>
                <a:lnTo>
                  <a:pt x="0" y="32136"/>
                </a:lnTo>
                <a:cubicBezTo>
                  <a:pt x="0" y="23613"/>
                  <a:pt x="3386" y="15439"/>
                  <a:pt x="9412" y="9412"/>
                </a:cubicBezTo>
                <a:cubicBezTo>
                  <a:pt x="15439" y="3386"/>
                  <a:pt x="23613" y="0"/>
                  <a:pt x="32136" y="0"/>
                </a:cubicBezTo>
                <a:close/>
              </a:path>
            </a:pathLst>
          </a:custGeom>
          <a:solidFill xmlns:a="http://schemas.openxmlformats.org/drawingml/2006/main">
            <a:srgbClr val="FFFFFF"/>
          </a:solidFill>
        </p:spPr>
      </p:sp>
      <p:sp>
        <p:nvSpPr>
          <p:cNvPr id="37" name="TextBox 37">
            <a:extLst xmlns:a="http://schemas.openxmlformats.org/drawingml/2006/main">
              <a:ext uri="{FF2B5EF4-FFF2-40B4-BE49-F238E27FC236}">
                <a16:creationId xmlns:a16="http://schemas.microsoft.com/office/drawing/2014/main" id="{681DB4D1-0BA1-4637-8779-87C4F4FF9B29}"/>
              </a:ext>
            </a:extLst>
          </p:cNvPr>
          <p:cNvSpPr>
            <a:spLocks xmlns:a="http://schemas.openxmlformats.org/drawingml/2006/main" noGrp="1"/>
          </p:cNvSpPr>
          <p:nvPr/>
        </p:nvSpPr>
        <p:spPr>
          <a:xfrm xmlns:a="http://schemas.openxmlformats.org/drawingml/2006/main" rot="0" flipH="0" flipV="0">
            <a:off x="10950468" y="5611393"/>
            <a:ext cx="244032" cy="159867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spcBef>
                <a:spcPct val="0"/>
              </a:spcBef>
              <a:buNone/>
            </a:pPr>
          </a:p>
        </p:txBody>
      </p:sp>
      <p:sp>
        <p:nvSpPr>
          <p:cNvPr id="38" name="TextBox 38">
            <a:extLst xmlns:a="http://schemas.openxmlformats.org/drawingml/2006/main">
              <a:ext uri="{FF2B5EF4-FFF2-40B4-BE49-F238E27FC236}">
                <a16:creationId xmlns:a16="http://schemas.microsoft.com/office/drawing/2014/main" id="{53EE736D-50B3-43BA-AF2A-EF930F68D875}"/>
              </a:ext>
            </a:extLst>
          </p:cNvPr>
          <p:cNvSpPr>
            <a:spLocks xmlns:a="http://schemas.openxmlformats.org/drawingml/2006/main" noGrp="1"/>
          </p:cNvSpPr>
          <p:nvPr/>
        </p:nvSpPr>
        <p:spPr>
          <a:xfrm xmlns:a="http://schemas.openxmlformats.org/drawingml/2006/main" rot="0">
            <a:off x="10950468" y="681990"/>
            <a:ext cx="6602488" cy="123634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10080"/>
              </a:lnSpc>
              <a:spcBef>
                <a:spcPct val="0"/>
              </a:spcBef>
              <a:buNone/>
            </a:pPr>
            <a:r>
              <a:rPr sz="7200" b="1">
                <a:solidFill>
                  <a:srgbClr val="FFFFFF"/>
                </a:solidFill>
                <a:latin typeface="Bricolage Grotesque Bold"/>
                <a:ea typeface="Bricolage Grotesque Bold"/>
                <a:cs typeface="Bricolage Grotesque Bold"/>
              </a:rPr>
              <a:t>ASRs</a:t>
            </a:r>
          </a:p>
        </p:txBody>
      </p:sp>
      <p:sp>
        <p:nvSpPr>
          <p:cNvPr id="39" name="TextBox 39">
            <a:extLst xmlns:a="http://schemas.openxmlformats.org/drawingml/2006/main">
              <a:ext uri="{FF2B5EF4-FFF2-40B4-BE49-F238E27FC236}">
                <a16:creationId xmlns:a16="http://schemas.microsoft.com/office/drawing/2014/main" id="{8EF52BEE-7D2B-4DA1-9FDB-68373760AFEA}"/>
              </a:ext>
            </a:extLst>
          </p:cNvPr>
          <p:cNvSpPr>
            <a:spLocks xmlns:a="http://schemas.openxmlformats.org/drawingml/2006/main" noGrp="1"/>
          </p:cNvSpPr>
          <p:nvPr/>
        </p:nvSpPr>
        <p:spPr>
          <a:xfrm xmlns:a="http://schemas.openxmlformats.org/drawingml/2006/main" rot="0">
            <a:off x="13051566" y="8137260"/>
            <a:ext cx="5154734" cy="15638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520"/>
              </a:lnSpc>
              <a:spcBef>
                <a:spcPct val="0"/>
              </a:spcBef>
              <a:buNone/>
            </a:pPr>
            <a:r>
              <a:rPr sz="1800">
                <a:solidFill>
                  <a:srgbClr val="FFFFFF"/>
                </a:solidFill>
                <a:latin typeface="Inter"/>
                <a:ea typeface="Inter"/>
                <a:cs typeface="Inter"/>
              </a:rPr>
              <a:t>El sistema deberá mantener separadas las configuraciones de desarrollo, pruebas y producción, evitando modificaciones del código pa</a:t>
            </a:r>
            <a:r>
              <a:rPr sz="1800">
                <a:solidFill>
                  <a:srgbClr val="FFFFFF"/>
                </a:solidFill>
                <a:latin typeface="Inter"/>
                <a:ea typeface="Inter"/>
                <a:cs typeface="Inter"/>
              </a:rPr>
              <a:t>ra cada ambiente. Facilidad de Despliegue</a:t>
            </a:r>
          </a:p>
        </p:txBody>
      </p:sp>
    </p:spTree>
    <p:extLst>
      <p:ext uri="{BB962C8B-B14F-4D97-AF65-F5344CB8AC3E}">
        <p14:creationId xmlns:p14="http://schemas.microsoft.com/office/powerpoint/2010/main" val="2003920516"/>
      </p:ext>
    </p:extLst>
  </p:cSld>
</p:sld>
</file>

<file path=ppt/slides/slide12.xml><?xml version="1.0" encoding="utf-8"?>
<p:sld xmlns:p="http://schemas.openxmlformats.org/presentationml/2006/main">
  <p:cSld>
    <p:bg>
      <p:bgPr>
        <a:solidFill xmlns:a="http://schemas.openxmlformats.org/drawingml/2006/main">
          <a:srgbClr val="022135"/>
        </a:solidFill>
      </p:bgPr>
    </p:bg>
    <p:spTree>
      <p:nvGrpSpPr>
        <p:cNvPr id="1" name=""/>
        <p:cNvGrpSpPr/>
        <p:nvPr/>
      </p:nvGrpSpPr>
      <p:grpSpPr>
        <a:xfrm xmlns:a="http://schemas.openxmlformats.org/drawingml/2006/main"/>
      </p:grpSpPr>
      <p:sp>
        <p:nvSpPr>
          <p:cNvPr id="3" name="AutoShape 3">
            <a:extLst xmlns:a="http://schemas.openxmlformats.org/drawingml/2006/main">
              <a:ext uri="{FF2B5EF4-FFF2-40B4-BE49-F238E27FC236}">
                <a16:creationId xmlns:a16="http://schemas.microsoft.com/office/drawing/2014/main" id="{38C925FA-FA28-49A6-8C87-DD2F6473B88F}"/>
              </a:ext>
            </a:extLst>
          </p:cNvPr>
          <p:cNvSpPr>
            <a:spLocks xmlns:a="http://schemas.openxmlformats.org/drawingml/2006/main" noGrp="1"/>
          </p:cNvSpPr>
          <p:nvPr/>
        </p:nvSpPr>
        <p:spPr>
          <a:xfrm xmlns:a="http://schemas.openxmlformats.org/drawingml/2006/main" rot="0" flipH="0" flipV="0">
            <a:off x="16827670" y="10477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4" name="AutoShape 4">
            <a:extLst xmlns:a="http://schemas.openxmlformats.org/drawingml/2006/main">
              <a:ext uri="{FF2B5EF4-FFF2-40B4-BE49-F238E27FC236}">
                <a16:creationId xmlns:a16="http://schemas.microsoft.com/office/drawing/2014/main" id="{3B0891FF-19D2-4CDC-AC45-0E80AB8C2223}"/>
              </a:ext>
            </a:extLst>
          </p:cNvPr>
          <p:cNvSpPr>
            <a:spLocks xmlns:a="http://schemas.openxmlformats.org/drawingml/2006/main" noGrp="1"/>
          </p:cNvSpPr>
          <p:nvPr/>
        </p:nvSpPr>
        <p:spPr>
          <a:xfrm xmlns:a="http://schemas.openxmlformats.org/drawingml/2006/main" rot="0" flipH="0" flipV="0">
            <a:off x="16827670" y="12001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5" name="AutoShape 5">
            <a:extLst xmlns:a="http://schemas.openxmlformats.org/drawingml/2006/main">
              <a:ext uri="{FF2B5EF4-FFF2-40B4-BE49-F238E27FC236}">
                <a16:creationId xmlns:a16="http://schemas.microsoft.com/office/drawing/2014/main" id="{9DD46100-7205-4AF5-B9E5-1853B7370847}"/>
              </a:ext>
            </a:extLst>
          </p:cNvPr>
          <p:cNvSpPr>
            <a:spLocks xmlns:a="http://schemas.openxmlformats.org/drawingml/2006/main" noGrp="1"/>
          </p:cNvSpPr>
          <p:nvPr/>
        </p:nvSpPr>
        <p:spPr>
          <a:xfrm xmlns:a="http://schemas.openxmlformats.org/drawingml/2006/main" rot="0" flipH="0" flipV="0">
            <a:off x="16827670" y="1352550"/>
            <a:ext cx="431629" cy="0"/>
          </a:xfrm>
          <a:prstGeom xmlns:a="http://schemas.openxmlformats.org/drawingml/2006/main" prst="line">
            <a:avLst/>
          </a:prstGeom>
          <a:ln xmlns:a="http://schemas.openxmlformats.org/drawingml/2006/main" w="50800">
            <a:solidFill>
              <a:srgbClr val="FFFFFF"/>
            </a:solidFill>
            <a:prstDash val="solid"/>
            <a:headEnd type="none" w="sm" len="sm"/>
            <a:tailEnd type="none" w="sm" len="sm"/>
          </a:ln>
        </p:spPr>
      </p:sp>
      <p:sp>
        <p:nvSpPr>
          <p:cNvPr id="6" name="Freeform 6">
            <a:extLst xmlns:a="http://schemas.openxmlformats.org/drawingml/2006/main">
              <a:ext uri="{FF2B5EF4-FFF2-40B4-BE49-F238E27FC236}">
                <a16:creationId xmlns:a16="http://schemas.microsoft.com/office/drawing/2014/main" id="{A882EAE3-E1CD-4B0B-8A96-CEC67DA2C353}"/>
              </a:ext>
            </a:extLst>
          </p:cNvPr>
          <p:cNvSpPr>
            <a:spLocks xmlns:a="http://schemas.openxmlformats.org/drawingml/2006/main" noGrp="1"/>
          </p:cNvSpPr>
          <p:nvPr/>
        </p:nvSpPr>
        <p:spPr>
          <a:xfrm xmlns:a="http://schemas.openxmlformats.org/drawingml/2006/main" rot="0" flipH="1" flipV="0">
            <a:off x="7270420" y="5943635"/>
            <a:ext cx="3385756" cy="3278015"/>
          </a:xfrm>
          <a:custGeom xmlns:a="http://schemas.openxmlformats.org/drawingml/2006/main">
            <a:rect l="l" t="t" r="r" b="b"/>
            <a:pathLst>
              <a:path w="3385756" h="3278015">
                <a:moveTo>
                  <a:pt x="3385756" y="0"/>
                </a:moveTo>
                <a:lnTo>
                  <a:pt x="0" y="0"/>
                </a:lnTo>
                <a:lnTo>
                  <a:pt x="0" y="3278015"/>
                </a:lnTo>
                <a:lnTo>
                  <a:pt x="3385756" y="3278015"/>
                </a:lnTo>
                <a:lnTo>
                  <a:pt x="3385756" y="0"/>
                </a:lnTo>
                <a:close/>
              </a:path>
            </a:pathLst>
          </a:custGeom>
          <a:blipFill xmlns:a="http://schemas.openxmlformats.org/drawingml/2006/main">
            <a:blip xmlns:r="http://schemas.openxmlformats.org/officeDocument/2006/relationships" r:embed="R4eb98fe62ee74255">
              <a:extLst>
                <a:ext uri="{96DAC541-7B7A-43D3-8B79-37D633B846F1}">
                  <asvg:svgBlip xmlns:asvg="http://schemas.microsoft.com/office/drawing/2016/SVG/main" r:embed="Re2a74f1f6192484a"/>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527E8F4F-E27B-46A5-BE10-2D0BCFAB0EA3}"/>
              </a:ext>
            </a:extLst>
          </p:cNvPr>
          <p:cNvSpPr>
            <a:spLocks xmlns:a="http://schemas.openxmlformats.org/drawingml/2006/main" noGrp="1"/>
          </p:cNvSpPr>
          <p:nvPr/>
        </p:nvSpPr>
        <p:spPr>
          <a:xfrm xmlns:a="http://schemas.openxmlformats.org/drawingml/2006/main" rot="0" flipH="0" flipV="0">
            <a:off x="1981598" y="5943635"/>
            <a:ext cx="3385756" cy="3278015"/>
          </a:xfrm>
          <a:custGeom xmlns:a="http://schemas.openxmlformats.org/drawingml/2006/main">
            <a:rect l="l" t="t" r="r" b="b"/>
            <a:pathLst>
              <a:path w="3385756" h="3278015">
                <a:moveTo>
                  <a:pt x="0" y="0"/>
                </a:moveTo>
                <a:lnTo>
                  <a:pt x="3385756" y="0"/>
                </a:lnTo>
                <a:lnTo>
                  <a:pt x="3385756" y="3278015"/>
                </a:lnTo>
                <a:lnTo>
                  <a:pt x="0" y="3278015"/>
                </a:lnTo>
                <a:lnTo>
                  <a:pt x="0" y="0"/>
                </a:lnTo>
                <a:close/>
              </a:path>
            </a:pathLst>
          </a:custGeom>
          <a:blipFill xmlns:a="http://schemas.openxmlformats.org/drawingml/2006/main">
            <a:blip xmlns:r="http://schemas.openxmlformats.org/officeDocument/2006/relationships" r:embed="R4eb98fe62ee74255">
              <a:extLst>
                <a:ext uri="{96DAC541-7B7A-43D3-8B79-37D633B846F1}">
                  <asvg:svgBlip xmlns:asvg="http://schemas.microsoft.com/office/drawing/2016/SVG/main" r:embed="Re2a74f1f6192484a"/>
                </a:ext>
              </a:extLst>
            </a:blip>
            <a:stretch>
              <a:fillRect l="0" t="0" r="0" b="0"/>
            </a:stretch>
          </a:blipFill>
        </p:spPr>
      </p:sp>
      <p:sp>
        <p:nvSpPr>
          <p:cNvPr id="8" name="TextBox 8">
            <a:extLst xmlns:a="http://schemas.openxmlformats.org/drawingml/2006/main">
              <a:ext uri="{FF2B5EF4-FFF2-40B4-BE49-F238E27FC236}">
                <a16:creationId xmlns:a16="http://schemas.microsoft.com/office/drawing/2014/main" id="{2A9F1A53-E314-450A-A93D-7D089AE7D6B7}"/>
              </a:ext>
            </a:extLst>
          </p:cNvPr>
          <p:cNvSpPr>
            <a:spLocks xmlns:a="http://schemas.openxmlformats.org/drawingml/2006/main" noGrp="1"/>
          </p:cNvSpPr>
          <p:nvPr/>
        </p:nvSpPr>
        <p:spPr>
          <a:xfrm xmlns:a="http://schemas.openxmlformats.org/drawingml/2006/main" rot="0">
            <a:off x="1981598" y="1258176"/>
            <a:ext cx="13362530" cy="404193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16219"/>
              </a:lnSpc>
              <a:spcBef>
                <a:spcPct val="0"/>
              </a:spcBef>
              <a:buNone/>
            </a:pPr>
            <a:r>
              <a:rPr sz="11585" b="1">
                <a:solidFill>
                  <a:srgbClr val="FFFFFF"/>
                </a:solidFill>
                <a:latin typeface="Bricolage Grotesque Bold"/>
                <a:ea typeface="Bricolage Grotesque Bold"/>
                <a:cs typeface="Bricolage Grotesque Bold"/>
              </a:rPr>
              <a:t>Gracias por escuchar!!</a:t>
            </a:r>
          </a:p>
        </p:txBody>
      </p:sp>
      <p:sp>
        <p:nvSpPr>
          <p:cNvPr id="10" name="Freeform 10">
            <a:extLst xmlns:a="http://schemas.openxmlformats.org/drawingml/2006/main">
              <a:ext uri="{FF2B5EF4-FFF2-40B4-BE49-F238E27FC236}">
                <a16:creationId xmlns:a16="http://schemas.microsoft.com/office/drawing/2014/main" id="{1B344F46-FF75-4B1E-907C-6BEA87B6A720}"/>
              </a:ext>
            </a:extLst>
          </p:cNvPr>
          <p:cNvSpPr>
            <a:spLocks xmlns:a="http://schemas.openxmlformats.org/drawingml/2006/main" noGrp="1"/>
          </p:cNvSpPr>
          <p:nvPr/>
        </p:nvSpPr>
        <p:spPr>
          <a:xfrm xmlns:a="http://schemas.openxmlformats.org/drawingml/2006/main" rot="0" flipH="0" flipV="0">
            <a:off x="12156093" y="1675314"/>
            <a:ext cx="4441660" cy="7546336"/>
          </a:xfrm>
          <a:custGeom xmlns:a="http://schemas.openxmlformats.org/drawingml/2006/main">
            <a:rect l="l" t="t" r="r" b="b"/>
            <a:pathLst>
              <a:path w="646358" h="1098156">
                <a:moveTo>
                  <a:pt x="78436" y="0"/>
                </a:moveTo>
                <a:lnTo>
                  <a:pt x="567922" y="0"/>
                </a:lnTo>
                <a:cubicBezTo>
                  <a:pt x="611241" y="0"/>
                  <a:pt x="646358" y="35117"/>
                  <a:pt x="646358" y="78436"/>
                </a:cubicBezTo>
                <a:lnTo>
                  <a:pt x="646358" y="1019720"/>
                </a:lnTo>
                <a:cubicBezTo>
                  <a:pt x="646358" y="1040523"/>
                  <a:pt x="638095" y="1060473"/>
                  <a:pt x="623385" y="1075183"/>
                </a:cubicBezTo>
                <a:cubicBezTo>
                  <a:pt x="608675" y="1089893"/>
                  <a:pt x="588725" y="1098156"/>
                  <a:pt x="567922" y="1098156"/>
                </a:cubicBezTo>
                <a:lnTo>
                  <a:pt x="78436" y="1098156"/>
                </a:lnTo>
                <a:cubicBezTo>
                  <a:pt x="57634" y="1098156"/>
                  <a:pt x="37683" y="1089893"/>
                  <a:pt x="22973" y="1075183"/>
                </a:cubicBezTo>
                <a:cubicBezTo>
                  <a:pt x="8264" y="1060473"/>
                  <a:pt x="0" y="1040523"/>
                  <a:pt x="0" y="1019720"/>
                </a:cubicBezTo>
                <a:lnTo>
                  <a:pt x="0" y="78436"/>
                </a:lnTo>
                <a:cubicBezTo>
                  <a:pt x="0" y="57634"/>
                  <a:pt x="8264" y="37683"/>
                  <a:pt x="22973" y="22973"/>
                </a:cubicBezTo>
                <a:cubicBezTo>
                  <a:pt x="37683" y="8264"/>
                  <a:pt x="57634" y="0"/>
                  <a:pt x="78436" y="0"/>
                </a:cubicBezTo>
                <a:close/>
              </a:path>
            </a:pathLst>
          </a:custGeom>
          <a:blipFill xmlns:a="http://schemas.openxmlformats.org/drawingml/2006/main">
            <a:blip xmlns:r="http://schemas.openxmlformats.org/officeDocument/2006/relationships" r:embed="Rbfe14d1bc6e341e2"/>
            <a:stretch>
              <a:fillRect l="-6684" t="0" r="-6684" b="0"/>
            </a:stretch>
          </a:blipFill>
        </p:spPr>
      </p:sp>
    </p:spTree>
    <p:extLst>
      <p:ext uri="{BB962C8B-B14F-4D97-AF65-F5344CB8AC3E}">
        <p14:creationId xmlns:p14="http://schemas.microsoft.com/office/powerpoint/2010/main" val="117572952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2026-09-02T03:25:58.7710000Z</dcterms:created>
  <dcterms:modified xsi:type="dcterms:W3CDTF">2026-09-02T03:25:58.7710000Z</dcterms:modified>
</coreProperties>
</file>