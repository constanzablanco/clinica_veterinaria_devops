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820f365b06462a" /><Relationship Type="http://schemas.openxmlformats.org/officeDocument/2006/relationships/extended-properties" Target="/docProps/app.xml" Id="R33d9b140262e496f" /><Relationship Type="http://schemas.openxmlformats.org/officeDocument/2006/relationships/officeDocument" Target="/ppt/presentation.xml" Id="R7c969b04619f45c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787aa568527437d"/>
  </p:sldMasterIdLst>
  <p:notesMasterIdLst>
    <p:notesMasterId xmlns:r="http://schemas.openxmlformats.org/officeDocument/2006/relationships" r:id="R7ba5d967b6124a77"/>
  </p:notesMasterIdLst>
  <p:sldIdLst>
    <p:sldId xmlns:r="http://schemas.openxmlformats.org/officeDocument/2006/relationships" id="256" r:id="Rf36802d4773c4034"/>
    <p:sldId xmlns:r="http://schemas.openxmlformats.org/officeDocument/2006/relationships" id="257" r:id="R73605ecb4d054878"/>
    <p:sldId xmlns:r="http://schemas.openxmlformats.org/officeDocument/2006/relationships" id="258" r:id="R7e55194b4aab4bd4"/>
    <p:sldId xmlns:r="http://schemas.openxmlformats.org/officeDocument/2006/relationships" id="259" r:id="R85920bfc484c472b"/>
    <p:sldId xmlns:r="http://schemas.openxmlformats.org/officeDocument/2006/relationships" id="260" r:id="R245490fbc27a4e1d"/>
    <p:sldId xmlns:r="http://schemas.openxmlformats.org/officeDocument/2006/relationships" id="261" r:id="R8a7076ac01754933"/>
    <p:sldId xmlns:r="http://schemas.openxmlformats.org/officeDocument/2006/relationships" id="262" r:id="R41c283de46fd4f68"/>
    <p:sldId xmlns:r="http://schemas.openxmlformats.org/officeDocument/2006/relationships" id="263" r:id="R9ff8f4bf90c249cc"/>
    <p:sldId xmlns:r="http://schemas.openxmlformats.org/officeDocument/2006/relationships" id="264" r:id="Rd019d24125e049b7"/>
    <p:sldId xmlns:r="http://schemas.openxmlformats.org/officeDocument/2006/relationships" id="265" r:id="R962c2e5e86b1449c"/>
    <p:sldId xmlns:r="http://schemas.openxmlformats.org/officeDocument/2006/relationships" id="266" r:id="R2c0ab77c84e34b9a"/>
    <p:sldId xmlns:r="http://schemas.openxmlformats.org/officeDocument/2006/relationships" id="267" r:id="R00f437a8dfdd41cd"/>
  </p:sldIdLst>
  <p:sldSz cx="18288000" cy="10287000"/>
  <p:notesSz cx="6858000" cy="9144000"/>
  <p:embeddedFontLst>
    <p:embeddedFont>
      <p:font typeface="Bricolage Grotesque Bold"/>
      <p:regular xmlns:r="http://schemas.openxmlformats.org/officeDocument/2006/relationships" r:id="R48d4aabc6145486c"/>
    </p:embeddedFont>
    <p:embeddedFont>
      <p:font typeface="Inter"/>
      <p:regular xmlns:r="http://schemas.openxmlformats.org/officeDocument/2006/relationships" r:id="R68810c9f5f974e89"/>
    </p:embeddedFont>
    <p:embeddedFont>
      <p:font typeface="Inter Medium"/>
      <p:regular xmlns:r="http://schemas.openxmlformats.org/officeDocument/2006/relationships" r:id="R7373a207851f4610"/>
    </p:embeddedFont>
    <p:embeddedFont>
      <p:font typeface="Inter Bold"/>
      <p:regular xmlns:r="http://schemas.openxmlformats.org/officeDocument/2006/relationships" r:id="R018e5a623d2d4861"/>
    </p:embeddedFont>
    <p:embeddedFont>
      <p:font typeface="Canva Sans"/>
      <p:regular xmlns:r="http://schemas.openxmlformats.org/officeDocument/2006/relationships" r:id="R2b7df6de6f51434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c657a5af248d0" /><Relationship Type="http://schemas.openxmlformats.org/officeDocument/2006/relationships/slideMaster" Target="/ppt/slideMasters/slideMaster1.xml" Id="Rf787aa568527437d" /><Relationship Type="http://schemas.openxmlformats.org/officeDocument/2006/relationships/notesMaster" Target="/ppt/notesMasters/notesMaster1.xml" Id="R7ba5d967b6124a77" /><Relationship Type="http://schemas.openxmlformats.org/officeDocument/2006/relationships/presProps" Target="/ppt/presProps.xml" Id="Rdd87fda71fde4123" /><Relationship Type="http://schemas.openxmlformats.org/officeDocument/2006/relationships/viewProps" Target="/ppt/viewProps.xml" Id="Rc70ab468d9f24309" /><Relationship Type="http://schemas.openxmlformats.org/officeDocument/2006/relationships/tableStyles" Target="/ppt/tableStyles.xml" Id="R6e01bd4c3dbd4508" /><Relationship Type="http://schemas.openxmlformats.org/officeDocument/2006/relationships/font" Target="/ppt/fonts/font.dat" Id="R48d4aabc6145486c" /><Relationship Type="http://schemas.openxmlformats.org/officeDocument/2006/relationships/font" Target="/ppt/fonts/font2.dat" Id="R68810c9f5f974e89" /><Relationship Type="http://schemas.openxmlformats.org/officeDocument/2006/relationships/font" Target="/ppt/fonts/font3.dat" Id="R7373a207851f4610" /><Relationship Type="http://schemas.openxmlformats.org/officeDocument/2006/relationships/font" Target="/ppt/fonts/font4.dat" Id="R018e5a623d2d4861" /><Relationship Type="http://schemas.openxmlformats.org/officeDocument/2006/relationships/font" Target="/ppt/fonts/font5.dat" Id="R2b7df6de6f514345" /><Relationship Type="http://schemas.openxmlformats.org/officeDocument/2006/relationships/slide" Target="/ppt/slides/slide1.xml" Id="Rf36802d4773c4034" /><Relationship Type="http://schemas.openxmlformats.org/officeDocument/2006/relationships/slide" Target="/ppt/slides/slide2.xml" Id="R73605ecb4d054878" /><Relationship Type="http://schemas.openxmlformats.org/officeDocument/2006/relationships/slide" Target="/ppt/slides/slide3.xml" Id="R7e55194b4aab4bd4" /><Relationship Type="http://schemas.openxmlformats.org/officeDocument/2006/relationships/slide" Target="/ppt/slides/slide4.xml" Id="R85920bfc484c472b" /><Relationship Type="http://schemas.openxmlformats.org/officeDocument/2006/relationships/slide" Target="/ppt/slides/slide5.xml" Id="R245490fbc27a4e1d" /><Relationship Type="http://schemas.openxmlformats.org/officeDocument/2006/relationships/slide" Target="/ppt/slides/slide6.xml" Id="R8a7076ac01754933" /><Relationship Type="http://schemas.openxmlformats.org/officeDocument/2006/relationships/slide" Target="/ppt/slides/slide7.xml" Id="R41c283de46fd4f68" /><Relationship Type="http://schemas.openxmlformats.org/officeDocument/2006/relationships/slide" Target="/ppt/slides/slide8.xml" Id="R9ff8f4bf90c249cc" /><Relationship Type="http://schemas.openxmlformats.org/officeDocument/2006/relationships/slide" Target="/ppt/slides/slide9.xml" Id="Rd019d24125e049b7" /><Relationship Type="http://schemas.openxmlformats.org/officeDocument/2006/relationships/slide" Target="/ppt/slides/slide10.xml" Id="R962c2e5e86b1449c" /><Relationship Type="http://schemas.openxmlformats.org/officeDocument/2006/relationships/slide" Target="/ppt/slides/slide11.xml" Id="R2c0ab77c84e34b9a" /><Relationship Type="http://schemas.openxmlformats.org/officeDocument/2006/relationships/slide" Target="/ppt/slides/slide12.xml" Id="R00f437a8dfdd41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99a9d375b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f4d441ce174ad0" /><Relationship Type="http://schemas.openxmlformats.org/officeDocument/2006/relationships/notesMaster" Target="/ppt/notesMasters/notesMaster1.xml" Id="Rc09932a24b3143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b30ad2f26240dd" /><Relationship Type="http://schemas.openxmlformats.org/officeDocument/2006/relationships/notesMaster" Target="/ppt/notesMasters/notesMaster1.xml" Id="R395a381c64014a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75d7ea5c654c0f" /><Relationship Type="http://schemas.openxmlformats.org/officeDocument/2006/relationships/notesMaster" Target="/ppt/notesMasters/notesMaster1.xml" Id="Reebeca2d1ae44e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c2b07165b34670" /><Relationship Type="http://schemas.openxmlformats.org/officeDocument/2006/relationships/notesMaster" Target="/ppt/notesMasters/notesMaster1.xml" Id="Ra11b1eb8710041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5856233e3d4bc4" /><Relationship Type="http://schemas.openxmlformats.org/officeDocument/2006/relationships/notesMaster" Target="/ppt/notesMasters/notesMaster1.xml" Id="R2ffe467971b74b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1b5108186a480c" /><Relationship Type="http://schemas.openxmlformats.org/officeDocument/2006/relationships/notesMaster" Target="/ppt/notesMasters/notesMaster1.xml" Id="Re6f31b690c424d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71f5463b664cfa" /><Relationship Type="http://schemas.openxmlformats.org/officeDocument/2006/relationships/notesMaster" Target="/ppt/notesMasters/notesMaster1.xml" Id="R917c7b478e55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bd6803016b4a30" /><Relationship Type="http://schemas.openxmlformats.org/officeDocument/2006/relationships/notesMaster" Target="/ppt/notesMasters/notesMaster1.xml" Id="R06e88f3adf4b47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b2df4336ed4fda" /><Relationship Type="http://schemas.openxmlformats.org/officeDocument/2006/relationships/notesMaster" Target="/ppt/notesMasters/notesMaster1.xml" Id="R37ac3eebcf424a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3d50ae644d4ba7" /><Relationship Type="http://schemas.openxmlformats.org/officeDocument/2006/relationships/notesMaster" Target="/ppt/notesMasters/notesMaster1.xml" Id="R951d1ea1c2cb4d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f5ceaf34ee4a13" /><Relationship Type="http://schemas.openxmlformats.org/officeDocument/2006/relationships/notesMaster" Target="/ppt/notesMasters/notesMaster1.xml" Id="Rd7d2a13f810746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82a1618cd14bd9" /><Relationship Type="http://schemas.openxmlformats.org/officeDocument/2006/relationships/notesMaster" Target="/ppt/notesMasters/notesMaster1.xml" Id="R40e90312b3994b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30 segundos.</a:t>
            </a:r>
            <a:endParaRPr/>
          </a:p>
          <a:p xmlns:a="http://schemas.openxmlformats.org/drawingml/2006/main">
            <a:r>
              <a:t>Presentar al equipo y anticipar la idea central: demostrar cuatro tácticas sobre una API REST real, no solamente describirlas.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Consigna TFU2 y documentación interna de Pet-Core.</a:t>
            </a:r>
            <a:endParaRPr/>
          </a:p>
          <a:p xmlns:a="http://schemas.openxmlformats.org/drawingml/2006/main">
            <a:r>
              <a:t>- Repositorio local: compose.yaml, nginx/andis.conf, README.md, scripts y código de la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</a:t>
            </a:r>
          </a:p>
          <a:p xmlns:a="http://schemas.openxmlformats.org/drawingml/2006/main">
            <a:r>
              <a:t>Explicar que la separación de roles es una decisión central: el cliente ve sus mascotas, el veterinario trabaja con información clínica y el administrador opera la agenda sin leer diagnósticos.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30 segundos.</a:t>
            </a:r>
          </a:p>
          <a:p xmlns:a="http://schemas.openxmlformats.org/drawingml/2006/main">
            <a:r>
              <a:t>Aclarar que los ASR provienen del trabajo anterior. La combinación elegida es una de las permitidas: replicación y reintentos para disponibilidad, más autenticar y autorizar actores para resistir ataques.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30 segundos.</a:t>
            </a:r>
          </a:p>
          <a:p xmlns:a="http://schemas.openxmlformats.org/drawingml/2006/main">
            <a:r>
              <a:t>Recorrer el pedido de izquierda a derecha. Señalar que no existen dos bases: hay un solo PostgreSQL compartido. La demostración de replicación cubre la API; la base sigue siendo un punto único de falla y se reconoce como limitación.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15 segundos.</a:t>
            </a:r>
          </a:p>
          <a:p xmlns:a="http://schemas.openxmlformats.org/drawingml/2006/main">
            <a:r>
              <a:t>Diferenciar los conceptos: autenticación identifica; autorización verifica permisos; reintentos absorbe fallas breves; replicación mantiene el servicio si una instancia completa cae.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15 segundos.</a:t>
            </a:r>
          </a:p>
          <a:p xmlns:a="http://schemas.openxmlformats.org/drawingml/2006/main">
            <a:r>
              <a:t>Abrir Postman y la terminal. Las cuatro demostraciones deben ocupar aproximadamente 7 minutos en total. Mantener esta diapositiva como respaldo si la demo tarda en abrir.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 de demo: 1 minuto 15 segundos.</a:t>
            </a:r>
          </a:p>
          <a:p xmlns:a="http://schemas.openxmlformats.org/drawingml/2006/main">
            <a:r>
              <a:t>En Postman abrir Seguridad_Collection y ejecutar las peticiones 1, 2 y 3. Mostrar que el mismo recurso primero rechaza la solicitud y luego la acepta al recibir Authorization: Bearer &lt;token&gt;.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 de demo: 1 minuto 15 segundos.</a:t>
            </a:r>
          </a:p>
          <a:p xmlns:a="http://schemas.openxmlformats.org/drawingml/2006/main">
            <a:r>
              <a:t>Continuar con las peticiones 4, 5 y 6 de Seguridad_Collection. Subrayar que 403 no significa identidad desconocida: el cliente fue autenticado, pero su rol no tiene permiso para consultar la agenda veterinaria.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 de demo: 2 minutos 15 segundos.</a:t>
            </a:r>
          </a:p>
          <a:p xmlns:a="http://schemas.openxmlformats.org/drawingml/2006/main">
            <a:r>
              <a:t>Usar Replicacion_Collection. Ejecutar varias veces Identificar instancia y mostrar dos hostnames. En terminal detener server-1. Repetir la petición: debe seguir en 200 desde la réplica activa. Si aparece X-Upstream-Status: 502, 200, señalar que Nginx falló contra una réplica y reintentó con la otra.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 de demo: 2 minutos 15 segundos.</a:t>
            </a:r>
          </a:p>
          <a:p xmlns:a="http://schemas.openxmlformats.org/drawingml/2006/main">
            <a:r>
              <a:t>Dejar temporalmente una sola réplica porque la falla simulada vive en memoria. Usar Re-intentos_Collection: login, simular 2 fallas, GET /mascotas y consultar el último intento. Mostrar intentos_usados: 3, exitoso: true y la demora cercana a 1,5 segundos.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</a:t>
            </a:r>
          </a:p>
          <a:p xmlns:a="http://schemas.openxmlformats.org/drawingml/2006/main">
            <a:r>
              <a:t>Reconocer los trade-offs demuestra criterio arquitectónico. La base de datos única es una limitación explícita: esta demo prueba recuperación ante la caída de una instancia de aplicación, no alta disponibilidad total de todos los componentes.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</a:t>
            </a:r>
          </a:p>
          <a:p xmlns:a="http://schemas.openxmlformats.org/drawingml/2006/main">
            <a:r>
              <a:t>Cerrar con tres ideas: cuatro tácticas demostradas sobre una API real; satisfacen requerimientos anteriores, no inventados para esta entrega; y cada beneficio tiene un costo reconocido. Abrir el espacio para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y documentación interna de Pet-Core.</a:t>
            </a:r>
          </a:p>
          <a:p xmlns:a="http://schemas.openxmlformats.org/drawingml/2006/main">
            <a:r>
              <a:t>- Repositorio local: compose.yaml, nginx/andis.conf, README.md, scripts y código de la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18f89f8f84e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a157c116649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72e1db39a46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b1711eb3e43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155817bbe4c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6e05a20d54a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24d6a20d844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a415b2eb14e4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54d533e7d407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7d76c27724af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2184fffe849c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077277-2909-47BF-9189-685888A851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CC3A95-A8AE-43C4-A811-8B2AACDA59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94ECF4-5B28-4E2D-B686-2CD8318BF8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BABA5B-1609-42A2-A9C3-6F529847A9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E91576-21AF-430E-9C90-1C5680E885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5425F9-F25E-4146-BD30-C77FB0559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A9AA65-D0A2-4DD7-95DD-7FA6DB104D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AA9DA6-1041-4D84-A6DE-67CAE1E199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3991E2-1358-4D89-8A59-BC4ADC92F8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EBB6B6-EB1B-4396-86B7-292A1F4CA0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A99EA0-FDE9-4B6E-9284-471238911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823D84-5DE9-427E-B4A0-05DD4ECCF8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321B0B-DA98-409C-A615-44A11FC777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311201-643B-4907-9C6C-C9D948F4C3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D557DB-4881-4F3C-8CEB-F747A6310A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F9D777-B570-490A-BB83-1E79FB8E1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2D5F91A-9C9E-4771-B8AA-807AC4B032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AE66D7-D61C-4F29-8478-156DBD80AB3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6DC2CC-7B4B-413F-B81B-D07CCCE4D5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AE172A-DF11-4540-8555-ADA162D995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5C28A7-EF7C-4136-B930-5AFACC7E20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A68A11-2A46-4FF6-98A2-ABFDBBE39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89BC6A-B466-4764-AEDD-7555B544D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D693355-C36C-43E1-80FA-E1C2FB233B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1078E40-C1A9-443F-B866-6784BE21D62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F28A5D6-A061-4FA9-BE78-7F126981CC0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9A8BA86-EA31-4D4E-B554-F21069B25C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83EA7F4-B72A-4AF5-9CC8-3BFD06006E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14B9699-2912-4CD1-BCDA-9CCB8A0F35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FFB4EC-D86C-4726-95DE-74346DAC1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24A0C4E-18A9-446A-9DD1-4DA78E6B01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9EC3ABE-A7E3-4B4E-9372-2E23993CD6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D06421B-4879-4A37-89A1-203F4F4AA6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6AD4CF7-EA6E-4572-BE2D-D3F949409B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F9178E2-6E34-4B5F-912B-EE88B91D9B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044F99E-5CE9-4543-937D-E702268A0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E82DE7-BEE3-4F8D-B0FA-C3B87BB63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F130EE-A5A6-4398-A7EC-D6933829BF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1540C3-440A-4715-917E-081C41DE11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A0D168B-0C62-42BB-A50C-0EEAEDA5D0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E372241-00FE-43A2-8245-148DA673CA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B14903F-D5C3-43AF-A687-C564628492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A74352-9CD0-4C6F-86F1-67A0F9B6BB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5AA3528-9110-40C2-8B7B-C1E5DC438A0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0F7C47-523A-4FDF-8715-B65BE1DAD0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099E32A-AC9C-4DBB-8B64-4BA27BC459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C5D4D42-078F-4F76-A9E8-DAF1F1EF6E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1E3DFD6-F393-48C5-B8FB-7F1D850966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34BD6-0242-47DF-AD13-73D701B47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14114C-50E3-4311-A3BF-7AC2D5298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84F72F-079A-40B3-AE1C-2E412F71D2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5C4A72-99AD-483E-9CD6-4E23739347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1F9BB6-02A4-4B86-977F-5154D78460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475D6EB-0417-4170-B02A-5F637A4362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D5C057-DB57-46CB-9A33-0A388924D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14577C-B8D4-49F0-8CF5-A5F5F191CB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E8AA42-A8B1-4961-89D6-7789A0DC3F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83B620-1011-4160-85DC-B3D68C770E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13acd8c15b4ea7" /><Relationship Type="http://schemas.openxmlformats.org/officeDocument/2006/relationships/slideLayout" Target="/ppt/slideLayouts/slideLayout1.xml" Id="Rdfd260b1ea7141d3" /><Relationship Type="http://schemas.openxmlformats.org/officeDocument/2006/relationships/slideLayout" Target="/ppt/slideLayouts/slideLayout2.xml" Id="R6faaefb200424ec2" /><Relationship Type="http://schemas.openxmlformats.org/officeDocument/2006/relationships/slideLayout" Target="/ppt/slideLayouts/slideLayout3.xml" Id="Rd7a711f5351947ee" /><Relationship Type="http://schemas.openxmlformats.org/officeDocument/2006/relationships/slideLayout" Target="/ppt/slideLayouts/slideLayout4.xml" Id="Rd680433062f8412a" /><Relationship Type="http://schemas.openxmlformats.org/officeDocument/2006/relationships/slideLayout" Target="/ppt/slideLayouts/slideLayout5.xml" Id="Rd46909528c65468b" /><Relationship Type="http://schemas.openxmlformats.org/officeDocument/2006/relationships/slideLayout" Target="/ppt/slideLayouts/slideLayout6.xml" Id="R492be6ffc51944ed" /><Relationship Type="http://schemas.openxmlformats.org/officeDocument/2006/relationships/slideLayout" Target="/ppt/slideLayouts/slideLayout7.xml" Id="Rad536e7a7bd14bd9" /><Relationship Type="http://schemas.openxmlformats.org/officeDocument/2006/relationships/slideLayout" Target="/ppt/slideLayouts/slideLayout8.xml" Id="Rba23cdc1ba064f30" /><Relationship Type="http://schemas.openxmlformats.org/officeDocument/2006/relationships/slideLayout" Target="/ppt/slideLayouts/slideLayout9.xml" Id="R3b2b1650315240ff" /><Relationship Type="http://schemas.openxmlformats.org/officeDocument/2006/relationships/slideLayout" Target="/ppt/slideLayouts/slideLayout10.xml" Id="R9b1c1889f1974872" /><Relationship Type="http://schemas.openxmlformats.org/officeDocument/2006/relationships/slideLayout" Target="/ppt/slideLayouts/slideLayout11.xml" Id="Rb064d46f279e4ac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B3F64DC-D5D3-42A7-B329-C93A6EFC0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0FEE78-F5FD-49D2-A133-8EEA4D540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52C28D-1C1C-42DA-BB9E-8CDB43AD32B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1EB1E5-DFF8-48F2-BE39-9BBEF4DC71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E61083-00AC-4BC1-9EF7-75DE32C94F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260b1ea7141d3"/>
    <p:sldLayoutId xmlns:r="http://schemas.openxmlformats.org/officeDocument/2006/relationships" id="2147483650" r:id="R6faaefb200424ec2"/>
    <p:sldLayoutId xmlns:r="http://schemas.openxmlformats.org/officeDocument/2006/relationships" id="2147483651" r:id="Rd7a711f5351947ee"/>
    <p:sldLayoutId xmlns:r="http://schemas.openxmlformats.org/officeDocument/2006/relationships" id="2147483652" r:id="Rd680433062f8412a"/>
    <p:sldLayoutId xmlns:r="http://schemas.openxmlformats.org/officeDocument/2006/relationships" id="2147483653" r:id="Rd46909528c65468b"/>
    <p:sldLayoutId xmlns:r="http://schemas.openxmlformats.org/officeDocument/2006/relationships" id="2147483654" r:id="R492be6ffc51944ed"/>
    <p:sldLayoutId xmlns:r="http://schemas.openxmlformats.org/officeDocument/2006/relationships" id="2147483655" r:id="Rad536e7a7bd14bd9"/>
    <p:sldLayoutId xmlns:r="http://schemas.openxmlformats.org/officeDocument/2006/relationships" id="2147483656" r:id="Rba23cdc1ba064f30"/>
    <p:sldLayoutId xmlns:r="http://schemas.openxmlformats.org/officeDocument/2006/relationships" id="2147483657" r:id="R3b2b1650315240ff"/>
    <p:sldLayoutId xmlns:r="http://schemas.openxmlformats.org/officeDocument/2006/relationships" id="2147483658" r:id="R9b1c1889f1974872"/>
    <p:sldLayoutId xmlns:r="http://schemas.openxmlformats.org/officeDocument/2006/relationships" id="2147483659" r:id="Rb064d46f279e4ac7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6a677f1e03485e" /><Relationship Type="http://schemas.openxmlformats.org/officeDocument/2006/relationships/image" Target="/ppt/media/image.jpeg" Id="R26eade1585e44222" /><Relationship Type="http://schemas.openxmlformats.org/officeDocument/2006/relationships/image" Target="/ppt/media/image.svg" Id="R90fb558921f1489b" /><Relationship Type="http://schemas.openxmlformats.org/officeDocument/2006/relationships/image" Target="/ppt/media/image2.jpeg" Id="R10e73fa5802b4ff8" /><Relationship Type="http://schemas.openxmlformats.org/officeDocument/2006/relationships/image" Target="/ppt/media/image2.svg" Id="R9494d88aaa8d44fc" /><Relationship Type="http://schemas.openxmlformats.org/officeDocument/2006/relationships/image" Target="/ppt/media/image.png" Id="R63359ecde4f34e16" /><Relationship Type="http://schemas.openxmlformats.org/officeDocument/2006/relationships/image" Target="/ppt/media/image3.svg" Id="R1ce42821a5754f82" /><Relationship Type="http://schemas.openxmlformats.org/officeDocument/2006/relationships/notesSlide" Target="/ppt/notesSlides/notesSlide1.xml" Id="R4468b1a217714c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6a83caa840440f" /><Relationship Type="http://schemas.openxmlformats.org/officeDocument/2006/relationships/image" Target="/ppt/media/image.jpeg" Id="R3efa55a2f3924e4f" /><Relationship Type="http://schemas.openxmlformats.org/officeDocument/2006/relationships/image" Target="/ppt/media/image.svg" Id="Rf4952f81402b4bcf" /><Relationship Type="http://schemas.openxmlformats.org/officeDocument/2006/relationships/image" Target="/ppt/media/image.png" Id="Ra5645e6686c94691" /><Relationship Type="http://schemas.openxmlformats.org/officeDocument/2006/relationships/image" Target="/ppt/media/image3.svg" Id="R72a83700099948b1" /><Relationship Type="http://schemas.openxmlformats.org/officeDocument/2006/relationships/notesSlide" Target="/ppt/notesSlides/notesSlide2.xml" Id="Rf8f76563d29a45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1f45d797c84fed" /><Relationship Type="http://schemas.openxmlformats.org/officeDocument/2006/relationships/image" Target="/ppt/media/image.jpeg" Id="R1402f327c91c463b" /><Relationship Type="http://schemas.openxmlformats.org/officeDocument/2006/relationships/image" Target="/ppt/media/image.svg" Id="Ra62f3701f2614b01" /><Relationship Type="http://schemas.openxmlformats.org/officeDocument/2006/relationships/notesSlide" Target="/ppt/notesSlides/notesSlide3.xml" Id="Rbdfeefca37c444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ed81dc61264781" /><Relationship Type="http://schemas.openxmlformats.org/officeDocument/2006/relationships/image" Target="/ppt/media/image.jpeg" Id="Rde04fd0367934e06" /><Relationship Type="http://schemas.openxmlformats.org/officeDocument/2006/relationships/image" Target="/ppt/media/image.svg" Id="Rbee386ec6c4f4d6c" /><Relationship Type="http://schemas.openxmlformats.org/officeDocument/2006/relationships/image" Target="/ppt/media/image2.png" Id="Rb6e628ed629f4df6" /><Relationship Type="http://schemas.openxmlformats.org/officeDocument/2006/relationships/image" Target="/ppt/media/image4.svg" Id="R8fc85a9b3a2e4622" /><Relationship Type="http://schemas.openxmlformats.org/officeDocument/2006/relationships/image" Target="/ppt/media/image3.png" Id="Rbfda41a0e1734e69" /><Relationship Type="http://schemas.openxmlformats.org/officeDocument/2006/relationships/image" Target="/ppt/media/image5.svg" Id="R6d38ceee93c449de" /><Relationship Type="http://schemas.openxmlformats.org/officeDocument/2006/relationships/notesSlide" Target="/ppt/notesSlides/notesSlide4.xml" Id="Rcfefbb761b5147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3607d7531a446b" /><Relationship Type="http://schemas.openxmlformats.org/officeDocument/2006/relationships/image" Target="/ppt/media/image.jpeg" Id="R27262516100a47ca" /><Relationship Type="http://schemas.openxmlformats.org/officeDocument/2006/relationships/image" Target="/ppt/media/image.svg" Id="R5b08f58f2149460c" /><Relationship Type="http://schemas.openxmlformats.org/officeDocument/2006/relationships/image" Target="/ppt/media/image4.png" Id="R5d0fd0653f1b4d43" /><Relationship Type="http://schemas.openxmlformats.org/officeDocument/2006/relationships/image" Target="/ppt/media/image6.svg" Id="Ra3a6130428e34682" /><Relationship Type="http://schemas.openxmlformats.org/officeDocument/2006/relationships/image" Target="/ppt/media/image5.png" Id="R15bf2294076d4f00" /><Relationship Type="http://schemas.openxmlformats.org/officeDocument/2006/relationships/image" Target="/ppt/media/image7.svg" Id="R9e8d36605546422b" /><Relationship Type="http://schemas.openxmlformats.org/officeDocument/2006/relationships/image" Target="/ppt/media/image6.png" Id="R30f7ce77b7a642a1" /><Relationship Type="http://schemas.openxmlformats.org/officeDocument/2006/relationships/image" Target="/ppt/media/image8.svg" Id="Re412399dcb934431" /><Relationship Type="http://schemas.openxmlformats.org/officeDocument/2006/relationships/notesSlide" Target="/ppt/notesSlides/notesSlide5.xml" Id="R7f3b1b291a7d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82191d692a4d0e" /><Relationship Type="http://schemas.openxmlformats.org/officeDocument/2006/relationships/image" Target="/ppt/media/image.jpeg" Id="R4c2abafc7b0e46e6" /><Relationship Type="http://schemas.openxmlformats.org/officeDocument/2006/relationships/image" Target="/ppt/media/image.svg" Id="R89d119252e98466c" /><Relationship Type="http://schemas.openxmlformats.org/officeDocument/2006/relationships/notesSlide" Target="/ppt/notesSlides/notesSlide6.xml" Id="R27aece79b94049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66bbe2529442b9" /><Relationship Type="http://schemas.openxmlformats.org/officeDocument/2006/relationships/image" Target="/ppt/media/image.jpeg" Id="Rd86b36d8026b4f71" /><Relationship Type="http://schemas.openxmlformats.org/officeDocument/2006/relationships/image" Target="/ppt/media/image.svg" Id="R43fd0d5150604e35" /><Relationship Type="http://schemas.openxmlformats.org/officeDocument/2006/relationships/image" Target="/ppt/media/image.png" Id="R797b53eb9f26481a" /><Relationship Type="http://schemas.openxmlformats.org/officeDocument/2006/relationships/image" Target="/ppt/media/image3.svg" Id="R59149d02cae14764" /><Relationship Type="http://schemas.openxmlformats.org/officeDocument/2006/relationships/notesSlide" Target="/ppt/notesSlides/notesSlide7.xml" Id="Rbdb7a812e105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e1323022b84d64" /><Relationship Type="http://schemas.openxmlformats.org/officeDocument/2006/relationships/image" Target="/ppt/media/image.jpeg" Id="Rea76a29134b0401d" /><Relationship Type="http://schemas.openxmlformats.org/officeDocument/2006/relationships/image" Target="/ppt/media/image.svg" Id="R6d1d498d81f14464" /><Relationship Type="http://schemas.openxmlformats.org/officeDocument/2006/relationships/image" Target="/ppt/media/image.png" Id="R86763fb1734f4bed" /><Relationship Type="http://schemas.openxmlformats.org/officeDocument/2006/relationships/image" Target="/ppt/media/image3.svg" Id="Rf7d437dcce414d26" /><Relationship Type="http://schemas.openxmlformats.org/officeDocument/2006/relationships/notesSlide" Target="/ppt/notesSlides/notesSlide8.xml" Id="Rbee046727c3f48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1d1e92da6748d3" /><Relationship Type="http://schemas.openxmlformats.org/officeDocument/2006/relationships/image" Target="/ppt/media/image.jpeg" Id="Rd63883d239384f1c" /><Relationship Type="http://schemas.openxmlformats.org/officeDocument/2006/relationships/image" Target="/ppt/media/image.svg" Id="Rbb745de048be4792" /><Relationship Type="http://schemas.openxmlformats.org/officeDocument/2006/relationships/image" Target="/ppt/media/image2.png" Id="Rb83be2d272c44d55" /><Relationship Type="http://schemas.openxmlformats.org/officeDocument/2006/relationships/image" Target="/ppt/media/image4.svg" Id="Rcadd8234a2474b54" /><Relationship Type="http://schemas.openxmlformats.org/officeDocument/2006/relationships/image" Target="/ppt/media/image3.png" Id="R12db414152b54017" /><Relationship Type="http://schemas.openxmlformats.org/officeDocument/2006/relationships/image" Target="/ppt/media/image5.svg" Id="R4c63045187a44a0d" /><Relationship Type="http://schemas.openxmlformats.org/officeDocument/2006/relationships/notesSlide" Target="/ppt/notesSlides/notesSlide9.xml" Id="R16dbfc1761e54e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23d0048c604cb8" /><Relationship Type="http://schemas.openxmlformats.org/officeDocument/2006/relationships/image" Target="/ppt/media/image.jpeg" Id="R98e6bd887b0b4d26" /><Relationship Type="http://schemas.openxmlformats.org/officeDocument/2006/relationships/image" Target="/ppt/media/image.svg" Id="Ref9ba7a8a5bb42da" /><Relationship Type="http://schemas.openxmlformats.org/officeDocument/2006/relationships/image" Target="/ppt/media/image2.png" Id="Rdc88dad89d204229" /><Relationship Type="http://schemas.openxmlformats.org/officeDocument/2006/relationships/image" Target="/ppt/media/image4.svg" Id="R2f18cd0617d341d2" /><Relationship Type="http://schemas.openxmlformats.org/officeDocument/2006/relationships/image" Target="/ppt/media/image3.png" Id="R7defbbb8ebf14d10" /><Relationship Type="http://schemas.openxmlformats.org/officeDocument/2006/relationships/image" Target="/ppt/media/image5.svg" Id="Rf8dde98445554676" /><Relationship Type="http://schemas.openxmlformats.org/officeDocument/2006/relationships/notesSlide" Target="/ppt/notesSlides/notesSlide10.xml" Id="R6a18b5d1a91a4a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3666a109cc467c" /><Relationship Type="http://schemas.openxmlformats.org/officeDocument/2006/relationships/image" Target="/ppt/media/image.jpeg" Id="R0b6dfb312d794416" /><Relationship Type="http://schemas.openxmlformats.org/officeDocument/2006/relationships/image" Target="/ppt/media/image.svg" Id="R2f8fd053f37341e8" /><Relationship Type="http://schemas.openxmlformats.org/officeDocument/2006/relationships/notesSlide" Target="/ppt/notesSlides/notesSlide11.xml" Id="R6e64b1b4115147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40589650d448c3" /><Relationship Type="http://schemas.openxmlformats.org/officeDocument/2006/relationships/image" Target="/ppt/media/image.jpeg" Id="Reaca645070424ba1" /><Relationship Type="http://schemas.openxmlformats.org/officeDocument/2006/relationships/image" Target="/ppt/media/image.svg" Id="Rd490b37f0b324f17" /><Relationship Type="http://schemas.openxmlformats.org/officeDocument/2006/relationships/image" Target="/ppt/media/image2.jpeg" Id="Re9d036807c4c42bd" /><Relationship Type="http://schemas.openxmlformats.org/officeDocument/2006/relationships/notesSlide" Target="/ppt/notesSlides/notesSlide12.xml" Id="R903d0f414fd245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CD2C32E-52A5-445E-9C34-1CB7FAE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6167844"/>
            <a:ext cx="254200" cy="1162177"/>
          </a:xfrm>
          <a:custGeom xmlns:a="http://schemas.openxmlformats.org/drawingml/2006/main">
            <a:rect l="l" t="t" r="r" b="b"/>
            <a:pathLst>
              <a:path w="66950" h="306088">
                <a:moveTo>
                  <a:pt x="33475" y="0"/>
                </a:moveTo>
                <a:lnTo>
                  <a:pt x="33475" y="0"/>
                </a:lnTo>
                <a:cubicBezTo>
                  <a:pt x="42353" y="0"/>
                  <a:pt x="50868" y="3527"/>
                  <a:pt x="57145" y="9805"/>
                </a:cubicBezTo>
                <a:cubicBezTo>
                  <a:pt x="63423" y="16082"/>
                  <a:pt x="66950" y="24597"/>
                  <a:pt x="66950" y="33475"/>
                </a:cubicBezTo>
                <a:lnTo>
                  <a:pt x="66950" y="272613"/>
                </a:lnTo>
                <a:cubicBezTo>
                  <a:pt x="66950" y="291100"/>
                  <a:pt x="51963" y="306088"/>
                  <a:pt x="33475" y="306088"/>
                </a:cubicBezTo>
                <a:lnTo>
                  <a:pt x="33475" y="306088"/>
                </a:lnTo>
                <a:cubicBezTo>
                  <a:pt x="14987" y="306088"/>
                  <a:pt x="0" y="291100"/>
                  <a:pt x="0" y="272613"/>
                </a:cubicBezTo>
                <a:lnTo>
                  <a:pt x="0" y="33475"/>
                </a:lnTo>
                <a:cubicBezTo>
                  <a:pt x="0" y="14987"/>
                  <a:pt x="14987" y="0"/>
                  <a:pt x="334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BC823A1-696B-4B94-BD86-126EBEB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6023184"/>
            <a:ext cx="254200" cy="13068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3883F11-956B-4939-B682-7F49B350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54174" y="7197560"/>
            <a:ext cx="3746991" cy="3627755"/>
          </a:xfrm>
          <a:custGeom xmlns:a="http://schemas.openxmlformats.org/drawingml/2006/main">
            <a:rect l="l" t="t" r="r" b="b"/>
            <a:pathLst>
              <a:path w="3746991" h="3627755">
                <a:moveTo>
                  <a:pt x="0" y="0"/>
                </a:moveTo>
                <a:lnTo>
                  <a:pt x="3746991" y="0"/>
                </a:lnTo>
                <a:lnTo>
                  <a:pt x="3746991" y="3627755"/>
                </a:lnTo>
                <a:lnTo>
                  <a:pt x="0" y="362775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eade1585e44222">
              <a:extLst>
                <a:ext uri="{96DAC541-7B7A-43D3-8B79-37D633B846F1}">
                  <asvg:svgBlip xmlns:asvg="http://schemas.microsoft.com/office/drawing/2016/SVG/main" r:embed="R90fb558921f1489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D051AE-682A-46E1-AD70-CAF2B394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200407" y="1080998"/>
            <a:ext cx="2249680" cy="2178091"/>
          </a:xfrm>
          <a:custGeom xmlns:a="http://schemas.openxmlformats.org/drawingml/2006/main">
            <a:rect l="l" t="t" r="r" b="b"/>
            <a:pathLst>
              <a:path w="2249680" h="2178091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eade1585e44222">
              <a:extLst>
                <a:ext uri="{96DAC541-7B7A-43D3-8B79-37D633B846F1}">
                  <asvg:svgBlip xmlns:asvg="http://schemas.microsoft.com/office/drawing/2016/SVG/main" r:embed="R90fb558921f1489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24DB13D-15C2-4EB2-9AFE-A06D2719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1875" y="1701003"/>
            <a:ext cx="5935913" cy="7557297"/>
          </a:xfrm>
          <a:custGeom xmlns:a="http://schemas.openxmlformats.org/drawingml/2006/main">
            <a:rect l="l" t="t" r="r" b="b"/>
            <a:pathLst>
              <a:path w="5935913" h="7557297">
                <a:moveTo>
                  <a:pt x="0" y="0"/>
                </a:moveTo>
                <a:lnTo>
                  <a:pt x="5935914" y="0"/>
                </a:lnTo>
                <a:lnTo>
                  <a:pt x="5935914" y="7557297"/>
                </a:lnTo>
                <a:lnTo>
                  <a:pt x="0" y="755729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e73fa5802b4ff8">
              <a:extLst>
                <a:ext uri="{96DAC541-7B7A-43D3-8B79-37D633B846F1}">
                  <asvg:svgBlip xmlns:asvg="http://schemas.microsoft.com/office/drawing/2016/SVG/main" r:embed="R9494d88aaa8d44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1A99F6F-CB4E-475E-991A-4D4FEB39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8978" y="3417404"/>
            <a:ext cx="1410345" cy="1365465"/>
          </a:xfrm>
          <a:custGeom xmlns:a="http://schemas.openxmlformats.org/drawingml/2006/main">
            <a:rect l="l" t="t" r="r" b="b"/>
            <a:pathLst>
              <a:path w="1410345" h="1365465">
                <a:moveTo>
                  <a:pt x="0" y="0"/>
                </a:moveTo>
                <a:lnTo>
                  <a:pt x="1410345" y="0"/>
                </a:lnTo>
                <a:lnTo>
                  <a:pt x="1410345" y="1365466"/>
                </a:lnTo>
                <a:lnTo>
                  <a:pt x="0" y="13654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359ecde4f34e16">
              <a:extLst>
                <a:ext uri="{96DAC541-7B7A-43D3-8B79-37D633B846F1}">
                  <asvg:svgBlip xmlns:asvg="http://schemas.microsoft.com/office/drawing/2016/SVG/main" r:embed="R1ce42821a5754f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3366370-BAE0-4936-A0FE-F1B6886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762500"/>
            <a:ext cx="8572500" cy="16118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692"/>
              </a:lnSpc>
              <a:spcBef>
                <a:spcPct val="0"/>
              </a:spcBef>
              <a:buNone/>
              <a:defRPr sz="4200"/>
            </a:pPr>
            <a:r>
              <a:rPr sz="42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Tácticas de arquitectura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34AAE5-43B4-4AF5-B681-86A6CC6F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1297" y="6572250"/>
            <a:ext cx="7853951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97"/>
              </a:lnSpc>
              <a:spcBef>
                <a:spcPct val="0"/>
              </a:spcBef>
              <a:buNone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Constanza Blanco · Manuel Cabrera</a:t>
            </a:r>
          </a:p>
          <a:p xmlns:a="http://schemas.openxmlformats.org/drawingml/2006/main">
            <a:pPr algn="l">
              <a:lnSpc>
                <a:spcPts val="2997"/>
              </a:lnSpc>
              <a:spcBef>
                <a:spcPct val="0"/>
              </a:spcBef>
              <a:buNone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Diego de Oliveira · Martin Mujica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68006A8-E9E5-4947-91CF-6D123CFC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90600"/>
            <a:ext cx="4403092" cy="746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  <a:defRPr sz="1575"/>
            </a:pPr>
            <a:r>
              <a:rPr sz="1575" b="1">
                <a:solidFill>
                  <a:srgbClr val="FFFFFF"/>
                </a:solidFill>
                <a:latin typeface="Inter Medium"/>
                <a:ea typeface="Inter Medium"/>
                <a:cs typeface="Inter Medium"/>
              </a:rPr>
              <a:t>TFU2 · Análisis y Diseño de Aplicaciones II · Pet-Core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A3BB544-4426-4201-A49A-83D42EF9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118F468F-9B76-4C54-87F4-6B3CF55C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51050509-5C3E-4FBC-A013-A25849F5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4436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644F7A7-0BFA-47A8-AA41-9C773B4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79319A3-1C5B-4396-9306-A724E4A8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882B02C-2245-46B0-B787-3791ACC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8C7502F-4068-4FB4-9540-7B07155E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400" y="3321349"/>
            <a:ext cx="7017108" cy="2564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499"/>
              </a:lnSpc>
              <a:spcBef>
                <a:spcPct val="0"/>
              </a:spcBef>
              <a:buNone/>
              <a:defRPr sz="5850"/>
            </a:pPr>
            <a:r>
              <a:rPr sz="585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Pet-Core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9ACAAA0-12BE-4D34-A546-1E21D35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400" y="6204390"/>
            <a:ext cx="7017108" cy="408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19"/>
              </a:lnSpc>
              <a:spcBef>
                <a:spcPct val="0"/>
              </a:spcBef>
              <a:buNone/>
              <a:defRPr sz="2025"/>
            </a:pPr>
            <a:r>
              <a:rPr sz="2025">
                <a:solidFill>
                  <a:srgbClr val="FFFFFF"/>
                </a:solidFill>
                <a:latin typeface="Inter"/>
                <a:ea typeface="Inter"/>
                <a:cs typeface="Inter"/>
              </a:rPr>
              <a:t>Gestión para una clínica veterinaria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3F3B9D8-603C-4AAB-8B52-765B7D5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352930" y="599065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fa55a2f3924e4f">
              <a:extLst>
                <a:ext uri="{96DAC541-7B7A-43D3-8B79-37D633B846F1}">
                  <asvg:svgBlip xmlns:asvg="http://schemas.microsoft.com/office/drawing/2016/SVG/main" r:embed="Rf4952f81402b4bc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2F1B5E-64AC-45EF-9090-8657BC76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3119" y="1784992"/>
            <a:ext cx="5463638" cy="568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Dos procesos críticos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509387-2CE7-4ABD-8CA8-F70DFCF4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0986" y="2472494"/>
            <a:ext cx="6897554" cy="1872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 de turnos</a:t>
            </a:r>
          </a:p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Historial clínico de mascotas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B31E1B7-A636-440F-A524-450A8AD7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0349" y="2315693"/>
            <a:ext cx="260637" cy="2505189"/>
          </a:xfrm>
          <a:custGeom xmlns:a="http://schemas.openxmlformats.org/drawingml/2006/main">
            <a:rect l="l" t="t" r="r" b="b"/>
            <a:pathLst>
              <a:path w="68645" h="659803">
                <a:moveTo>
                  <a:pt x="34323" y="0"/>
                </a:moveTo>
                <a:lnTo>
                  <a:pt x="34323" y="0"/>
                </a:lnTo>
                <a:cubicBezTo>
                  <a:pt x="43426" y="0"/>
                  <a:pt x="52156" y="3616"/>
                  <a:pt x="58592" y="10053"/>
                </a:cubicBezTo>
                <a:cubicBezTo>
                  <a:pt x="65029" y="16490"/>
                  <a:pt x="68645" y="25220"/>
                  <a:pt x="68645" y="34323"/>
                </a:cubicBezTo>
                <a:lnTo>
                  <a:pt x="68645" y="625480"/>
                </a:lnTo>
                <a:cubicBezTo>
                  <a:pt x="68645" y="644436"/>
                  <a:pt x="53279" y="659803"/>
                  <a:pt x="34323" y="659803"/>
                </a:cubicBezTo>
                <a:lnTo>
                  <a:pt x="34323" y="659803"/>
                </a:lnTo>
                <a:cubicBezTo>
                  <a:pt x="15367" y="659803"/>
                  <a:pt x="0" y="644436"/>
                  <a:pt x="0" y="625480"/>
                </a:cubicBezTo>
                <a:lnTo>
                  <a:pt x="0" y="34323"/>
                </a:lnTo>
                <a:cubicBezTo>
                  <a:pt x="0" y="15367"/>
                  <a:pt x="15367" y="0"/>
                  <a:pt x="3432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E0473D-C164-4EE3-ADD7-1101E290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0349" y="2171033"/>
            <a:ext cx="260637" cy="264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52DBD1E-58E3-444C-B279-CC13AD0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421" y="7619293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efa55a2f3924e4f">
              <a:extLst>
                <a:ext uri="{96DAC541-7B7A-43D3-8B79-37D633B846F1}">
                  <asvg:svgBlip xmlns:asvg="http://schemas.microsoft.com/office/drawing/2016/SVG/main" r:embed="Rf4952f81402b4bc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3BC4C87-85D4-443A-89CA-F7C7675E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56012" y="8361045"/>
            <a:ext cx="926746" cy="897255"/>
          </a:xfrm>
          <a:custGeom xmlns:a="http://schemas.openxmlformats.org/drawingml/2006/main">
            <a:rect l="l" t="t" r="r" b="b"/>
            <a:pathLst>
              <a:path w="926746" h="897255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645e6686c94691">
              <a:extLst>
                <a:ext uri="{96DAC541-7B7A-43D3-8B79-37D633B846F1}">
                  <asvg:svgBlip xmlns:asvg="http://schemas.microsoft.com/office/drawing/2016/SVG/main" r:embed="R72a83700099948b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AB3D4F8-B5A4-4A6E-BBCA-9FFE2F2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8975" y="7201737"/>
            <a:ext cx="260637" cy="1995485"/>
          </a:xfrm>
          <a:custGeom xmlns:a="http://schemas.openxmlformats.org/drawingml/2006/main">
            <a:rect l="l" t="t" r="r" b="b"/>
            <a:pathLst>
              <a:path w="68645" h="525560">
                <a:moveTo>
                  <a:pt x="34323" y="0"/>
                </a:moveTo>
                <a:lnTo>
                  <a:pt x="34323" y="0"/>
                </a:lnTo>
                <a:cubicBezTo>
                  <a:pt x="43426" y="0"/>
                  <a:pt x="52156" y="3616"/>
                  <a:pt x="58592" y="10053"/>
                </a:cubicBezTo>
                <a:cubicBezTo>
                  <a:pt x="65029" y="16490"/>
                  <a:pt x="68645" y="25220"/>
                  <a:pt x="68645" y="34323"/>
                </a:cubicBezTo>
                <a:lnTo>
                  <a:pt x="68645" y="491237"/>
                </a:lnTo>
                <a:cubicBezTo>
                  <a:pt x="68645" y="510193"/>
                  <a:pt x="53279" y="525560"/>
                  <a:pt x="34323" y="525560"/>
                </a:cubicBezTo>
                <a:lnTo>
                  <a:pt x="34323" y="525560"/>
                </a:lnTo>
                <a:cubicBezTo>
                  <a:pt x="25220" y="525560"/>
                  <a:pt x="16490" y="521944"/>
                  <a:pt x="10053" y="515507"/>
                </a:cubicBezTo>
                <a:cubicBezTo>
                  <a:pt x="3616" y="509070"/>
                  <a:pt x="0" y="500340"/>
                  <a:pt x="0" y="491237"/>
                </a:cubicBezTo>
                <a:lnTo>
                  <a:pt x="0" y="34323"/>
                </a:lnTo>
                <a:cubicBezTo>
                  <a:pt x="0" y="15367"/>
                  <a:pt x="15367" y="0"/>
                  <a:pt x="3432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1073F8F-3B20-4D36-8032-237F3B8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8975" y="7057077"/>
            <a:ext cx="260637" cy="21401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8614A7-90FF-4E6E-A91F-D9B09F5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1745" y="6671036"/>
            <a:ext cx="5463638" cy="568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Tres roles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07FAF96-0A82-48F2-81F3-369FD378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1745" y="7386160"/>
            <a:ext cx="6897554" cy="1872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Cliente · Veterinario · Administrador</a:t>
            </a:r>
          </a:p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Cada rol ve y modifica información diferente.</a:t>
            </a:r>
          </a:p>
        </p:txBody>
      </p:sp>
    </p:spTree>
    <p:extLst>
      <p:ext uri="{BB962C8B-B14F-4D97-AF65-F5344CB8AC3E}">
        <p14:creationId xmlns:p14="http://schemas.microsoft.com/office/powerpoint/2010/main" val="1233995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6ADB618-2500-4304-9E0B-DF26AF78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019160" y="1028700"/>
            <a:ext cx="2249680" cy="2178091"/>
          </a:xfrm>
          <a:custGeom xmlns:a="http://schemas.openxmlformats.org/drawingml/2006/main">
            <a:rect l="l" t="t" r="r" b="b"/>
            <a:pathLst>
              <a:path w="2249680" h="2178091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02f327c91c463b">
              <a:extLst>
                <a:ext uri="{96DAC541-7B7A-43D3-8B79-37D633B846F1}">
                  <asvg:svgBlip xmlns:asvg="http://schemas.microsoft.com/office/drawing/2016/SVG/main" r:embed="Ra62f3701f2614b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11E67E2-EC7C-4EDB-AF01-BB2FBD80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66870" y="5143500"/>
            <a:ext cx="2972172" cy="2877592"/>
          </a:xfrm>
          <a:custGeom xmlns:a="http://schemas.openxmlformats.org/drawingml/2006/main">
            <a:rect l="l" t="t" r="r" b="b"/>
            <a:pathLst>
              <a:path w="2972172" h="2877592">
                <a:moveTo>
                  <a:pt x="0" y="0"/>
                </a:moveTo>
                <a:lnTo>
                  <a:pt x="2972172" y="0"/>
                </a:lnTo>
                <a:lnTo>
                  <a:pt x="2972172" y="2877592"/>
                </a:lnTo>
                <a:lnTo>
                  <a:pt x="0" y="28775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02f327c91c463b">
              <a:extLst>
                <a:ext uri="{96DAC541-7B7A-43D3-8B79-37D633B846F1}">
                  <asvg:svgBlip xmlns:asvg="http://schemas.microsoft.com/office/drawing/2016/SVG/main" r:embed="Ra62f3701f2614b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33F20C1-F432-4D90-B6C9-F19D993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292E228-3D4C-4556-A493-072E222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D9CC00A-ABA1-470D-91EB-AF915A4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190C42D-900B-4CA3-9688-4B4B6834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2507" y="2210386"/>
            <a:ext cx="4449790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99,5 % disponible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 de turnos 24/7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Replicación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1542148-1CEA-43C7-8312-4BE75DAC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2117746"/>
            <a:ext cx="279445" cy="1454012"/>
          </a:xfrm>
          <a:custGeom xmlns:a="http://schemas.openxmlformats.org/drawingml/2006/main">
            <a:rect l="l" t="t" r="r" b="b"/>
            <a:pathLst>
              <a:path w="73599" h="382950">
                <a:moveTo>
                  <a:pt x="36799" y="0"/>
                </a:moveTo>
                <a:lnTo>
                  <a:pt x="36799" y="0"/>
                </a:lnTo>
                <a:cubicBezTo>
                  <a:pt x="46559" y="0"/>
                  <a:pt x="55919" y="3877"/>
                  <a:pt x="62820" y="10778"/>
                </a:cubicBezTo>
                <a:cubicBezTo>
                  <a:pt x="69722" y="17680"/>
                  <a:pt x="73599" y="27040"/>
                  <a:pt x="73599" y="36799"/>
                </a:cubicBezTo>
                <a:lnTo>
                  <a:pt x="73599" y="346150"/>
                </a:lnTo>
                <a:cubicBezTo>
                  <a:pt x="73599" y="366474"/>
                  <a:pt x="57123" y="382950"/>
                  <a:pt x="36799" y="382950"/>
                </a:cubicBezTo>
                <a:lnTo>
                  <a:pt x="36799" y="382950"/>
                </a:lnTo>
                <a:cubicBezTo>
                  <a:pt x="16476" y="382950"/>
                  <a:pt x="0" y="366474"/>
                  <a:pt x="0" y="346150"/>
                </a:cubicBezTo>
                <a:lnTo>
                  <a:pt x="0" y="36799"/>
                </a:lnTo>
                <a:cubicBezTo>
                  <a:pt x="0" y="16476"/>
                  <a:pt x="16476" y="0"/>
                  <a:pt x="3679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0921FB-0557-4A6B-9199-14320A6C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1973086"/>
            <a:ext cx="279445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134D0CD-A076-4E00-A99E-2B208D8C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610" y="4029539"/>
            <a:ext cx="5154733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99,9 % disponible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Agenda e historial en horario clínico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Replicación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1C064BA-3297-4395-BFB9-CBBA0A08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3936899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B864AA2-0936-4034-94AB-7FA688B3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3792239"/>
            <a:ext cx="244032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E5151B-B012-4220-AB7D-F466852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218" y="8153627"/>
            <a:ext cx="5154733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Acceso según rol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Autenticar + autorizar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F3AF730-3A70-4961-9B1A-8AA65E7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076" y="8060987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489B41C-1E81-4665-98CE-91BF681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076" y="7916327"/>
            <a:ext cx="244032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0CCBEF2-F251-4174-AD9D-61EB237F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0892" y="8153627"/>
            <a:ext cx="5154733" cy="1554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Administrador sin contenido clínico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Autorizar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CD7079-BB13-4C37-AC52-6C02A874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2750" y="8060987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AE954BF-1296-4B30-AF7B-21E5F93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2750" y="7916327"/>
            <a:ext cx="244032" cy="15986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FF75741-D236-4385-A982-84C8661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73423" y="8054144"/>
            <a:ext cx="244033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E1A11CD-4CBF-49A1-8D39-C48CE23D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73423" y="7909484"/>
            <a:ext cx="244033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59D884-C21C-41F5-BA51-3D9A4F8D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039" y="1200150"/>
            <a:ext cx="10379998" cy="6009907"/>
          </a:xfrm>
          <a:custGeom xmlns:a="http://schemas.openxmlformats.org/drawingml/2006/main">
            <a:rect l="l" t="t" r="r" b="b"/>
            <a:pathLst>
              <a:path w="1357111" h="785753">
                <a:moveTo>
                  <a:pt x="33563" y="0"/>
                </a:moveTo>
                <a:lnTo>
                  <a:pt x="1323548" y="0"/>
                </a:lnTo>
                <a:cubicBezTo>
                  <a:pt x="1342084" y="0"/>
                  <a:pt x="1357111" y="15027"/>
                  <a:pt x="1357111" y="33563"/>
                </a:cubicBezTo>
                <a:lnTo>
                  <a:pt x="1357111" y="752190"/>
                </a:lnTo>
                <a:cubicBezTo>
                  <a:pt x="1357111" y="770727"/>
                  <a:pt x="1342084" y="785753"/>
                  <a:pt x="1323548" y="785753"/>
                </a:cubicBezTo>
                <a:lnTo>
                  <a:pt x="33563" y="785753"/>
                </a:lnTo>
                <a:cubicBezTo>
                  <a:pt x="15027" y="785753"/>
                  <a:pt x="0" y="770727"/>
                  <a:pt x="0" y="752190"/>
                </a:cubicBezTo>
                <a:lnTo>
                  <a:pt x="0" y="33563"/>
                </a:lnTo>
                <a:cubicBezTo>
                  <a:pt x="0" y="15027"/>
                  <a:pt x="15027" y="0"/>
                  <a:pt x="33563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02f327c91c463b"/>
            <a:stretch>
              <a:fillRect l="0" t="-7643" r="0" b="-7643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37697C-AB85-413E-8B7C-36C8B831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610" y="5848693"/>
            <a:ext cx="5154733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Recuperación &lt; 2 min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Sin perder turnos ni historial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Replicación + reintentos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D9A15F11-D7EF-45D5-86BA-0EDC575C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5756053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81DB4D1-0BA1-4637-8779-87C4F4FF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5611393"/>
            <a:ext cx="244032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3EE736D-50B3-43BA-AF2A-EF930F68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0468" y="681990"/>
            <a:ext cx="6602488" cy="3840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80"/>
              </a:lnSpc>
              <a:spcBef>
                <a:spcPct val="0"/>
              </a:spcBef>
              <a:buNone/>
              <a:defRPr sz="4350"/>
            </a:pPr>
            <a:r>
              <a:rPr sz="435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De requerimientos a tácticas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8EF52BEE-7D2B-4DA1-9FDB-68373760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1566" y="8137260"/>
            <a:ext cx="5154734" cy="1563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Combinación elegida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Disponibilidad + seguridad</a:t>
            </a:r>
          </a:p>
        </p:txBody>
      </p:sp>
    </p:spTree>
    <p:extLst>
      <p:ext uri="{BB962C8B-B14F-4D97-AF65-F5344CB8AC3E}">
        <p14:creationId xmlns:p14="http://schemas.microsoft.com/office/powerpoint/2010/main" val="2003920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7638D65-FDE4-4447-AAC1-8898A2B9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C8CC03-6EE2-40B4-860D-95E5645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17E86AA-E420-4DEA-9421-B3A5444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7351AEC-E045-44E1-81C8-C570EE0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9510" y="386135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04fd0367934e06">
              <a:extLst>
                <a:ext uri="{96DAC541-7B7A-43D3-8B79-37D633B846F1}">
                  <asvg:svgBlip xmlns:asvg="http://schemas.microsoft.com/office/drawing/2016/SVG/main" r:embed="Rbee386ec6c4f4d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B11311B-D0AF-4EF5-B829-52931EB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1527810"/>
            <a:ext cx="15964654" cy="895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buNone/>
              <a:defRPr sz="2100"/>
            </a:pPr>
            <a:r>
              <a:rPr sz="2100">
                <a:solidFill>
                  <a:srgbClr val="FFFFFF"/>
                </a:solidFill>
                <a:latin typeface="Inter"/>
                <a:ea typeface="Inter"/>
                <a:cs typeface="Inter"/>
              </a:rPr>
              <a:t>La demo corre en Docker Compose con dos réplicas de la misma API.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0B439F8-443A-4502-BADD-0EED808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178150" y="231957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8"/>
                </a:lnTo>
                <a:lnTo>
                  <a:pt x="3325202" y="3219388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04fd0367934e06">
              <a:extLst>
                <a:ext uri="{96DAC541-7B7A-43D3-8B79-37D633B846F1}">
                  <asvg:svgBlip xmlns:asvg="http://schemas.microsoft.com/office/drawing/2016/SVG/main" r:embed="Rbee386ec6c4f4d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5A2A3A-5F3F-4884-A8CA-2B295A8A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9666790" y="386135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04fd0367934e06">
              <a:extLst>
                <a:ext uri="{96DAC541-7B7A-43D3-8B79-37D633B846F1}">
                  <asvg:svgBlip xmlns:asvg="http://schemas.microsoft.com/office/drawing/2016/SVG/main" r:embed="Rbee386ec6c4f4d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AF80E8E-897A-4759-8A6E-BCEE5561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934098" y="2423795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04fd0367934e06">
              <a:extLst>
                <a:ext uri="{96DAC541-7B7A-43D3-8B79-37D633B846F1}">
                  <asvg:svgBlip xmlns:asvg="http://schemas.microsoft.com/office/drawing/2016/SVG/main" r:embed="Rbee386ec6c4f4d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2522D1C-9E8C-45DB-9DF1-E1D365E6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63539" flipH="0" flipV="1">
            <a:off x="12610232" y="3080947"/>
            <a:ext cx="882023" cy="2632903"/>
          </a:xfrm>
          <a:custGeom xmlns:a="http://schemas.openxmlformats.org/drawingml/2006/main">
            <a:rect l="l" t="t" r="r" b="b"/>
            <a:pathLst>
              <a:path w="882023" h="2632903">
                <a:moveTo>
                  <a:pt x="0" y="2632903"/>
                </a:moveTo>
                <a:lnTo>
                  <a:pt x="882023" y="2632903"/>
                </a:lnTo>
                <a:lnTo>
                  <a:pt x="882023" y="0"/>
                </a:lnTo>
                <a:lnTo>
                  <a:pt x="0" y="0"/>
                </a:lnTo>
                <a:lnTo>
                  <a:pt x="0" y="26329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e628ed629f4df6">
              <a:extLst>
                <a:ext uri="{96DAC541-7B7A-43D3-8B79-37D633B846F1}">
                  <asvg:svgBlip xmlns:asvg="http://schemas.microsoft.com/office/drawing/2016/SVG/main" r:embed="R8fc85a9b3a2e46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D9B1CD9-8182-4C1A-ABB0-2FA48FAE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60370" flipH="0" flipV="0">
            <a:off x="7623721" y="3328340"/>
            <a:ext cx="3040558" cy="1048992"/>
          </a:xfrm>
          <a:custGeom xmlns:a="http://schemas.openxmlformats.org/drawingml/2006/main">
            <a:rect l="l" t="t" r="r" b="b"/>
            <a:pathLst>
              <a:path w="3040558" h="1048992">
                <a:moveTo>
                  <a:pt x="0" y="0"/>
                </a:moveTo>
                <a:lnTo>
                  <a:pt x="3040558" y="0"/>
                </a:lnTo>
                <a:lnTo>
                  <a:pt x="3040558" y="1048992"/>
                </a:lnTo>
                <a:lnTo>
                  <a:pt x="0" y="10489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da41a0e1734e69">
              <a:extLst>
                <a:ext uri="{96DAC541-7B7A-43D3-8B79-37D633B846F1}">
                  <asvg:svgBlip xmlns:asvg="http://schemas.microsoft.com/office/drawing/2016/SVG/main" r:embed="R6d38ceee93c449d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22D0FB-B2A0-4B73-8169-1951D61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658428"/>
            <a:ext cx="2461611" cy="1407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Postman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BC8E9AB-8F53-45D9-98A4-8CC1968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339036"/>
            <a:ext cx="15964654" cy="2560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080"/>
              </a:lnSpc>
              <a:spcBef>
                <a:spcPct val="0"/>
              </a:spcBef>
              <a:buNone/>
              <a:defRPr sz="3525"/>
            </a:pPr>
            <a:r>
              <a:rPr sz="352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La arquitectura convierte las tácticas en comportamiento observable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0116BC-AD53-44D7-89C5-DF8C957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9946" y="3133642"/>
            <a:ext cx="2461611" cy="1439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Nginx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:8000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5B1D1A9-93DE-4276-B063-7A2E607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586" y="4915474"/>
            <a:ext cx="2461611" cy="1407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FastAPI × 2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59F8E49-33AF-4E07-963C-33670BF2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5893" y="3201556"/>
            <a:ext cx="2461611" cy="1407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PostgreSQL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E542108-0B34-4C72-8ED7-7CFD684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90437" flipH="1" flipV="1">
            <a:off x="4332713" y="4515236"/>
            <a:ext cx="738804" cy="2205384"/>
          </a:xfrm>
          <a:custGeom xmlns:a="http://schemas.openxmlformats.org/drawingml/2006/main">
            <a:rect l="l" t="t" r="r" b="b"/>
            <a:pathLst>
              <a:path w="738804" h="2205384">
                <a:moveTo>
                  <a:pt x="738804" y="2205384"/>
                </a:moveTo>
                <a:lnTo>
                  <a:pt x="0" y="2205384"/>
                </a:lnTo>
                <a:lnTo>
                  <a:pt x="0" y="0"/>
                </a:lnTo>
                <a:lnTo>
                  <a:pt x="738804" y="0"/>
                </a:lnTo>
                <a:lnTo>
                  <a:pt x="738804" y="22053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e628ed629f4df6">
              <a:extLst>
                <a:ext uri="{96DAC541-7B7A-43D3-8B79-37D633B846F1}">
                  <asvg:svgBlip xmlns:asvg="http://schemas.microsoft.com/office/drawing/2016/SVG/main" r:embed="R8fc85a9b3a2e46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5D9A0EC-6881-4B13-A4C4-502CEE08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861791"/>
            <a:ext cx="7039594" cy="1353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Nginx reparte solicitudes y reintenta con otra réplica cuando una falla.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FFD19AF-DF75-4699-8512-ACBFABC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9706" y="7861791"/>
            <a:ext cx="7039594" cy="1353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Las dos APIs comparten una única base persistente y los mismos secretos.</a:t>
            </a:r>
          </a:p>
        </p:txBody>
      </p:sp>
    </p:spTree>
    <p:extLst>
      <p:ext uri="{BB962C8B-B14F-4D97-AF65-F5344CB8AC3E}">
        <p14:creationId xmlns:p14="http://schemas.microsoft.com/office/powerpoint/2010/main" val="135430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8D51251-4214-4A0D-AB4E-65515AB1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051E2ED-5AF7-4132-BCC0-1D76C8D3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30647AD-F80C-45FF-92DC-36BB3A4D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31AEFE0-1D2C-4B0E-8E6A-3514D103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586562" flipH="1" flipV="0">
            <a:off x="-466317" y="-546215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7262516100a47ca">
              <a:extLst>
                <a:ext uri="{96DAC541-7B7A-43D3-8B79-37D633B846F1}">
                  <asvg:svgBlip xmlns:asvg="http://schemas.microsoft.com/office/drawing/2016/SVG/main" r:embed="R5b08f58f2149460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11A3D0F-62C9-48E0-AC1A-82367302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2734" y="3444213"/>
            <a:ext cx="3271266" cy="4114800"/>
          </a:xfrm>
          <a:custGeom xmlns:a="http://schemas.openxmlformats.org/drawingml/2006/main">
            <a:rect l="l" t="t" r="r" b="b"/>
            <a:pathLst>
              <a:path w="3271266" h="411480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0fd0653f1b4d43">
              <a:extLst>
                <a:ext uri="{96DAC541-7B7A-43D3-8B79-37D633B846F1}">
                  <asvg:svgBlip xmlns:asvg="http://schemas.microsoft.com/office/drawing/2016/SVG/main" r:embed="Ra3a6130428e346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7314899-1498-4AE3-8ABE-A95BEDA0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91992" y="4416494"/>
            <a:ext cx="3662172" cy="4114800"/>
          </a:xfrm>
          <a:custGeom xmlns:a="http://schemas.openxmlformats.org/drawingml/2006/main">
            <a:rect l="l" t="t" r="r" b="b"/>
            <a:pathLst>
              <a:path w="3662172" h="4114800">
                <a:moveTo>
                  <a:pt x="0" y="0"/>
                </a:moveTo>
                <a:lnTo>
                  <a:pt x="3662172" y="0"/>
                </a:lnTo>
                <a:lnTo>
                  <a:pt x="36621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bf2294076d4f00">
              <a:extLst>
                <a:ext uri="{96DAC541-7B7A-43D3-8B79-37D633B846F1}">
                  <asvg:svgBlip xmlns:asvg="http://schemas.microsoft.com/office/drawing/2016/SVG/main" r:embed="R9e8d36605546422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F59FB47-062F-4505-87EA-20ACB4E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4416494"/>
            <a:ext cx="3435858" cy="4114800"/>
          </a:xfrm>
          <a:custGeom xmlns:a="http://schemas.openxmlformats.org/drawingml/2006/main">
            <a:rect l="l" t="t" r="r" b="b"/>
            <a:pathLst>
              <a:path w="3435858" h="4114800">
                <a:moveTo>
                  <a:pt x="0" y="0"/>
                </a:moveTo>
                <a:lnTo>
                  <a:pt x="3435858" y="0"/>
                </a:lnTo>
                <a:lnTo>
                  <a:pt x="34358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0f7ce77b7a642a1">
              <a:extLst>
                <a:ext uri="{96DAC541-7B7A-43D3-8B79-37D633B846F1}">
                  <asvg:svgBlip xmlns:asvg="http://schemas.microsoft.com/office/drawing/2016/SVG/main" r:embed="Re412399dcb9344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C0E51F5-7124-41F1-87D4-02DD9B8F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3721" y="5095875"/>
            <a:ext cx="4411954" cy="2044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Autenticar</a:t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¿Quién sos?</a:t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sz="2299">
                <a:solidFill>
                  <a:srgbClr val="FFFFFF"/>
                </a:solidFill>
                <a:latin typeface="Inter"/>
                <a:ea typeface="Inter"/>
                <a:cs typeface="Inter"/>
              </a:rPr>
              <a:t/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Autorizar</a:t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¿Qué podés hacer?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9742EF5-6F34-4609-AD3D-30F789DD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8088" y="4448696"/>
            <a:ext cx="2461611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Seguridad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813F32-44C2-4A8A-B743-63A4A02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339036"/>
            <a:ext cx="15964654" cy="12363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080"/>
              </a:lnSpc>
              <a:spcBef>
                <a:spcPct val="0"/>
              </a:spcBef>
              <a:buNone/>
            </a:pPr>
            <a:r>
              <a:rPr sz="72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334004-DEA1-4134-92D9-EF383FBF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1527810"/>
            <a:ext cx="15964654" cy="89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buNone/>
              <a:defRPr sz="3675"/>
            </a:pPr>
            <a:r>
              <a:rPr sz="3675">
                <a:solidFill>
                  <a:srgbClr val="FFFFFF"/>
                </a:solidFill>
                <a:latin typeface="Inter"/>
                <a:ea typeface="Inter"/>
                <a:cs typeface="Inter"/>
              </a:rPr>
              <a:t>Las cuatro tácticas conviven en un mismo pedido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504A162-B289-43CC-80F3-1CBDD6EA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3195" y="3192752"/>
            <a:ext cx="2461611" cy="28795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Recuperación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2EBEDCE-272C-4FD2-B8AB-A0A7277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828" y="3881641"/>
            <a:ext cx="4411954" cy="16352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Reintentos</a:t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Falla transitoria de BD</a:t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sz="2299">
                <a:solidFill>
                  <a:srgbClr val="FFFFFF"/>
                </a:solidFill>
                <a:latin typeface="Inter"/>
                <a:ea typeface="Inter"/>
                <a:cs typeface="Inter"/>
              </a:rPr>
              <a:t/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Máximo 3 intentos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C0E233-95C5-426A-892F-4B02A7DC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1992" y="6018599"/>
            <a:ext cx="2461611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Continuidad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BB2336D-75F1-473D-9E2F-FD271B17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6046" y="6637655"/>
            <a:ext cx="4411954" cy="16352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Replicación</a:t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Una API cae</a:t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sz="2299">
                <a:solidFill>
                  <a:srgbClr val="FFFFFF"/>
                </a:solidFill>
                <a:latin typeface="Inter"/>
                <a:ea typeface="Inter"/>
                <a:cs typeface="Inter"/>
              </a:rPr>
              <a:t/>
            </a:r>
          </a:p>
          <a:p xmlns:a="http://schemas.openxmlformats.org/drawingml/2006/main">
            <a:pPr marL="496567" lvl="1" indent="-248284" algn="l">
              <a:lnSpc>
                <a:spcPts val="321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La otra responde</a:t>
            </a:r>
          </a:p>
        </p:txBody>
      </p:sp>
    </p:spTree>
    <p:extLst>
      <p:ext uri="{BB962C8B-B14F-4D97-AF65-F5344CB8AC3E}">
        <p14:creationId xmlns:p14="http://schemas.microsoft.com/office/powerpoint/2010/main" val="1032053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85882EA-0084-490A-84BD-EAF5D502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E32C73C-68D7-4F1F-B384-D72F865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E7B8D39-384F-4332-AF63-A52E00B6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B3901EA-28BE-424C-A7F1-A31AE8F8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577" y="2027060"/>
            <a:ext cx="8920846" cy="25128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080"/>
              </a:lnSpc>
              <a:spcBef>
                <a:spcPct val="0"/>
              </a:spcBef>
              <a:buNone/>
              <a:defRPr sz="5250"/>
            </a:pPr>
            <a:r>
              <a:rPr sz="525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Demostración en vivo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D88D02F-53FB-4047-B0A6-8010ED85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060" y="4890448"/>
            <a:ext cx="5937161" cy="1739805"/>
          </a:xfrm>
          <a:custGeom xmlns:a="http://schemas.openxmlformats.org/drawingml/2006/main">
            <a:rect l="l" t="t" r="r" b="b"/>
            <a:pathLst>
              <a:path w="1398023" h="409672">
                <a:moveTo>
                  <a:pt x="65633" y="0"/>
                </a:moveTo>
                <a:lnTo>
                  <a:pt x="1332391" y="0"/>
                </a:lnTo>
                <a:cubicBezTo>
                  <a:pt x="1368639" y="0"/>
                  <a:pt x="1398023" y="29385"/>
                  <a:pt x="1398023" y="65633"/>
                </a:cubicBezTo>
                <a:lnTo>
                  <a:pt x="1398023" y="344039"/>
                </a:lnTo>
                <a:cubicBezTo>
                  <a:pt x="1398023" y="361446"/>
                  <a:pt x="1391109" y="378140"/>
                  <a:pt x="1378800" y="390449"/>
                </a:cubicBezTo>
                <a:cubicBezTo>
                  <a:pt x="1366492" y="402757"/>
                  <a:pt x="1349798" y="409672"/>
                  <a:pt x="1332391" y="409672"/>
                </a:cubicBezTo>
                <a:lnTo>
                  <a:pt x="65633" y="409672"/>
                </a:lnTo>
                <a:cubicBezTo>
                  <a:pt x="48226" y="409672"/>
                  <a:pt x="31532" y="402757"/>
                  <a:pt x="19223" y="390449"/>
                </a:cubicBezTo>
                <a:cubicBezTo>
                  <a:pt x="6915" y="378140"/>
                  <a:pt x="0" y="361446"/>
                  <a:pt x="0" y="344039"/>
                </a:cubicBezTo>
                <a:lnTo>
                  <a:pt x="0" y="65633"/>
                </a:lnTo>
                <a:cubicBezTo>
                  <a:pt x="0" y="48226"/>
                  <a:pt x="6915" y="31532"/>
                  <a:pt x="19223" y="19223"/>
                </a:cubicBezTo>
                <a:cubicBezTo>
                  <a:pt x="31532" y="6915"/>
                  <a:pt x="48226" y="0"/>
                  <a:pt x="6563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4C15947-A30F-454C-9C9C-933CF30B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3060" y="4728644"/>
            <a:ext cx="5937161" cy="1901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39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B2B8800-713E-4A6C-81D9-C3438B3E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430" y="5395648"/>
            <a:ext cx="4942419" cy="807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88"/>
              </a:lnSpc>
              <a:spcBef>
                <a:spcPct val="0"/>
              </a:spcBef>
              <a:buNone/>
              <a:defRPr sz="2025"/>
            </a:pPr>
            <a:r>
              <a:rPr sz="2025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1 · Autenticar actores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75E329F-5661-4664-91EC-235EFB43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9969" y="4867811"/>
            <a:ext cx="5937161" cy="1739805"/>
          </a:xfrm>
          <a:custGeom xmlns:a="http://schemas.openxmlformats.org/drawingml/2006/main">
            <a:rect l="l" t="t" r="r" b="b"/>
            <a:pathLst>
              <a:path w="1398023" h="409672">
                <a:moveTo>
                  <a:pt x="65633" y="0"/>
                </a:moveTo>
                <a:lnTo>
                  <a:pt x="1332391" y="0"/>
                </a:lnTo>
                <a:cubicBezTo>
                  <a:pt x="1368639" y="0"/>
                  <a:pt x="1398023" y="29385"/>
                  <a:pt x="1398023" y="65633"/>
                </a:cubicBezTo>
                <a:lnTo>
                  <a:pt x="1398023" y="344039"/>
                </a:lnTo>
                <a:cubicBezTo>
                  <a:pt x="1398023" y="361446"/>
                  <a:pt x="1391109" y="378140"/>
                  <a:pt x="1378800" y="390449"/>
                </a:cubicBezTo>
                <a:cubicBezTo>
                  <a:pt x="1366492" y="402757"/>
                  <a:pt x="1349798" y="409672"/>
                  <a:pt x="1332391" y="409672"/>
                </a:cubicBezTo>
                <a:lnTo>
                  <a:pt x="65633" y="409672"/>
                </a:lnTo>
                <a:cubicBezTo>
                  <a:pt x="48226" y="409672"/>
                  <a:pt x="31532" y="402757"/>
                  <a:pt x="19223" y="390449"/>
                </a:cubicBezTo>
                <a:cubicBezTo>
                  <a:pt x="6915" y="378140"/>
                  <a:pt x="0" y="361446"/>
                  <a:pt x="0" y="344039"/>
                </a:cubicBezTo>
                <a:lnTo>
                  <a:pt x="0" y="65633"/>
                </a:lnTo>
                <a:cubicBezTo>
                  <a:pt x="0" y="48226"/>
                  <a:pt x="6915" y="31532"/>
                  <a:pt x="19223" y="19223"/>
                </a:cubicBezTo>
                <a:cubicBezTo>
                  <a:pt x="31532" y="6915"/>
                  <a:pt x="48226" y="0"/>
                  <a:pt x="6563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CB83788-A57D-47FF-89D3-E63FF09F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9969" y="4706007"/>
            <a:ext cx="5937161" cy="1901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39"/>
              </a:lnSpc>
              <a:buNone/>
            </a:p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A261D59-1FDA-48E8-9ECF-4D12DE2C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7339" y="5402841"/>
            <a:ext cx="4942419" cy="807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88"/>
              </a:lnSpc>
              <a:spcBef>
                <a:spcPct val="0"/>
              </a:spcBef>
              <a:buNone/>
              <a:defRPr sz="2025"/>
            </a:pPr>
            <a:r>
              <a:rPr sz="2025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2 · Autorizar actores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698E6DA-C852-4441-A78D-60252BF7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06878" y="4890448"/>
            <a:ext cx="5859909" cy="1717168"/>
          </a:xfrm>
          <a:custGeom xmlns:a="http://schemas.openxmlformats.org/drawingml/2006/main">
            <a:rect l="l" t="t" r="r" b="b"/>
            <a:pathLst>
              <a:path w="1398023" h="409672">
                <a:moveTo>
                  <a:pt x="65633" y="0"/>
                </a:moveTo>
                <a:lnTo>
                  <a:pt x="1332391" y="0"/>
                </a:lnTo>
                <a:cubicBezTo>
                  <a:pt x="1368639" y="0"/>
                  <a:pt x="1398023" y="29385"/>
                  <a:pt x="1398023" y="65633"/>
                </a:cubicBezTo>
                <a:lnTo>
                  <a:pt x="1398023" y="344039"/>
                </a:lnTo>
                <a:cubicBezTo>
                  <a:pt x="1398023" y="361446"/>
                  <a:pt x="1391109" y="378140"/>
                  <a:pt x="1378800" y="390449"/>
                </a:cubicBezTo>
                <a:cubicBezTo>
                  <a:pt x="1366492" y="402757"/>
                  <a:pt x="1349798" y="409672"/>
                  <a:pt x="1332391" y="409672"/>
                </a:cubicBezTo>
                <a:lnTo>
                  <a:pt x="65633" y="409672"/>
                </a:lnTo>
                <a:cubicBezTo>
                  <a:pt x="48226" y="409672"/>
                  <a:pt x="31532" y="402757"/>
                  <a:pt x="19223" y="390449"/>
                </a:cubicBezTo>
                <a:cubicBezTo>
                  <a:pt x="6915" y="378140"/>
                  <a:pt x="0" y="361446"/>
                  <a:pt x="0" y="344039"/>
                </a:cubicBezTo>
                <a:lnTo>
                  <a:pt x="0" y="65633"/>
                </a:lnTo>
                <a:cubicBezTo>
                  <a:pt x="0" y="48226"/>
                  <a:pt x="6915" y="31532"/>
                  <a:pt x="19223" y="19223"/>
                </a:cubicBezTo>
                <a:cubicBezTo>
                  <a:pt x="31532" y="6915"/>
                  <a:pt x="48226" y="0"/>
                  <a:pt x="6563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DD1FB78-FE33-4C89-87DD-9F8D751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06878" y="4730750"/>
            <a:ext cx="5859909" cy="18768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87F1EC2-302C-43BE-BE52-57816D3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12177" y="5388609"/>
            <a:ext cx="4878111" cy="4121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45"/>
              </a:lnSpc>
              <a:spcBef>
                <a:spcPct val="0"/>
              </a:spcBef>
              <a:buNone/>
              <a:defRPr sz="1875"/>
            </a:pPr>
            <a:r>
              <a:rPr sz="1875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3 · Replicación y reintentos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787521B-5E19-4904-B9C2-F6FCFECA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826327" y="2265908"/>
            <a:ext cx="2249680" cy="2178091"/>
          </a:xfrm>
          <a:custGeom xmlns:a="http://schemas.openxmlformats.org/drawingml/2006/main">
            <a:rect l="l" t="t" r="r" b="b"/>
            <a:pathLst>
              <a:path w="2249680" h="2178091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2abafc7b0e46e6">
              <a:extLst>
                <a:ext uri="{96DAC541-7B7A-43D3-8B79-37D633B846F1}">
                  <asvg:svgBlip xmlns:asvg="http://schemas.microsoft.com/office/drawing/2016/SVG/main" r:embed="R89d119252e9846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0102E80-BC7B-4C3D-B908-1C2F3D2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11993" y="2265908"/>
            <a:ext cx="2249680" cy="2178091"/>
          </a:xfrm>
          <a:custGeom xmlns:a="http://schemas.openxmlformats.org/drawingml/2006/main">
            <a:rect l="l" t="t" r="r" b="b"/>
            <a:pathLst>
              <a:path w="2249680" h="2178091">
                <a:moveTo>
                  <a:pt x="0" y="0"/>
                </a:moveTo>
                <a:lnTo>
                  <a:pt x="2249680" y="0"/>
                </a:lnTo>
                <a:lnTo>
                  <a:pt x="2249680" y="2178091"/>
                </a:lnTo>
                <a:lnTo>
                  <a:pt x="0" y="21780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2abafc7b0e46e6">
              <a:extLst>
                <a:ext uri="{96DAC541-7B7A-43D3-8B79-37D633B846F1}">
                  <asvg:svgBlip xmlns:asvg="http://schemas.microsoft.com/office/drawing/2016/SVG/main" r:embed="R89d119252e98466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B112E4B-DC27-40A7-8212-CD5614A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1161" y="6923689"/>
            <a:ext cx="14657693" cy="2114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215"/>
              </a:lnSpc>
              <a:spcBef>
                <a:spcPct val="0"/>
              </a:spcBef>
              <a:buNone/>
              <a:defRPr sz="2100"/>
            </a:pPr>
            <a:r>
              <a:rPr sz="210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Problema → táctica → evidencia observable</a:t>
            </a:r>
          </a:p>
        </p:txBody>
      </p:sp>
    </p:spTree>
    <p:extLst>
      <p:ext uri="{BB962C8B-B14F-4D97-AF65-F5344CB8AC3E}">
        <p14:creationId xmlns:p14="http://schemas.microsoft.com/office/powerpoint/2010/main" val="737407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644F7A7-0BFA-47A8-AA41-9C773B4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79319A3-1C5B-4396-9306-A724E4A8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882B02C-2245-46B0-B787-3791ACC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8C7502F-4068-4FB4-9540-7B07155E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400" y="3321349"/>
            <a:ext cx="7017108" cy="2564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499"/>
              </a:lnSpc>
              <a:spcBef>
                <a:spcPct val="0"/>
              </a:spcBef>
              <a:buNone/>
              <a:defRPr sz="5400"/>
            </a:pPr>
            <a:r>
              <a:rPr sz="54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Autenticar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9ACAAA0-12BE-4D34-A546-1E21D35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400" y="6204390"/>
            <a:ext cx="7017108" cy="408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19"/>
              </a:lnSpc>
              <a:spcBef>
                <a:spcPct val="0"/>
              </a:spcBef>
              <a:buNone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Verificar la identidad antes de dar acceso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3F3B9D8-603C-4AAB-8B52-765B7D5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352930" y="599065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6b36d8026b4f71">
              <a:extLst>
                <a:ext uri="{96DAC541-7B7A-43D3-8B79-37D633B846F1}">
                  <asvg:svgBlip xmlns:asvg="http://schemas.microsoft.com/office/drawing/2016/SVG/main" r:embed="R43fd0d5150604e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2F1B5E-64AC-45EF-9090-8657BC76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3119" y="1784992"/>
            <a:ext cx="5463638" cy="568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Sin token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509387-2CE7-4ABD-8CA8-F70DFCF4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0986" y="2472494"/>
            <a:ext cx="6897554" cy="1872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GET /demo/instancia</a:t>
            </a:r>
          </a:p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401 Unauthorized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B31E1B7-A636-440F-A524-450A8AD7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0349" y="2315693"/>
            <a:ext cx="260637" cy="2505189"/>
          </a:xfrm>
          <a:custGeom xmlns:a="http://schemas.openxmlformats.org/drawingml/2006/main">
            <a:rect l="l" t="t" r="r" b="b"/>
            <a:pathLst>
              <a:path w="68645" h="659803">
                <a:moveTo>
                  <a:pt x="34323" y="0"/>
                </a:moveTo>
                <a:lnTo>
                  <a:pt x="34323" y="0"/>
                </a:lnTo>
                <a:cubicBezTo>
                  <a:pt x="43426" y="0"/>
                  <a:pt x="52156" y="3616"/>
                  <a:pt x="58592" y="10053"/>
                </a:cubicBezTo>
                <a:cubicBezTo>
                  <a:pt x="65029" y="16490"/>
                  <a:pt x="68645" y="25220"/>
                  <a:pt x="68645" y="34323"/>
                </a:cubicBezTo>
                <a:lnTo>
                  <a:pt x="68645" y="625480"/>
                </a:lnTo>
                <a:cubicBezTo>
                  <a:pt x="68645" y="644436"/>
                  <a:pt x="53279" y="659803"/>
                  <a:pt x="34323" y="659803"/>
                </a:cubicBezTo>
                <a:lnTo>
                  <a:pt x="34323" y="659803"/>
                </a:lnTo>
                <a:cubicBezTo>
                  <a:pt x="15367" y="659803"/>
                  <a:pt x="0" y="644436"/>
                  <a:pt x="0" y="625480"/>
                </a:cubicBezTo>
                <a:lnTo>
                  <a:pt x="0" y="34323"/>
                </a:lnTo>
                <a:cubicBezTo>
                  <a:pt x="0" y="15367"/>
                  <a:pt x="15367" y="0"/>
                  <a:pt x="3432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E0473D-C164-4EE3-ADD7-1101E290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0349" y="2171033"/>
            <a:ext cx="260637" cy="264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52DBD1E-58E3-444C-B279-CC13AD0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421" y="7619293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6b36d8026b4f71">
              <a:extLst>
                <a:ext uri="{96DAC541-7B7A-43D3-8B79-37D633B846F1}">
                  <asvg:svgBlip xmlns:asvg="http://schemas.microsoft.com/office/drawing/2016/SVG/main" r:embed="R43fd0d5150604e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3BC4C87-85D4-443A-89CA-F7C7675E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56012" y="8361045"/>
            <a:ext cx="926746" cy="897255"/>
          </a:xfrm>
          <a:custGeom xmlns:a="http://schemas.openxmlformats.org/drawingml/2006/main">
            <a:rect l="l" t="t" r="r" b="b"/>
            <a:pathLst>
              <a:path w="926746" h="897255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7b53eb9f26481a">
              <a:extLst>
                <a:ext uri="{96DAC541-7B7A-43D3-8B79-37D633B846F1}">
                  <asvg:svgBlip xmlns:asvg="http://schemas.microsoft.com/office/drawing/2016/SVG/main" r:embed="R59149d02cae147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AB3D4F8-B5A4-4A6E-BBCA-9FFE2F2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8975" y="7201737"/>
            <a:ext cx="260637" cy="1995485"/>
          </a:xfrm>
          <a:custGeom xmlns:a="http://schemas.openxmlformats.org/drawingml/2006/main">
            <a:rect l="l" t="t" r="r" b="b"/>
            <a:pathLst>
              <a:path w="68645" h="525560">
                <a:moveTo>
                  <a:pt x="34323" y="0"/>
                </a:moveTo>
                <a:lnTo>
                  <a:pt x="34323" y="0"/>
                </a:lnTo>
                <a:cubicBezTo>
                  <a:pt x="43426" y="0"/>
                  <a:pt x="52156" y="3616"/>
                  <a:pt x="58592" y="10053"/>
                </a:cubicBezTo>
                <a:cubicBezTo>
                  <a:pt x="65029" y="16490"/>
                  <a:pt x="68645" y="25220"/>
                  <a:pt x="68645" y="34323"/>
                </a:cubicBezTo>
                <a:lnTo>
                  <a:pt x="68645" y="491237"/>
                </a:lnTo>
                <a:cubicBezTo>
                  <a:pt x="68645" y="510193"/>
                  <a:pt x="53279" y="525560"/>
                  <a:pt x="34323" y="525560"/>
                </a:cubicBezTo>
                <a:lnTo>
                  <a:pt x="34323" y="525560"/>
                </a:lnTo>
                <a:cubicBezTo>
                  <a:pt x="25220" y="525560"/>
                  <a:pt x="16490" y="521944"/>
                  <a:pt x="10053" y="515507"/>
                </a:cubicBezTo>
                <a:cubicBezTo>
                  <a:pt x="3616" y="509070"/>
                  <a:pt x="0" y="500340"/>
                  <a:pt x="0" y="491237"/>
                </a:cubicBezTo>
                <a:lnTo>
                  <a:pt x="0" y="34323"/>
                </a:lnTo>
                <a:cubicBezTo>
                  <a:pt x="0" y="15367"/>
                  <a:pt x="15367" y="0"/>
                  <a:pt x="3432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1073F8F-3B20-4D36-8032-237F3B8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8975" y="7057077"/>
            <a:ext cx="260637" cy="21401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8614A7-90FF-4E6E-A91F-D9B09F5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1745" y="6671036"/>
            <a:ext cx="5463638" cy="568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Con identidad verificada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07FAF96-0A82-48F2-81F3-369FD378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1745" y="7386160"/>
            <a:ext cx="6897554" cy="1872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POST /auth/login → JWT</a:t>
            </a:r>
          </a:p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875"/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GET /demo/instancia → 200 OK</a:t>
            </a:r>
          </a:p>
        </p:txBody>
      </p:sp>
    </p:spTree>
    <p:extLst>
      <p:ext uri="{BB962C8B-B14F-4D97-AF65-F5344CB8AC3E}">
        <p14:creationId xmlns:p14="http://schemas.microsoft.com/office/powerpoint/2010/main" val="1233995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644F7A7-0BFA-47A8-AA41-9C773B4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79319A3-1C5B-4396-9306-A724E4A8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882B02C-2245-46B0-B787-3791ACC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8C7502F-4068-4FB4-9540-7B07155E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3321349"/>
            <a:ext cx="6667500" cy="2564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499"/>
              </a:lnSpc>
              <a:spcBef>
                <a:spcPct val="0"/>
              </a:spcBef>
              <a:buNone/>
              <a:defRPr sz="5100"/>
            </a:pPr>
            <a:r>
              <a:rPr sz="51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Autorizar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9ACAAA0-12BE-4D34-A546-1E21D35B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5400" y="6204390"/>
            <a:ext cx="7017108" cy="408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19"/>
              </a:lnSpc>
              <a:spcBef>
                <a:spcPct val="0"/>
              </a:spcBef>
              <a:buNone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Decidir qué puede hacer cada identidad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3F3B9D8-603C-4AAB-8B52-765B7D5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352930" y="599065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6a29134b0401d">
              <a:extLst>
                <a:ext uri="{96DAC541-7B7A-43D3-8B79-37D633B846F1}">
                  <asvg:svgBlip xmlns:asvg="http://schemas.microsoft.com/office/drawing/2016/SVG/main" r:embed="R6d1d498d81f144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2F1B5E-64AC-45EF-9090-8657BC76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3119" y="1784992"/>
            <a:ext cx="5463638" cy="568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Token de CLIENTE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509387-2CE7-4ABD-8CA8-F70DFCF4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77500" y="2472494"/>
            <a:ext cx="6191250" cy="1872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GET /agenda</a:t>
            </a:r>
          </a:p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403 Forbidden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B31E1B7-A636-440F-A524-450A8AD7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0349" y="2315693"/>
            <a:ext cx="260637" cy="2505189"/>
          </a:xfrm>
          <a:custGeom xmlns:a="http://schemas.openxmlformats.org/drawingml/2006/main">
            <a:rect l="l" t="t" r="r" b="b"/>
            <a:pathLst>
              <a:path w="68645" h="659803">
                <a:moveTo>
                  <a:pt x="34323" y="0"/>
                </a:moveTo>
                <a:lnTo>
                  <a:pt x="34323" y="0"/>
                </a:lnTo>
                <a:cubicBezTo>
                  <a:pt x="43426" y="0"/>
                  <a:pt x="52156" y="3616"/>
                  <a:pt x="58592" y="10053"/>
                </a:cubicBezTo>
                <a:cubicBezTo>
                  <a:pt x="65029" y="16490"/>
                  <a:pt x="68645" y="25220"/>
                  <a:pt x="68645" y="34323"/>
                </a:cubicBezTo>
                <a:lnTo>
                  <a:pt x="68645" y="625480"/>
                </a:lnTo>
                <a:cubicBezTo>
                  <a:pt x="68645" y="644436"/>
                  <a:pt x="53279" y="659803"/>
                  <a:pt x="34323" y="659803"/>
                </a:cubicBezTo>
                <a:lnTo>
                  <a:pt x="34323" y="659803"/>
                </a:lnTo>
                <a:cubicBezTo>
                  <a:pt x="15367" y="659803"/>
                  <a:pt x="0" y="644436"/>
                  <a:pt x="0" y="625480"/>
                </a:cubicBezTo>
                <a:lnTo>
                  <a:pt x="0" y="34323"/>
                </a:lnTo>
                <a:cubicBezTo>
                  <a:pt x="0" y="15367"/>
                  <a:pt x="15367" y="0"/>
                  <a:pt x="3432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E0473D-C164-4EE3-ADD7-1101E290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0349" y="2171033"/>
            <a:ext cx="260637" cy="264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52DBD1E-58E3-444C-B279-CC13AD0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7421" y="7619293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0" y="0"/>
                </a:moveTo>
                <a:lnTo>
                  <a:pt x="3385755" y="0"/>
                </a:lnTo>
                <a:lnTo>
                  <a:pt x="3385755" y="3278014"/>
                </a:lnTo>
                <a:lnTo>
                  <a:pt x="0" y="32780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6a29134b0401d">
              <a:extLst>
                <a:ext uri="{96DAC541-7B7A-43D3-8B79-37D633B846F1}">
                  <asvg:svgBlip xmlns:asvg="http://schemas.microsoft.com/office/drawing/2016/SVG/main" r:embed="R6d1d498d81f144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3BC4C87-85D4-443A-89CA-F7C7675E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056012" y="8361045"/>
            <a:ext cx="926746" cy="897255"/>
          </a:xfrm>
          <a:custGeom xmlns:a="http://schemas.openxmlformats.org/drawingml/2006/main">
            <a:rect l="l" t="t" r="r" b="b"/>
            <a:pathLst>
              <a:path w="926746" h="897255">
                <a:moveTo>
                  <a:pt x="926746" y="0"/>
                </a:moveTo>
                <a:lnTo>
                  <a:pt x="0" y="0"/>
                </a:lnTo>
                <a:lnTo>
                  <a:pt x="0" y="897255"/>
                </a:lnTo>
                <a:lnTo>
                  <a:pt x="926746" y="897255"/>
                </a:lnTo>
                <a:lnTo>
                  <a:pt x="92674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763fb1734f4bed">
              <a:extLst>
                <a:ext uri="{96DAC541-7B7A-43D3-8B79-37D633B846F1}">
                  <asvg:svgBlip xmlns:asvg="http://schemas.microsoft.com/office/drawing/2016/SVG/main" r:embed="Rf7d437dcce414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AB3D4F8-B5A4-4A6E-BBCA-9FFE2F2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8975" y="7201737"/>
            <a:ext cx="260637" cy="1995485"/>
          </a:xfrm>
          <a:custGeom xmlns:a="http://schemas.openxmlformats.org/drawingml/2006/main">
            <a:rect l="l" t="t" r="r" b="b"/>
            <a:pathLst>
              <a:path w="68645" h="525560">
                <a:moveTo>
                  <a:pt x="34323" y="0"/>
                </a:moveTo>
                <a:lnTo>
                  <a:pt x="34323" y="0"/>
                </a:lnTo>
                <a:cubicBezTo>
                  <a:pt x="43426" y="0"/>
                  <a:pt x="52156" y="3616"/>
                  <a:pt x="58592" y="10053"/>
                </a:cubicBezTo>
                <a:cubicBezTo>
                  <a:pt x="65029" y="16490"/>
                  <a:pt x="68645" y="25220"/>
                  <a:pt x="68645" y="34323"/>
                </a:cubicBezTo>
                <a:lnTo>
                  <a:pt x="68645" y="491237"/>
                </a:lnTo>
                <a:cubicBezTo>
                  <a:pt x="68645" y="510193"/>
                  <a:pt x="53279" y="525560"/>
                  <a:pt x="34323" y="525560"/>
                </a:cubicBezTo>
                <a:lnTo>
                  <a:pt x="34323" y="525560"/>
                </a:lnTo>
                <a:cubicBezTo>
                  <a:pt x="25220" y="525560"/>
                  <a:pt x="16490" y="521944"/>
                  <a:pt x="10053" y="515507"/>
                </a:cubicBezTo>
                <a:cubicBezTo>
                  <a:pt x="3616" y="509070"/>
                  <a:pt x="0" y="500340"/>
                  <a:pt x="0" y="491237"/>
                </a:cubicBezTo>
                <a:lnTo>
                  <a:pt x="0" y="34323"/>
                </a:lnTo>
                <a:cubicBezTo>
                  <a:pt x="0" y="15367"/>
                  <a:pt x="15367" y="0"/>
                  <a:pt x="3432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1073F8F-3B20-4D36-8032-237F3B8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58975" y="7057077"/>
            <a:ext cx="260637" cy="21401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8614A7-90FF-4E6E-A91F-D9B09F5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1745" y="6671036"/>
            <a:ext cx="5463638" cy="568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4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Token de VETERINARIO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07FAF96-0A82-48F2-81F3-369FD378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1745" y="7386160"/>
            <a:ext cx="6897554" cy="1872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GET /agenda</a:t>
            </a:r>
          </a:p>
          <a:p xmlns:a="http://schemas.openxmlformats.org/drawingml/2006/main">
            <a:pPr marL="582925" lvl="1" indent="-291463" algn="l">
              <a:lnSpc>
                <a:spcPts val="3779"/>
              </a:lnSpc>
              <a:buFont typeface="Arial"/>
              <a:buChar char="•"/>
              <a:defRPr sz="1950"/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→ 200 OK</a:t>
            </a:r>
          </a:p>
        </p:txBody>
      </p:sp>
    </p:spTree>
    <p:extLst>
      <p:ext uri="{BB962C8B-B14F-4D97-AF65-F5344CB8AC3E}">
        <p14:creationId xmlns:p14="http://schemas.microsoft.com/office/powerpoint/2010/main" val="1233995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7638D65-FDE4-4447-AAC1-8898A2B9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C8CC03-6EE2-40B4-860D-95E5645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17E86AA-E420-4DEA-9421-B3A5444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7351AEC-E045-44E1-81C8-C570EE0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9510" y="386135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3883d239384f1c">
              <a:extLst>
                <a:ext uri="{96DAC541-7B7A-43D3-8B79-37D633B846F1}">
                  <asvg:svgBlip xmlns:asvg="http://schemas.microsoft.com/office/drawing/2016/SVG/main" r:embed="Rbb745de048be47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B11311B-D0AF-4EF5-B829-52931EB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1527810"/>
            <a:ext cx="15964654" cy="895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buNone/>
              <a:defRPr sz="2025"/>
            </a:pPr>
            <a:r>
              <a:rPr sz="2025">
                <a:solidFill>
                  <a:srgbClr val="FFFFFF"/>
                </a:solidFill>
                <a:latin typeface="Inter"/>
                <a:ea typeface="Inter"/>
                <a:cs typeface="Inter"/>
              </a:rPr>
              <a:t>Dos contenedores ejecutan la misma API; Nginx distribuye los pedidos.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0B439F8-443A-4502-BADD-0EED808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178150" y="231957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8"/>
                </a:lnTo>
                <a:lnTo>
                  <a:pt x="3325202" y="3219388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3883d239384f1c">
              <a:extLst>
                <a:ext uri="{96DAC541-7B7A-43D3-8B79-37D633B846F1}">
                  <asvg:svgBlip xmlns:asvg="http://schemas.microsoft.com/office/drawing/2016/SVG/main" r:embed="Rbb745de048be47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5A2A3A-5F3F-4884-A8CA-2B295A8A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9666790" y="386135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3883d239384f1c">
              <a:extLst>
                <a:ext uri="{96DAC541-7B7A-43D3-8B79-37D633B846F1}">
                  <asvg:svgBlip xmlns:asvg="http://schemas.microsoft.com/office/drawing/2016/SVG/main" r:embed="Rbb745de048be47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AF80E8E-897A-4759-8A6E-BCEE5561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934098" y="2423795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3883d239384f1c">
              <a:extLst>
                <a:ext uri="{96DAC541-7B7A-43D3-8B79-37D633B846F1}">
                  <asvg:svgBlip xmlns:asvg="http://schemas.microsoft.com/office/drawing/2016/SVG/main" r:embed="Rbb745de048be47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2522D1C-9E8C-45DB-9DF1-E1D365E6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63539" flipH="0" flipV="1">
            <a:off x="12610232" y="3080947"/>
            <a:ext cx="882023" cy="2632903"/>
          </a:xfrm>
          <a:custGeom xmlns:a="http://schemas.openxmlformats.org/drawingml/2006/main">
            <a:rect l="l" t="t" r="r" b="b"/>
            <a:pathLst>
              <a:path w="882023" h="2632903">
                <a:moveTo>
                  <a:pt x="0" y="2632903"/>
                </a:moveTo>
                <a:lnTo>
                  <a:pt x="882023" y="2632903"/>
                </a:lnTo>
                <a:lnTo>
                  <a:pt x="882023" y="0"/>
                </a:lnTo>
                <a:lnTo>
                  <a:pt x="0" y="0"/>
                </a:lnTo>
                <a:lnTo>
                  <a:pt x="0" y="26329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3be2d272c44d55">
              <a:extLst>
                <a:ext uri="{96DAC541-7B7A-43D3-8B79-37D633B846F1}">
                  <asvg:svgBlip xmlns:asvg="http://schemas.microsoft.com/office/drawing/2016/SVG/main" r:embed="Rcadd8234a2474b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D9B1CD9-8182-4C1A-ABB0-2FA48FAE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60370" flipH="0" flipV="0">
            <a:off x="7623721" y="3328340"/>
            <a:ext cx="3040558" cy="1048992"/>
          </a:xfrm>
          <a:custGeom xmlns:a="http://schemas.openxmlformats.org/drawingml/2006/main">
            <a:rect l="l" t="t" r="r" b="b"/>
            <a:pathLst>
              <a:path w="3040558" h="1048992">
                <a:moveTo>
                  <a:pt x="0" y="0"/>
                </a:moveTo>
                <a:lnTo>
                  <a:pt x="3040558" y="0"/>
                </a:lnTo>
                <a:lnTo>
                  <a:pt x="3040558" y="1048992"/>
                </a:lnTo>
                <a:lnTo>
                  <a:pt x="0" y="10489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db414152b54017">
              <a:extLst>
                <a:ext uri="{96DAC541-7B7A-43D3-8B79-37D633B846F1}">
                  <asvg:svgBlip xmlns:asvg="http://schemas.microsoft.com/office/drawing/2016/SVG/main" r:embed="R4c63045187a44a0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22D0FB-B2A0-4B73-8169-1951D61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658428"/>
            <a:ext cx="2461611" cy="1407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250"/>
            </a:pPr>
            <a:r>
              <a:rPr sz="225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Login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BC8E9AB-8F53-45D9-98A4-8CC1968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339036"/>
            <a:ext cx="15964654" cy="2560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080"/>
              </a:lnSpc>
              <a:spcBef>
                <a:spcPct val="0"/>
              </a:spcBef>
              <a:buNone/>
              <a:defRPr sz="3600"/>
            </a:pPr>
            <a:r>
              <a:rPr sz="36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Replicación: una instancia cae y el servicio continúa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0116BC-AD53-44D7-89C5-DF8C957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9946" y="3133642"/>
            <a:ext cx="2461611" cy="1439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Alternan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hostnames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5B1D1A9-93DE-4276-B063-7A2E607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586" y="4915474"/>
            <a:ext cx="2461611" cy="1439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Detener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una réplica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59F8E49-33AF-4E07-963C-33670BF2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5893" y="3201556"/>
            <a:ext cx="2461611" cy="1439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Sigue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200 OK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E542108-0B34-4C72-8ED7-7CFD684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90437" flipH="1" flipV="1">
            <a:off x="4332713" y="4515236"/>
            <a:ext cx="738804" cy="2205384"/>
          </a:xfrm>
          <a:custGeom xmlns:a="http://schemas.openxmlformats.org/drawingml/2006/main">
            <a:rect l="l" t="t" r="r" b="b"/>
            <a:pathLst>
              <a:path w="738804" h="2205384">
                <a:moveTo>
                  <a:pt x="738804" y="2205384"/>
                </a:moveTo>
                <a:lnTo>
                  <a:pt x="0" y="2205384"/>
                </a:lnTo>
                <a:lnTo>
                  <a:pt x="0" y="0"/>
                </a:lnTo>
                <a:lnTo>
                  <a:pt x="738804" y="0"/>
                </a:lnTo>
                <a:lnTo>
                  <a:pt x="738804" y="22053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3be2d272c44d55">
              <a:extLst>
                <a:ext uri="{96DAC541-7B7A-43D3-8B79-37D633B846F1}">
                  <asvg:svgBlip xmlns:asvg="http://schemas.microsoft.com/office/drawing/2016/SVG/main" r:embed="Rcadd8234a2474b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5D9A0EC-6881-4B13-A4C4-502CEE08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861791"/>
            <a:ext cx="7039594" cy="1353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Antes: dos identificadores demuestran balanceo round-robin.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FFD19AF-DF75-4699-8512-ACBFABC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9706" y="7861791"/>
            <a:ext cx="7039594" cy="1353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Después: queda un identificador y no se interrumpe el servicio.</a:t>
            </a:r>
          </a:p>
        </p:txBody>
      </p:sp>
    </p:spTree>
    <p:extLst>
      <p:ext uri="{BB962C8B-B14F-4D97-AF65-F5344CB8AC3E}">
        <p14:creationId xmlns:p14="http://schemas.microsoft.com/office/powerpoint/2010/main" val="1354304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7638D65-FDE4-4447-AAC1-8898A2B9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C8CC03-6EE2-40B4-860D-95E5645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17E86AA-E420-4DEA-9421-B3A54444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7351AEC-E045-44E1-81C8-C570EE01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9510" y="386135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e6bd887b0b4d26">
              <a:extLst>
                <a:ext uri="{96DAC541-7B7A-43D3-8B79-37D633B846F1}">
                  <asvg:svgBlip xmlns:asvg="http://schemas.microsoft.com/office/drawing/2016/SVG/main" r:embed="Ref9ba7a8a5bb42d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B11311B-D0AF-4EF5-B829-52931EB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1527810"/>
            <a:ext cx="15964654" cy="895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buNone/>
              <a:defRPr sz="2025"/>
            </a:pPr>
            <a:r>
              <a:rPr sz="2025">
                <a:solidFill>
                  <a:srgbClr val="FFFFFF"/>
                </a:solidFill>
                <a:latin typeface="Inter"/>
                <a:ea typeface="Inter"/>
                <a:cs typeface="Inter"/>
              </a:rPr>
              <a:t>Se simulan dos fallas de conexión para observar el mecanismo de recuperación.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0B439F8-443A-4502-BADD-0EED808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178150" y="231957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8"/>
                </a:lnTo>
                <a:lnTo>
                  <a:pt x="3325202" y="3219388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e6bd887b0b4d26">
              <a:extLst>
                <a:ext uri="{96DAC541-7B7A-43D3-8B79-37D633B846F1}">
                  <asvg:svgBlip xmlns:asvg="http://schemas.microsoft.com/office/drawing/2016/SVG/main" r:embed="Ref9ba7a8a5bb42d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5A2A3A-5F3F-4884-A8CA-2B295A8A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9666790" y="3861352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e6bd887b0b4d26">
              <a:extLst>
                <a:ext uri="{96DAC541-7B7A-43D3-8B79-37D633B846F1}">
                  <asvg:svgBlip xmlns:asvg="http://schemas.microsoft.com/office/drawing/2016/SVG/main" r:embed="Ref9ba7a8a5bb42d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AF80E8E-897A-4759-8A6E-BCEE5561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3934098" y="2423795"/>
            <a:ext cx="3325202" cy="3219389"/>
          </a:xfrm>
          <a:custGeom xmlns:a="http://schemas.openxmlformats.org/drawingml/2006/main">
            <a:rect l="l" t="t" r="r" b="b"/>
            <a:pathLst>
              <a:path w="3325202" h="3219389">
                <a:moveTo>
                  <a:pt x="3325202" y="0"/>
                </a:moveTo>
                <a:lnTo>
                  <a:pt x="0" y="0"/>
                </a:lnTo>
                <a:lnTo>
                  <a:pt x="0" y="3219389"/>
                </a:lnTo>
                <a:lnTo>
                  <a:pt x="3325202" y="3219389"/>
                </a:lnTo>
                <a:lnTo>
                  <a:pt x="3325202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e6bd887b0b4d26">
              <a:extLst>
                <a:ext uri="{96DAC541-7B7A-43D3-8B79-37D633B846F1}">
                  <asvg:svgBlip xmlns:asvg="http://schemas.microsoft.com/office/drawing/2016/SVG/main" r:embed="Ref9ba7a8a5bb42d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2522D1C-9E8C-45DB-9DF1-E1D365E6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63539" flipH="0" flipV="1">
            <a:off x="12610232" y="3080947"/>
            <a:ext cx="882023" cy="2632903"/>
          </a:xfrm>
          <a:custGeom xmlns:a="http://schemas.openxmlformats.org/drawingml/2006/main">
            <a:rect l="l" t="t" r="r" b="b"/>
            <a:pathLst>
              <a:path w="882023" h="2632903">
                <a:moveTo>
                  <a:pt x="0" y="2632903"/>
                </a:moveTo>
                <a:lnTo>
                  <a:pt x="882023" y="2632903"/>
                </a:lnTo>
                <a:lnTo>
                  <a:pt x="882023" y="0"/>
                </a:lnTo>
                <a:lnTo>
                  <a:pt x="0" y="0"/>
                </a:lnTo>
                <a:lnTo>
                  <a:pt x="0" y="26329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88dad89d204229">
              <a:extLst>
                <a:ext uri="{96DAC541-7B7A-43D3-8B79-37D633B846F1}">
                  <asvg:svgBlip xmlns:asvg="http://schemas.microsoft.com/office/drawing/2016/SVG/main" r:embed="R2f18cd0617d341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D9B1CD9-8182-4C1A-ABB0-2FA48FAE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60370" flipH="0" flipV="0">
            <a:off x="7623721" y="3328340"/>
            <a:ext cx="3040558" cy="1048992"/>
          </a:xfrm>
          <a:custGeom xmlns:a="http://schemas.openxmlformats.org/drawingml/2006/main">
            <a:rect l="l" t="t" r="r" b="b"/>
            <a:pathLst>
              <a:path w="3040558" h="1048992">
                <a:moveTo>
                  <a:pt x="0" y="0"/>
                </a:moveTo>
                <a:lnTo>
                  <a:pt x="3040558" y="0"/>
                </a:lnTo>
                <a:lnTo>
                  <a:pt x="3040558" y="1048992"/>
                </a:lnTo>
                <a:lnTo>
                  <a:pt x="0" y="10489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efbbb8ebf14d10">
              <a:extLst>
                <a:ext uri="{96DAC541-7B7A-43D3-8B79-37D633B846F1}">
                  <asvg:svgBlip xmlns:asvg="http://schemas.microsoft.com/office/drawing/2016/SVG/main" r:embed="Rf8dde984455546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22D0FB-B2A0-4B73-8169-1951D61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658428"/>
            <a:ext cx="2461611" cy="1407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175"/>
            </a:pPr>
            <a:r>
              <a:rPr sz="2175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Simular 2 fallas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BC8E9AB-8F53-45D9-98A4-8CC19688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510" y="339036"/>
            <a:ext cx="15964654" cy="2560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080"/>
              </a:lnSpc>
              <a:spcBef>
                <a:spcPct val="0"/>
              </a:spcBef>
              <a:buNone/>
              <a:defRPr sz="3600"/>
            </a:pPr>
            <a:r>
              <a:rPr sz="36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Reintentos: una falla transitoria no llega al usuario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0116BC-AD53-44D7-89C5-DF8C957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9946" y="3133642"/>
            <a:ext cx="2461611" cy="1439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Intento 1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+ 0,5 s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5B1D1A9-93DE-4276-B063-7A2E607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8586" y="4915474"/>
            <a:ext cx="2461611" cy="1439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Intento 2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+ 1 s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59F8E49-33AF-4E07-963C-33670BF2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5893" y="3201556"/>
            <a:ext cx="2461611" cy="1439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  <a:p xmlns:a="http://schemas.openxmlformats.org/drawingml/2006/main">
            <a:pPr algn="ctr">
              <a:lnSpc>
                <a:spcPts val="3779"/>
              </a:lnSpc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Intento 3</a:t>
            </a:r>
          </a:p>
          <a:p xmlns:a="http://schemas.openxmlformats.org/drawingml/2006/main">
            <a:pPr algn="ctr">
              <a:lnSpc>
                <a:spcPts val="3779"/>
              </a:lnSpc>
              <a:spcBef>
                <a:spcPct val="0"/>
              </a:spcBef>
              <a:buNone/>
              <a:defRPr sz="2100"/>
            </a:pPr>
            <a:r>
              <a:rPr sz="2100" b="1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200 OK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E542108-0B34-4C72-8ED7-7CFD684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90437" flipH="1" flipV="1">
            <a:off x="4332713" y="4515236"/>
            <a:ext cx="738804" cy="2205384"/>
          </a:xfrm>
          <a:custGeom xmlns:a="http://schemas.openxmlformats.org/drawingml/2006/main">
            <a:rect l="l" t="t" r="r" b="b"/>
            <a:pathLst>
              <a:path w="738804" h="2205384">
                <a:moveTo>
                  <a:pt x="738804" y="2205384"/>
                </a:moveTo>
                <a:lnTo>
                  <a:pt x="0" y="2205384"/>
                </a:lnTo>
                <a:lnTo>
                  <a:pt x="0" y="0"/>
                </a:lnTo>
                <a:lnTo>
                  <a:pt x="738804" y="0"/>
                </a:lnTo>
                <a:lnTo>
                  <a:pt x="738804" y="22053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88dad89d204229">
              <a:extLst>
                <a:ext uri="{96DAC541-7B7A-43D3-8B79-37D633B846F1}">
                  <asvg:svgBlip xmlns:asvg="http://schemas.microsoft.com/office/drawing/2016/SVG/main" r:embed="R2f18cd0617d341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5D9A0EC-6881-4B13-A4C4-502CEE08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861791"/>
            <a:ext cx="7039594" cy="1353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Evidencia: intentos_usados = 3 y duración aproximada de 1,5 s.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FFD19AF-DF75-4699-8512-ACBFABC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9706" y="7861791"/>
            <a:ext cx="7039594" cy="1353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39"/>
              </a:lnSpc>
              <a:spcBef>
                <a:spcPct val="0"/>
              </a:spcBef>
              <a:buNone/>
              <a:defRPr sz="1725"/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El límite evita ocultar una falla permanente o saturar la base.</a:t>
            </a:r>
          </a:p>
        </p:txBody>
      </p:sp>
    </p:spTree>
    <p:extLst>
      <p:ext uri="{BB962C8B-B14F-4D97-AF65-F5344CB8AC3E}">
        <p14:creationId xmlns:p14="http://schemas.microsoft.com/office/powerpoint/2010/main" val="135430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6ADB618-2500-4304-9E0B-DF26AF78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019160" y="1028700"/>
            <a:ext cx="2249680" cy="2178091"/>
          </a:xfrm>
          <a:custGeom xmlns:a="http://schemas.openxmlformats.org/drawingml/2006/main">
            <a:rect l="l" t="t" r="r" b="b"/>
            <a:pathLst>
              <a:path w="2249680" h="2178091">
                <a:moveTo>
                  <a:pt x="2249680" y="0"/>
                </a:moveTo>
                <a:lnTo>
                  <a:pt x="0" y="0"/>
                </a:lnTo>
                <a:lnTo>
                  <a:pt x="0" y="2178091"/>
                </a:lnTo>
                <a:lnTo>
                  <a:pt x="2249680" y="2178091"/>
                </a:lnTo>
                <a:lnTo>
                  <a:pt x="224968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6dfb312d794416">
              <a:extLst>
                <a:ext uri="{96DAC541-7B7A-43D3-8B79-37D633B846F1}">
                  <asvg:svgBlip xmlns:asvg="http://schemas.microsoft.com/office/drawing/2016/SVG/main" r:embed="R2f8fd053f37341e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11E67E2-EC7C-4EDB-AF01-BB2FBD80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66870" y="5143500"/>
            <a:ext cx="2972172" cy="2877592"/>
          </a:xfrm>
          <a:custGeom xmlns:a="http://schemas.openxmlformats.org/drawingml/2006/main">
            <a:rect l="l" t="t" r="r" b="b"/>
            <a:pathLst>
              <a:path w="2972172" h="2877592">
                <a:moveTo>
                  <a:pt x="0" y="0"/>
                </a:moveTo>
                <a:lnTo>
                  <a:pt x="2972172" y="0"/>
                </a:lnTo>
                <a:lnTo>
                  <a:pt x="2972172" y="2877592"/>
                </a:lnTo>
                <a:lnTo>
                  <a:pt x="0" y="28775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6dfb312d794416">
              <a:extLst>
                <a:ext uri="{96DAC541-7B7A-43D3-8B79-37D633B846F1}">
                  <asvg:svgBlip xmlns:asvg="http://schemas.microsoft.com/office/drawing/2016/SVG/main" r:embed="R2f8fd053f37341e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33F20C1-F432-4D90-B6C9-F19D993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292E228-3D4C-4556-A493-072E222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D9CC00A-ABA1-470D-91EB-AF915A4F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190C42D-900B-4CA3-9688-4B4B6834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12507" y="2210386"/>
            <a:ext cx="4449790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Replicación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Más recursos activos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y coordinación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21542148-1CEA-43C7-8312-4BE75DAC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2117746"/>
            <a:ext cx="279445" cy="1454012"/>
          </a:xfrm>
          <a:custGeom xmlns:a="http://schemas.openxmlformats.org/drawingml/2006/main">
            <a:rect l="l" t="t" r="r" b="b"/>
            <a:pathLst>
              <a:path w="73599" h="382950">
                <a:moveTo>
                  <a:pt x="36799" y="0"/>
                </a:moveTo>
                <a:lnTo>
                  <a:pt x="36799" y="0"/>
                </a:lnTo>
                <a:cubicBezTo>
                  <a:pt x="46559" y="0"/>
                  <a:pt x="55919" y="3877"/>
                  <a:pt x="62820" y="10778"/>
                </a:cubicBezTo>
                <a:cubicBezTo>
                  <a:pt x="69722" y="17680"/>
                  <a:pt x="73599" y="27040"/>
                  <a:pt x="73599" y="36799"/>
                </a:cubicBezTo>
                <a:lnTo>
                  <a:pt x="73599" y="346150"/>
                </a:lnTo>
                <a:cubicBezTo>
                  <a:pt x="73599" y="366474"/>
                  <a:pt x="57123" y="382950"/>
                  <a:pt x="36799" y="382950"/>
                </a:cubicBezTo>
                <a:lnTo>
                  <a:pt x="36799" y="382950"/>
                </a:lnTo>
                <a:cubicBezTo>
                  <a:pt x="16476" y="382950"/>
                  <a:pt x="0" y="366474"/>
                  <a:pt x="0" y="346150"/>
                </a:cubicBezTo>
                <a:lnTo>
                  <a:pt x="0" y="36799"/>
                </a:lnTo>
                <a:cubicBezTo>
                  <a:pt x="0" y="16476"/>
                  <a:pt x="16476" y="0"/>
                  <a:pt x="3679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0921FB-0557-4A6B-9199-14320A6C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1973086"/>
            <a:ext cx="279445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134D0CD-A076-4E00-A99E-2B208D8C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610" y="4029539"/>
            <a:ext cx="5154733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Reintentos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Deben tener límite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y espera gradual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1C064BA-3297-4395-BFB9-CBBA0A08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3936899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B864AA2-0936-4034-94AB-7FA688B3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3792239"/>
            <a:ext cx="244032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E5151B-B012-4220-AB7D-F466852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218" y="8153627"/>
            <a:ext cx="5154733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Autorización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Verificación constante por rol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F3AF730-3A70-4961-9B1A-8AA65E7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076" y="8060987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489B41C-1E81-4665-98CE-91BF681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076" y="7916327"/>
            <a:ext cx="244032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0CCBEF2-F251-4174-AD9D-61EB237F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0892" y="8153627"/>
            <a:ext cx="5154733" cy="1554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Alcance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Se replica la API, no PostgreSQL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BCD7079-BB13-4C37-AC52-6C02A874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2750" y="8060987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AE954BF-1296-4B30-AF7B-21E5F93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2750" y="7916327"/>
            <a:ext cx="244032" cy="15986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FF75741-D236-4385-A982-84C8661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73423" y="8054144"/>
            <a:ext cx="244033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E1A11CD-4CBF-49A1-8D39-C48CE23D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73423" y="7909484"/>
            <a:ext cx="244033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59D884-C21C-41F5-BA51-3D9A4F8D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039" y="1200150"/>
            <a:ext cx="10379998" cy="6009907"/>
          </a:xfrm>
          <a:custGeom xmlns:a="http://schemas.openxmlformats.org/drawingml/2006/main">
            <a:rect l="l" t="t" r="r" b="b"/>
            <a:pathLst>
              <a:path w="1357111" h="785753">
                <a:moveTo>
                  <a:pt x="33563" y="0"/>
                </a:moveTo>
                <a:lnTo>
                  <a:pt x="1323548" y="0"/>
                </a:lnTo>
                <a:cubicBezTo>
                  <a:pt x="1342084" y="0"/>
                  <a:pt x="1357111" y="15027"/>
                  <a:pt x="1357111" y="33563"/>
                </a:cubicBezTo>
                <a:lnTo>
                  <a:pt x="1357111" y="752190"/>
                </a:lnTo>
                <a:cubicBezTo>
                  <a:pt x="1357111" y="770727"/>
                  <a:pt x="1342084" y="785753"/>
                  <a:pt x="1323548" y="785753"/>
                </a:cubicBezTo>
                <a:lnTo>
                  <a:pt x="33563" y="785753"/>
                </a:lnTo>
                <a:cubicBezTo>
                  <a:pt x="15027" y="785753"/>
                  <a:pt x="0" y="770727"/>
                  <a:pt x="0" y="752190"/>
                </a:cubicBezTo>
                <a:lnTo>
                  <a:pt x="0" y="33563"/>
                </a:lnTo>
                <a:cubicBezTo>
                  <a:pt x="0" y="15027"/>
                  <a:pt x="15027" y="0"/>
                  <a:pt x="33563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6dfb312d794416"/>
            <a:stretch>
              <a:fillRect l="0" t="-7643" r="0" b="-7643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37697C-AB85-413E-8B7C-36C8B831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610" y="5848693"/>
            <a:ext cx="5154733" cy="12400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Autenticación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Agrega fricción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800"/>
            </a:pPr>
            <a:r>
              <a:rPr sz="1800">
                <a:solidFill>
                  <a:srgbClr val="FFFFFF"/>
                </a:solidFill>
                <a:latin typeface="Inter"/>
                <a:ea typeface="Inter"/>
                <a:cs typeface="Inter"/>
              </a:rPr>
              <a:t>y gestión de tokens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D9A15F11-D7EF-45D5-86BA-0EDC575C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5756053"/>
            <a:ext cx="244032" cy="1454012"/>
          </a:xfrm>
          <a:custGeom xmlns:a="http://schemas.openxmlformats.org/drawingml/2006/main">
            <a:rect l="l" t="t" r="r" b="b"/>
            <a:pathLst>
              <a:path w="64272" h="382950">
                <a:moveTo>
                  <a:pt x="32136" y="0"/>
                </a:moveTo>
                <a:lnTo>
                  <a:pt x="32136" y="0"/>
                </a:lnTo>
                <a:cubicBezTo>
                  <a:pt x="40659" y="0"/>
                  <a:pt x="48833" y="3386"/>
                  <a:pt x="54860" y="9412"/>
                </a:cubicBezTo>
                <a:cubicBezTo>
                  <a:pt x="60886" y="15439"/>
                  <a:pt x="64272" y="23613"/>
                  <a:pt x="64272" y="32136"/>
                </a:cubicBezTo>
                <a:lnTo>
                  <a:pt x="64272" y="350814"/>
                </a:lnTo>
                <a:cubicBezTo>
                  <a:pt x="64272" y="359337"/>
                  <a:pt x="60886" y="367511"/>
                  <a:pt x="54860" y="373537"/>
                </a:cubicBezTo>
                <a:cubicBezTo>
                  <a:pt x="48833" y="379564"/>
                  <a:pt x="40659" y="382950"/>
                  <a:pt x="32136" y="382950"/>
                </a:cubicBezTo>
                <a:lnTo>
                  <a:pt x="32136" y="382950"/>
                </a:lnTo>
                <a:cubicBezTo>
                  <a:pt x="23613" y="382950"/>
                  <a:pt x="15439" y="379564"/>
                  <a:pt x="9412" y="373537"/>
                </a:cubicBezTo>
                <a:cubicBezTo>
                  <a:pt x="3386" y="367511"/>
                  <a:pt x="0" y="359337"/>
                  <a:pt x="0" y="350814"/>
                </a:cubicBezTo>
                <a:lnTo>
                  <a:pt x="0" y="32136"/>
                </a:lnTo>
                <a:cubicBezTo>
                  <a:pt x="0" y="23613"/>
                  <a:pt x="3386" y="15439"/>
                  <a:pt x="9412" y="9412"/>
                </a:cubicBezTo>
                <a:cubicBezTo>
                  <a:pt x="15439" y="3386"/>
                  <a:pt x="23613" y="0"/>
                  <a:pt x="3213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81DB4D1-0BA1-4637-8779-87C4F4FF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0468" y="5611393"/>
            <a:ext cx="244032" cy="1598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3EE736D-50B3-43BA-AF2A-EF930F68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0468" y="681990"/>
            <a:ext cx="6602488" cy="1280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80"/>
              </a:lnSpc>
              <a:spcBef>
                <a:spcPct val="0"/>
              </a:spcBef>
              <a:buNone/>
              <a:defRPr sz="4350"/>
            </a:pPr>
            <a:r>
              <a:rPr sz="435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Costos y límites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8EF52BEE-7D2B-4DA1-9FDB-68373760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1566" y="8137260"/>
            <a:ext cx="5154734" cy="1563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Resultado</a:t>
            </a:r>
          </a:p>
          <a:p xmlns:a="http://schemas.openxmlformats.org/drawingml/2006/main">
            <a:pPr algn="l">
              <a:lnSpc>
                <a:spcPts val="2520"/>
              </a:lnSpc>
              <a:spcBef>
                <a:spcPct val="0"/>
              </a:spcBef>
              <a:buNone/>
              <a:defRPr sz="1650"/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Seguridad y continuidad observables</a:t>
            </a:r>
          </a:p>
        </p:txBody>
      </p:sp>
    </p:spTree>
    <p:extLst>
      <p:ext uri="{BB962C8B-B14F-4D97-AF65-F5344CB8AC3E}">
        <p14:creationId xmlns:p14="http://schemas.microsoft.com/office/powerpoint/2010/main" val="20039205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21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8C925FA-FA28-49A6-8C87-DD2F6473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0477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0891FF-19D2-4CDC-AC45-0E80AB8C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2001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DD46100-7205-4AF5-B9E5-1853B737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27670" y="1352550"/>
            <a:ext cx="431629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882EAE3-E1CD-4B0B-8A96-CEC67DA2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70420" y="5943635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3385756" y="0"/>
                </a:moveTo>
                <a:lnTo>
                  <a:pt x="0" y="0"/>
                </a:lnTo>
                <a:lnTo>
                  <a:pt x="0" y="3278015"/>
                </a:lnTo>
                <a:lnTo>
                  <a:pt x="3385756" y="3278015"/>
                </a:lnTo>
                <a:lnTo>
                  <a:pt x="338575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ca645070424ba1">
              <a:extLst>
                <a:ext uri="{96DAC541-7B7A-43D3-8B79-37D633B846F1}">
                  <asvg:svgBlip xmlns:asvg="http://schemas.microsoft.com/office/drawing/2016/SVG/main" r:embed="Rd490b37f0b324f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27E8F4F-E27B-46A5-BE10-2D0BCFAB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1598" y="5943635"/>
            <a:ext cx="3385756" cy="3278015"/>
          </a:xfrm>
          <a:custGeom xmlns:a="http://schemas.openxmlformats.org/drawingml/2006/main">
            <a:rect l="l" t="t" r="r" b="b"/>
            <a:pathLst>
              <a:path w="3385756" h="3278015">
                <a:moveTo>
                  <a:pt x="0" y="0"/>
                </a:moveTo>
                <a:lnTo>
                  <a:pt x="3385756" y="0"/>
                </a:lnTo>
                <a:lnTo>
                  <a:pt x="3385756" y="3278015"/>
                </a:lnTo>
                <a:lnTo>
                  <a:pt x="0" y="32780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ca645070424ba1">
              <a:extLst>
                <a:ext uri="{96DAC541-7B7A-43D3-8B79-37D633B846F1}">
                  <asvg:svgBlip xmlns:asvg="http://schemas.microsoft.com/office/drawing/2016/SVG/main" r:embed="Rd490b37f0b324f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A9F1A53-E314-450A-A93D-7D089AE7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598" y="1258176"/>
            <a:ext cx="13362530" cy="6179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6219"/>
              </a:lnSpc>
              <a:spcBef>
                <a:spcPct val="0"/>
              </a:spcBef>
              <a:buNone/>
              <a:defRPr sz="4125"/>
            </a:pPr>
            <a:r>
              <a:rPr sz="4125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</a:rPr>
              <a:t>Las tácticas se notan menos cuando funcionan bien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B344F46-FF75-4B1E-907C-6BEA87B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56093" y="1675314"/>
            <a:ext cx="4441660" cy="7546336"/>
          </a:xfrm>
          <a:custGeom xmlns:a="http://schemas.openxmlformats.org/drawingml/2006/main">
            <a:rect l="l" t="t" r="r" b="b"/>
            <a:pathLst>
              <a:path w="646358" h="1098156">
                <a:moveTo>
                  <a:pt x="78436" y="0"/>
                </a:moveTo>
                <a:lnTo>
                  <a:pt x="567922" y="0"/>
                </a:lnTo>
                <a:cubicBezTo>
                  <a:pt x="611241" y="0"/>
                  <a:pt x="646358" y="35117"/>
                  <a:pt x="646358" y="78436"/>
                </a:cubicBezTo>
                <a:lnTo>
                  <a:pt x="646358" y="1019720"/>
                </a:lnTo>
                <a:cubicBezTo>
                  <a:pt x="646358" y="1040523"/>
                  <a:pt x="638095" y="1060473"/>
                  <a:pt x="623385" y="1075183"/>
                </a:cubicBezTo>
                <a:cubicBezTo>
                  <a:pt x="608675" y="1089893"/>
                  <a:pt x="588725" y="1098156"/>
                  <a:pt x="567922" y="1098156"/>
                </a:cubicBezTo>
                <a:lnTo>
                  <a:pt x="78436" y="1098156"/>
                </a:lnTo>
                <a:cubicBezTo>
                  <a:pt x="57634" y="1098156"/>
                  <a:pt x="37683" y="1089893"/>
                  <a:pt x="22973" y="1075183"/>
                </a:cubicBezTo>
                <a:cubicBezTo>
                  <a:pt x="8264" y="1060473"/>
                  <a:pt x="0" y="1040523"/>
                  <a:pt x="0" y="1019720"/>
                </a:cubicBezTo>
                <a:lnTo>
                  <a:pt x="0" y="78436"/>
                </a:lnTo>
                <a:cubicBezTo>
                  <a:pt x="0" y="57634"/>
                  <a:pt x="8264" y="37683"/>
                  <a:pt x="22973" y="22973"/>
                </a:cubicBezTo>
                <a:cubicBezTo>
                  <a:pt x="37683" y="8264"/>
                  <a:pt x="57634" y="0"/>
                  <a:pt x="78436" y="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9d036807c4c42bd"/>
            <a:stretch>
              <a:fillRect l="-6684" t="0" r="-6684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17572952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2026-09-02T03:33:58.1680000Z</dcterms:created>
  <dcterms:modified xsi:type="dcterms:W3CDTF">2026-09-02T03:33:58.1680000Z</dcterms:modified>
</coreProperties>
</file>