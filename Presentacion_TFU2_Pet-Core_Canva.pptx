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2ae319485446ef" /><Relationship Type="http://schemas.openxmlformats.org/officeDocument/2006/relationships/extended-properties" Target="/docProps/app.xml" Id="Rd926440ac4014825" /><Relationship Type="http://schemas.openxmlformats.org/officeDocument/2006/relationships/officeDocument" Target="/ppt/presentation.xml" Id="R758275aa27c44b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45bcca2c0042cc"/>
  </p:sldMasterIdLst>
  <p:notesMasterIdLst>
    <p:notesMasterId xmlns:r="http://schemas.openxmlformats.org/officeDocument/2006/relationships" r:id="Ra55b66430f4f47eb"/>
  </p:notesMasterIdLst>
  <p:sldIdLst>
    <p:sldId xmlns:r="http://schemas.openxmlformats.org/officeDocument/2006/relationships" id="256" r:id="R198237368aba42c9"/>
    <p:sldId xmlns:r="http://schemas.openxmlformats.org/officeDocument/2006/relationships" id="257" r:id="R41d46241139649d0"/>
    <p:sldId xmlns:r="http://schemas.openxmlformats.org/officeDocument/2006/relationships" id="258" r:id="R33cb1c84e4e146b4"/>
    <p:sldId xmlns:r="http://schemas.openxmlformats.org/officeDocument/2006/relationships" id="259" r:id="Rc1aec5e0c4ff4ee8"/>
    <p:sldId xmlns:r="http://schemas.openxmlformats.org/officeDocument/2006/relationships" id="260" r:id="R3694d4148c14446e"/>
    <p:sldId xmlns:r="http://schemas.openxmlformats.org/officeDocument/2006/relationships" id="261" r:id="Ra5cdabdbc7a540b3"/>
    <p:sldId xmlns:r="http://schemas.openxmlformats.org/officeDocument/2006/relationships" id="262" r:id="R9337d9b6c55b4cac"/>
    <p:sldId xmlns:r="http://schemas.openxmlformats.org/officeDocument/2006/relationships" id="263" r:id="R35484d17481047d6"/>
    <p:sldId xmlns:r="http://schemas.openxmlformats.org/officeDocument/2006/relationships" id="264" r:id="Rfde391f0a7ed4a0b"/>
    <p:sldId xmlns:r="http://schemas.openxmlformats.org/officeDocument/2006/relationships" id="265" r:id="R7b0d8fdbc7ed4b4a"/>
    <p:sldId xmlns:r="http://schemas.openxmlformats.org/officeDocument/2006/relationships" id="266" r:id="Re21bfa3a69b64d96"/>
    <p:sldId xmlns:r="http://schemas.openxmlformats.org/officeDocument/2006/relationships" id="267" r:id="R866d5349081042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68d43ced094817" /><Relationship Type="http://schemas.openxmlformats.org/officeDocument/2006/relationships/slideMaster" Target="/ppt/slideMasters/slideMaster1.xml" Id="R0f45bcca2c0042cc" /><Relationship Type="http://schemas.openxmlformats.org/officeDocument/2006/relationships/notesMaster" Target="/ppt/notesMasters/notesMaster1.xml" Id="Ra55b66430f4f47eb" /><Relationship Type="http://schemas.openxmlformats.org/officeDocument/2006/relationships/presProps" Target="/ppt/presProps.xml" Id="Rb7fe72c0c1744773" /><Relationship Type="http://schemas.openxmlformats.org/officeDocument/2006/relationships/tableStyles" Target="/ppt/tableStyles.xml" Id="R1c0798b7b08849ce" /><Relationship Type="http://schemas.openxmlformats.org/officeDocument/2006/relationships/slide" Target="/ppt/slides/slide1.xml" Id="R198237368aba42c9" /><Relationship Type="http://schemas.openxmlformats.org/officeDocument/2006/relationships/slide" Target="/ppt/slides/slide2.xml" Id="R41d46241139649d0" /><Relationship Type="http://schemas.openxmlformats.org/officeDocument/2006/relationships/slide" Target="/ppt/slides/slide3.xml" Id="R33cb1c84e4e146b4" /><Relationship Type="http://schemas.openxmlformats.org/officeDocument/2006/relationships/slide" Target="/ppt/slides/slide4.xml" Id="Rc1aec5e0c4ff4ee8" /><Relationship Type="http://schemas.openxmlformats.org/officeDocument/2006/relationships/slide" Target="/ppt/slides/slide5.xml" Id="R3694d4148c14446e" /><Relationship Type="http://schemas.openxmlformats.org/officeDocument/2006/relationships/slide" Target="/ppt/slides/slide6.xml" Id="Ra5cdabdbc7a540b3" /><Relationship Type="http://schemas.openxmlformats.org/officeDocument/2006/relationships/slide" Target="/ppt/slides/slide7.xml" Id="R9337d9b6c55b4cac" /><Relationship Type="http://schemas.openxmlformats.org/officeDocument/2006/relationships/slide" Target="/ppt/slides/slide8.xml" Id="R35484d17481047d6" /><Relationship Type="http://schemas.openxmlformats.org/officeDocument/2006/relationships/slide" Target="/ppt/slides/slide9.xml" Id="Rfde391f0a7ed4a0b" /><Relationship Type="http://schemas.openxmlformats.org/officeDocument/2006/relationships/slide" Target="/ppt/slides/slide10.xml" Id="R7b0d8fdbc7ed4b4a" /><Relationship Type="http://schemas.openxmlformats.org/officeDocument/2006/relationships/slide" Target="/ppt/slides/slide11.xml" Id="Re21bfa3a69b64d96" /><Relationship Type="http://schemas.openxmlformats.org/officeDocument/2006/relationships/slide" Target="/ppt/slides/slide12.xml" Id="R866d5349081042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e1fcba472847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04d9054ba4452c" /><Relationship Type="http://schemas.openxmlformats.org/officeDocument/2006/relationships/notesMaster" Target="/ppt/notesMasters/notesMaster1.xml" Id="R6427d0e61e6342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3ae7a599394ee7" /><Relationship Type="http://schemas.openxmlformats.org/officeDocument/2006/relationships/notesMaster" Target="/ppt/notesMasters/notesMaster1.xml" Id="Rf31d8e6767da43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b4fa81e79c4059" /><Relationship Type="http://schemas.openxmlformats.org/officeDocument/2006/relationships/notesMaster" Target="/ppt/notesMasters/notesMaster1.xml" Id="R19b1b8b35aef43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3363adbd0d42c9" /><Relationship Type="http://schemas.openxmlformats.org/officeDocument/2006/relationships/notesMaster" Target="/ppt/notesMasters/notesMaster1.xml" Id="R7ba18bcbfa264a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b74535d705436d" /><Relationship Type="http://schemas.openxmlformats.org/officeDocument/2006/relationships/notesMaster" Target="/ppt/notesMasters/notesMaster1.xml" Id="R3f63a34e452844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f653ed7997473c" /><Relationship Type="http://schemas.openxmlformats.org/officeDocument/2006/relationships/notesMaster" Target="/ppt/notesMasters/notesMaster1.xml" Id="Ra2d1825334184c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ef84c84ec44ce9" /><Relationship Type="http://schemas.openxmlformats.org/officeDocument/2006/relationships/notesMaster" Target="/ppt/notesMasters/notesMaster1.xml" Id="Rdfd44798a5244a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8ce80a845e44f0" /><Relationship Type="http://schemas.openxmlformats.org/officeDocument/2006/relationships/notesMaster" Target="/ppt/notesMasters/notesMaster1.xml" Id="R8822e3b6749843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519b995870445b" /><Relationship Type="http://schemas.openxmlformats.org/officeDocument/2006/relationships/notesMaster" Target="/ppt/notesMasters/notesMaster1.xml" Id="R56d3ec24f4cc4e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1e295b43e84069" /><Relationship Type="http://schemas.openxmlformats.org/officeDocument/2006/relationships/notesMaster" Target="/ppt/notesMasters/notesMaster1.xml" Id="R70abd0b3ab2f44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c57890c0994664" /><Relationship Type="http://schemas.openxmlformats.org/officeDocument/2006/relationships/notesMaster" Target="/ppt/notesMasters/notesMaster1.xml" Id="Rd0dbfe3179be4f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96ad075f95424c" /><Relationship Type="http://schemas.openxmlformats.org/officeDocument/2006/relationships/notesMaster" Target="/ppt/notesMasters/notesMaster1.xml" Id="R7c12b45a89ec44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30 segundos. Presentar al equipo y anticipar que se demostrarán cuatro tácticas con comportamiento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55 segundos. Explicar el dominio solo lo necesario: procesos críticos y separación de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minuto. Formular cada requisito como riesgo y resultado esperado, sin entrar todavía en implementación.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minuto. Diferenciar claramente disponibilidad de seguridad y nombrar las cuatro tácticas seleccionadas.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 30 segundos. Recorrer Postman, Nginx, dos réplicas, seguridad/reintentos dentro de la API, PostgreSQL, volumen y secretos. Aclarar que no hay frontend en la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 15 segundos. Mostrar que no son cuatro demos aisladas: las tácticas forman parte de un mismo recorrido.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15 segundos. Abrir Postman y terminal. Las cuatro demostraciones ocupan aproximadamente siete minutos.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Demo: 1 minuto 15 segundos. Ejecutar en Seguridad_Collection las peticiones sin token, login y acceso con token. Mostrar 401 y luego 200.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Demo: 1 minuto 15 segundos. Iniciar sesión como cliente y luego como veterinario. Explicar que 403 significa identidad válida sin permiso suficiente.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Demo: 2 minutos 15 segundos. Ejecutar varias veces Identificar instancia, detener una réplica y repetir. Mostrar continuidad desde la instancia restante.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Demo: 2 minutos 15 segundos. Dejar una réplica, simular dos fallas, ejecutar GET /mascotas y consultar el último intento. Mostrar tres intentos y resultado exitoso.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minuto. Cerrar con los cuatro resultados y reconocer explícitamente que PostgreSQL no está replicado. Abrir preguntas.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063141655442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0f551d2e824835" /><Relationship Type="http://schemas.openxmlformats.org/officeDocument/2006/relationships/slideLayout" Target="/ppt/slideLayouts/slideLayout1.xml" Id="R8b2993a2e7f747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2993a2e7f747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973d1a5a64430" /><Relationship Type="http://schemas.openxmlformats.org/officeDocument/2006/relationships/image" Target="/ppt/media/image.png" Id="Re66375ec9846499e" /><Relationship Type="http://schemas.openxmlformats.org/officeDocument/2006/relationships/notesSlide" Target="/ppt/notesSlides/notesSlide1.xml" Id="Ra193a5081e3441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4c7814e0d41fc" /><Relationship Type="http://schemas.openxmlformats.org/officeDocument/2006/relationships/notesSlide" Target="/ppt/notesSlides/notesSlide2.xml" Id="R95e30bb9e5164e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411ab72ab4789" /><Relationship Type="http://schemas.openxmlformats.org/officeDocument/2006/relationships/notesSlide" Target="/ppt/notesSlides/notesSlide3.xml" Id="R3c4cbf150ea349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669e722e64a15" /><Relationship Type="http://schemas.openxmlformats.org/officeDocument/2006/relationships/notesSlide" Target="/ppt/notesSlides/notesSlide4.xml" Id="Re66426d081ef40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cf16fea524e9a" /><Relationship Type="http://schemas.openxmlformats.org/officeDocument/2006/relationships/image" Target="/ppt/media/image2.png" Id="Rc6a418a12f2041a8" /><Relationship Type="http://schemas.openxmlformats.org/officeDocument/2006/relationships/notesSlide" Target="/ppt/notesSlides/notesSlide5.xml" Id="Rabb1c1aae3ac40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50591282a4304" /><Relationship Type="http://schemas.openxmlformats.org/officeDocument/2006/relationships/notesSlide" Target="/ppt/notesSlides/notesSlide6.xml" Id="R8d147d4cf6bc4a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cd7a1b1194857" /><Relationship Type="http://schemas.openxmlformats.org/officeDocument/2006/relationships/image" Target="/ppt/media/image3.png" Id="R99e8ce4681234d2d" /><Relationship Type="http://schemas.openxmlformats.org/officeDocument/2006/relationships/notesSlide" Target="/ppt/notesSlides/notesSlide7.xml" Id="Rf7ce1b52dd3b4c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a7401d31c48a7" /><Relationship Type="http://schemas.openxmlformats.org/officeDocument/2006/relationships/notesSlide" Target="/ppt/notesSlides/notesSlide8.xml" Id="Rab704ccbc6f74b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80139609b47e0" /><Relationship Type="http://schemas.openxmlformats.org/officeDocument/2006/relationships/notesSlide" Target="/ppt/notesSlides/notesSlide9.xml" Id="Re7eefe75d68d43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06d58ce8447e4" /><Relationship Type="http://schemas.openxmlformats.org/officeDocument/2006/relationships/image" Target="/ppt/media/image4.png" Id="R478657cd4e2e4c1a" /><Relationship Type="http://schemas.openxmlformats.org/officeDocument/2006/relationships/notesSlide" Target="/ppt/notesSlides/notesSlide10.xml" Id="R64631ab246b745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be9bfeb1245ce" /><Relationship Type="http://schemas.openxmlformats.org/officeDocument/2006/relationships/notesSlide" Target="/ppt/notesSlides/notesSlide11.xml" Id="R7f9948356c2b42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d4a4e89ff4880" /><Relationship Type="http://schemas.openxmlformats.org/officeDocument/2006/relationships/notesSlide" Target="/ppt/notesSlides/notesSlide12.xml" Id="R88b4146dd22740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D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A11F4-8C4A-4637-A1B0-85C07505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375ec9846499e"/>
          <a:stretch xmlns:a="http://schemas.openxmlformats.org/drawingml/2006/main"/>
        </p:blipFill>
        <p:spPr>
          <a:xfrm xmlns:a="http://schemas.openxmlformats.org/drawingml/2006/main">
            <a:off x="8435830" y="571500"/>
            <a:ext cx="3321339" cy="342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08C55-3AEA-4E7E-AD6D-2FD50D9E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FE4DF"/>
                </a:solidFill>
              </a:defRPr>
            </a:pPr>
            <a:r>
              <a:rPr sz="1125" b="1">
                <a:solidFill>
                  <a:srgbClr val="BFE4DF"/>
                </a:solidFill>
              </a:rPr>
              <a:t>TFU2 · ANÁLISIS Y DISEÑO DE APLICACIONES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0674E-9E13-47F5-9C52-D9B78686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Tácticas de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arquitectura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34D4A-D3D4-42F0-B768-001C5808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FE4DF"/>
                </a:solidFill>
              </a:defRPr>
            </a:pPr>
            <a:r>
              <a:rPr sz="1875" b="0">
                <a:solidFill>
                  <a:srgbClr val="BFE4DF"/>
                </a:solidFill>
              </a:rPr>
              <a:t>Disponibilidad y seguridad sobre una API REST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EA18E-B847-4605-83F1-77A9109A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1257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DA28A-4B30-4F21-BA6C-F60ED367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PET-CORE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1DD8A-9E71-411D-9AF5-18B0446C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8E8"/>
                </a:solidFill>
              </a:defRPr>
            </a:pPr>
            <a:r>
              <a:rPr sz="1500" b="0">
                <a:solidFill>
                  <a:srgbClr val="D7E8E8"/>
                </a:solidFill>
              </a:rPr>
              <a:t>Constanza Blanco · Manuel Cabrera</a:t>
            </a:r>
          </a:p>
          <a:p xmlns:a="http://schemas.openxmlformats.org/drawingml/2006/main">
            <a:pPr algn="l">
              <a:defRPr sz="1500" b="0">
                <a:solidFill>
                  <a:srgbClr val="D7E8E8"/>
                </a:solidFill>
              </a:defRPr>
            </a:pPr>
            <a:r>
              <a:rPr sz="1500" b="0">
                <a:solidFill>
                  <a:srgbClr val="D7E8E8"/>
                </a:solidFill>
              </a:rPr>
              <a:t>Diego de Oliveira · Martin Mujica</a:t>
            </a:r>
          </a:p>
        </p:txBody>
      </p:sp>
    </p:spTree>
    <p:extLst>
      <p:ext uri="{BB962C8B-B14F-4D97-AF65-F5344CB8AC3E}">
        <p14:creationId xmlns:p14="http://schemas.microsoft.com/office/powerpoint/2010/main" val="1158282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4BD7B-135B-43B5-A1F3-1C999DD4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8B796-275F-4A8B-94D6-8205B817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CONTEXTO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BB5CC-A4D9-4A37-B42C-B6E51F30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A6175-7501-41DB-8B51-0EAE3688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AD97DA-A3F8-4752-9A1A-FDF37B88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Pet-Core expone procesos que no pueden fallar en silencio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3AD2A-32A1-4BCF-B04E-5BBC10F2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4953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B2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28B11-7453-4B48-A402-777B8D94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Una API REST para la gestión de una clínica veterinaria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9F855-A999-4D72-86E5-F9F644FA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3943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FE4DF"/>
                </a:solidFill>
              </a:defRPr>
            </a:pPr>
            <a:r>
              <a:rPr sz="1575" b="0">
                <a:solidFill>
                  <a:srgbClr val="BFE4DF"/>
                </a:solidFill>
              </a:rPr>
              <a:t>La funcionalidad da un contexto real para observar decisiones de arquitectura.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C2DAA-36C5-497E-AA3A-AF2AB37C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5B"/>
                </a:solidFill>
              </a:defRPr>
            </a:pPr>
            <a:r>
              <a:rPr sz="1350" b="1">
                <a:solidFill>
                  <a:srgbClr val="F26B5B"/>
                </a:solidFill>
              </a:rPr>
              <a:t>Pet-Core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3E71A-98C5-49A7-A4D4-C2F60022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28800"/>
            <a:ext cx="52197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306E4-018C-4605-910A-EAB30317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7C78"/>
                </a:solidFill>
              </a:defRPr>
            </a:pPr>
            <a:r>
              <a:rPr sz="1350" b="1">
                <a:solidFill>
                  <a:srgbClr val="0C7C78"/>
                </a:solidFill>
              </a:rPr>
              <a:t>Procesos críticos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8F833-E836-4E10-8672-76782D84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D3B"/>
                </a:solidFill>
              </a:defRPr>
            </a:pPr>
            <a:r>
              <a:rPr sz="2025" b="1">
                <a:solidFill>
                  <a:srgbClr val="0B2D3B"/>
                </a:solidFill>
              </a:rPr>
              <a:t>Reserva de turnos</a:t>
            </a:r>
          </a:p>
          <a:p xmlns:a="http://schemas.openxmlformats.org/drawingml/2006/main">
            <a:pPr algn="l">
              <a:defRPr sz="2025" b="1">
                <a:solidFill>
                  <a:srgbClr val="0B2D3B"/>
                </a:solidFill>
              </a:defRPr>
            </a:pPr>
            <a:r>
              <a:rPr sz="2025" b="1">
                <a:solidFill>
                  <a:srgbClr val="0B2D3B"/>
                </a:solidFill>
              </a:rPr>
              <a:t>Agenda e historial clínico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B7D7E-63B4-44C7-8DA3-2E395E30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95700"/>
            <a:ext cx="52197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9525">
            <a:solidFill>
              <a:srgbClr val="BFE4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6C69C-F107-4D7D-9C4D-B4D149B1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433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D3B"/>
                </a:solidFill>
              </a:defRPr>
            </a:pPr>
            <a:r>
              <a:rPr sz="1650" b="1">
                <a:solidFill>
                  <a:srgbClr val="0B2D3B"/>
                </a:solidFill>
              </a:rPr>
              <a:t>Tres identidades, permisos diferentes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EDA0E-F289-4A60-96E6-96FF19CA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7C78"/>
                </a:solidFill>
              </a:defRPr>
            </a:pPr>
            <a:r>
              <a:rPr sz="1725" b="1">
                <a:solidFill>
                  <a:srgbClr val="0C7C78"/>
                </a:solidFill>
              </a:rPr>
              <a:t>Cliente  ·  Veterinario  ·  Administrador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4B118-8899-40EC-92EE-6EC2C118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27C"/>
                </a:solidFill>
              </a:defRPr>
            </a:pPr>
            <a:r>
              <a:rPr sz="1350" b="0">
                <a:solidFill>
                  <a:srgbClr val="58727C"/>
                </a:solidFill>
              </a:rPr>
              <a:t>La identidad y el rol determinan qué información puede consultarse.</a:t>
            </a:r>
          </a:p>
        </p:txBody>
      </p:sp>
    </p:spTree>
    <p:extLst>
      <p:ext uri="{BB962C8B-B14F-4D97-AF65-F5344CB8AC3E}">
        <p14:creationId xmlns:p14="http://schemas.microsoft.com/office/powerpoint/2010/main" val="14611682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D76632-8015-4C9F-9AFA-D9C54301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B6E70-D866-417C-A9F7-2D368536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REQUERIMIENTOS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07090-81FC-4770-9A74-C44C15BB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74BBD-8A68-45D8-95C0-5865558C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835DC8-4D8F-4226-86E0-DB51BB32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Los requerimientos exigen continuidad y control de acceso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38311-4D86-4717-AF4B-F0422511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27C"/>
                </a:solidFill>
              </a:defRPr>
            </a:pPr>
            <a:r>
              <a:rPr sz="1425" b="0">
                <a:solidFill>
                  <a:srgbClr val="58727C"/>
                </a:solidFill>
              </a:rPr>
              <a:t>Cada táctica responde a un riesgo concreto.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404C0-BD27-4902-A2FE-17B172C7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7C78"/>
                </a:solidFill>
              </a:defRPr>
            </a:pPr>
            <a:r>
              <a:rPr sz="2100" b="1">
                <a:solidFill>
                  <a:srgbClr val="0C7C7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F7048-CD36-4E6B-B5F5-BF2F4E89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6215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FBC76-300B-4E02-9697-D846FEDC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431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D3B"/>
                </a:solidFill>
              </a:defRPr>
            </a:pPr>
            <a:r>
              <a:rPr sz="1725" b="1">
                <a:solidFill>
                  <a:srgbClr val="0B2D3B"/>
                </a:solidFill>
              </a:rPr>
              <a:t>Servicio disponible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E55AE-FE52-4599-8783-7C70F662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240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27C"/>
                </a:solidFill>
              </a:defRPr>
            </a:pPr>
            <a:r>
              <a:rPr sz="1425" b="0">
                <a:solidFill>
                  <a:srgbClr val="58727C"/>
                </a:solidFill>
              </a:rPr>
              <a:t>Los turnos deben poder reservarse aun cuando una instancia de la API falle.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36D7E-8F13-460D-BB5F-7EBC8433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6B5B"/>
                </a:solidFill>
              </a:defRPr>
            </a:pPr>
            <a:r>
              <a:rPr sz="2100" b="1">
                <a:solidFill>
                  <a:srgbClr val="F26B5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EA6F7-D287-42BE-8580-1F449519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5275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0A203-C88F-46D5-8BDC-4053FA76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337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D3B"/>
                </a:solidFill>
              </a:defRPr>
            </a:pPr>
            <a:r>
              <a:rPr sz="1725" b="1">
                <a:solidFill>
                  <a:srgbClr val="0B2D3B"/>
                </a:solidFill>
              </a:rPr>
              <a:t>Recuperación breve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B4AC6-7A4B-452F-AE4E-B5E3C970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146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27C"/>
                </a:solidFill>
              </a:defRPr>
            </a:pPr>
            <a:r>
              <a:rPr sz="1425" b="0">
                <a:solidFill>
                  <a:srgbClr val="58727C"/>
                </a:solidFill>
              </a:rPr>
              <a:t>Las fallas transitorias de conexión no deberían interrumpir una operación válida.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A966D-C60B-4479-8ACF-55189A89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5A84B"/>
                </a:solidFill>
              </a:defRPr>
            </a:pPr>
            <a:r>
              <a:rPr sz="2100" b="1">
                <a:solidFill>
                  <a:srgbClr val="E5A84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C2609-7ABC-4C6B-A990-4DF9C418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4335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9179F-518C-4264-86B4-0DF092B8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2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D3B"/>
                </a:solidFill>
              </a:defRPr>
            </a:pPr>
            <a:r>
              <a:rPr sz="1725" b="1">
                <a:solidFill>
                  <a:srgbClr val="0B2D3B"/>
                </a:solidFill>
              </a:rPr>
              <a:t>Identidad comprobada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F0EE03-EB34-4EF5-AC07-2BAA7EBA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05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27C"/>
                </a:solidFill>
              </a:defRPr>
            </a:pPr>
            <a:r>
              <a:rPr sz="1425" b="0">
                <a:solidFill>
                  <a:srgbClr val="58727C"/>
                </a:solidFill>
              </a:rPr>
              <a:t>Los recursos protegidos deben rechazar actores que no hayan iniciado sesión.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677B5-FC71-47BC-9762-BD66114E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E4D"/>
                </a:solidFill>
              </a:defRPr>
            </a:pPr>
            <a:r>
              <a:rPr sz="2100" b="1">
                <a:solidFill>
                  <a:srgbClr val="123E4D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EB2A2F-7F75-4EDF-8AC1-4BF8C374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3395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0E7CB1-6DA0-4EF9-A50F-27C3D4FF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149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D3B"/>
                </a:solidFill>
              </a:defRPr>
            </a:pPr>
            <a:r>
              <a:rPr sz="1725" b="1">
                <a:solidFill>
                  <a:srgbClr val="0B2D3B"/>
                </a:solidFill>
              </a:rPr>
              <a:t>Permisos por rol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0A26E-DC09-47EA-A6BE-C412F1D9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958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27C"/>
                </a:solidFill>
              </a:defRPr>
            </a:pPr>
            <a:r>
              <a:rPr sz="1425" b="0">
                <a:solidFill>
                  <a:srgbClr val="58727C"/>
                </a:solidFill>
              </a:rPr>
              <a:t>Un actor autenticado solo puede ejecutar acciones autorizadas para su rol.</a:t>
            </a:r>
          </a:p>
        </p:txBody>
      </p:sp>
    </p:spTree>
    <p:extLst>
      <p:ext uri="{BB962C8B-B14F-4D97-AF65-F5344CB8AC3E}">
        <p14:creationId xmlns:p14="http://schemas.microsoft.com/office/powerpoint/2010/main" val="13307498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95375D-ECB1-4736-ACC7-373948E0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A1D6E-6602-48AE-A795-4148F639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TÁCTICAS ELEGIDAS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FE649-1F34-4150-B82C-6FB13495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E564B-2483-4094-A493-65317E6B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DF2A4F-CA3C-4006-9406-36103D1B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Cuatro tácticas cubren dos atributos de calidad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15174-1486-4E59-980A-10EBBC9C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C7C78"/>
                </a:solidFill>
              </a:defRPr>
            </a:pPr>
            <a:r>
              <a:rPr sz="1275" b="1">
                <a:solidFill>
                  <a:srgbClr val="0C7C78"/>
                </a:solidFill>
              </a:rPr>
              <a:t>DISPONIBILIDAD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9A5F2-AE75-4994-B30C-0B57A63D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6B5B"/>
                </a:solidFill>
              </a:defRPr>
            </a:pPr>
            <a:r>
              <a:rPr sz="1275" b="1">
                <a:solidFill>
                  <a:srgbClr val="F26B5B"/>
                </a:solidFill>
              </a:rPr>
              <a:t>SEGURIDAD · RESISTIR ATAQUES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52C24-1ADA-48A9-8ECA-25CC14EF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857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9525">
            <a:solidFill>
              <a:srgbClr val="BFE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FC2D2-400D-4FBC-B3DD-4CD40C69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2D3B"/>
                </a:solidFill>
              </a:defRPr>
            </a:pPr>
            <a:r>
              <a:rPr sz="2175" b="1">
                <a:solidFill>
                  <a:srgbClr val="0B2D3B"/>
                </a:solidFill>
              </a:rPr>
              <a:t>Replicación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A0E4F-DA04-4C0C-92C5-D8530D49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27C"/>
                </a:solidFill>
              </a:defRPr>
            </a:pPr>
            <a:r>
              <a:rPr sz="1350" b="0">
                <a:solidFill>
                  <a:srgbClr val="58727C"/>
                </a:solidFill>
              </a:rPr>
              <a:t>Dos instancias ejecutan la misma API; si una cae, la otra mantiene el servicio.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2FC7D-E7CF-4494-8E25-92839756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4857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AAC4F-E580-4569-8ADC-2B63ED37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2D3B"/>
                </a:solidFill>
              </a:defRPr>
            </a:pPr>
            <a:r>
              <a:rPr sz="2175" b="1">
                <a:solidFill>
                  <a:srgbClr val="0B2D3B"/>
                </a:solidFill>
              </a:rPr>
              <a:t>Reintentos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FB50A-2F14-484E-AC27-FA185BC6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27C"/>
                </a:solidFill>
              </a:defRPr>
            </a:pPr>
            <a:r>
              <a:rPr sz="1350" b="0">
                <a:solidFill>
                  <a:srgbClr val="58727C"/>
                </a:solidFill>
              </a:rPr>
              <a:t>Una operación fallida se repite con espera y un límite explícito.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BC6CE-C4A4-4D63-999F-B1AE0B66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90750"/>
            <a:ext cx="4857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E5DF"/>
          </a:solidFill>
          <a:ln xmlns:a="http://schemas.openxmlformats.org/drawingml/2006/main" w="9525">
            <a:solidFill>
              <a:srgbClr val="F5B7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3D21A5-BE8D-4378-A63B-BFF5A589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2D3B"/>
                </a:solidFill>
              </a:defRPr>
            </a:pPr>
            <a:r>
              <a:rPr sz="2175" b="1">
                <a:solidFill>
                  <a:srgbClr val="0B2D3B"/>
                </a:solidFill>
              </a:rPr>
              <a:t>Autenticar actores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EF9C6-9986-403C-A02F-A79AA29E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765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27C"/>
                </a:solidFill>
              </a:defRPr>
            </a:pPr>
            <a:r>
              <a:rPr sz="1350" b="0">
                <a:solidFill>
                  <a:srgbClr val="58727C"/>
                </a:solidFill>
              </a:rPr>
              <a:t>Correo y contraseña válidos permiten emitir un token JWT.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342E5-4894-4810-889B-9C97528D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90950"/>
            <a:ext cx="4857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EDD5B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B4445D-0C93-4715-918B-10548F16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2D3B"/>
                </a:solidFill>
              </a:defRPr>
            </a:pPr>
            <a:r>
              <a:rPr sz="2175" b="1">
                <a:solidFill>
                  <a:srgbClr val="0B2D3B"/>
                </a:solidFill>
              </a:rPr>
              <a:t>Autorizar actores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F4374-B616-4778-8096-0158853D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27C"/>
                </a:solidFill>
              </a:defRPr>
            </a:pPr>
            <a:r>
              <a:rPr sz="1350" b="0">
                <a:solidFill>
                  <a:srgbClr val="58727C"/>
                </a:solidFill>
              </a:rPr>
              <a:t>El rol del token determina si una operación está permitida.</a:t>
            </a:r>
          </a:p>
        </p:txBody>
      </p:sp>
    </p:spTree>
    <p:extLst>
      <p:ext uri="{BB962C8B-B14F-4D97-AF65-F5344CB8AC3E}">
        <p14:creationId xmlns:p14="http://schemas.microsoft.com/office/powerpoint/2010/main" val="9947920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30770-AEF2-4276-9033-8EA9FB64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C7EB5-D95F-46DC-9A51-97F21369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ARQUITECTURA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67264-F83B-4E7D-AE22-D911DA27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1278F-52D1-4926-AFDB-9FFB26E9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619041-03B5-42D8-A495-C65A56F1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La arquitectura vuelve observables las cuatro tácticas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9F76C-6140-4634-9725-6FE782FA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418a12f2041a8"/>
          <a:stretch xmlns:a="http://schemas.openxmlformats.org/drawingml/2006/main"/>
        </p:blipFill>
        <p:spPr>
          <a:xfrm xmlns:a="http://schemas.openxmlformats.org/drawingml/2006/main">
            <a:off x="2254176" y="1581150"/>
            <a:ext cx="7683648" cy="4324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424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CA0520-7501-45B7-A9E8-0BED0096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FEA25-B7F6-4F01-92F6-8F8FCD7D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CÓMO ACTÚAN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6F94C-EBA5-4D36-A8FE-D1441B43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A0789-AD78-47A4-A458-14BEAC11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B20CD1-8CDB-43CB-8631-38402F7F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Las tácticas se aplican en distintos momentos del pedido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8DDEA-BF26-42B1-BEA4-87E1023A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10668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B2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C932C-5C99-4698-9F90-50B7264E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Postman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2C1A6-E206-480A-896B-22482515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955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6B5B"/>
                </a:solidFill>
              </a:defRPr>
            </a:pPr>
            <a:r>
              <a:rPr sz="2100" b="1">
                <a:solidFill>
                  <a:srgbClr val="F26B5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1D329-9879-41B0-92CD-F5AD4078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Nginx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B14A5-CD78-4196-B339-0A1B3665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955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6B5B"/>
                </a:solidFill>
              </a:defRPr>
            </a:pPr>
            <a:r>
              <a:rPr sz="2100" b="1">
                <a:solidFill>
                  <a:srgbClr val="F26B5B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3E98E-936C-4832-B47A-E0344C00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26FBF-4FAC-4027-A255-61C9079A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6B5B"/>
                </a:solidFill>
              </a:defRPr>
            </a:pPr>
            <a:r>
              <a:rPr sz="2100" b="1">
                <a:solidFill>
                  <a:srgbClr val="F26B5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A405E-A9C1-4384-9211-07126769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JWT + 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87AF2-D2EC-4A8E-880E-51011A26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955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6B5B"/>
                </a:solidFill>
              </a:defRPr>
            </a:pPr>
            <a:r>
              <a:rPr sz="2100" b="1">
                <a:solidFill>
                  <a:srgbClr val="F26B5B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8CA8A5-D84A-4BCD-9D83-8AE640F8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8A0385-7236-434B-A99F-38E12A24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2D1BD-9008-4BB8-923E-47B21016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9E0B85-E988-4255-A3EB-D4A6AA00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D3B"/>
                </a:solidFill>
              </a:defRPr>
            </a:pPr>
            <a:r>
              <a:rPr sz="1725" b="1">
                <a:solidFill>
                  <a:srgbClr val="0B2D3B"/>
                </a:solidFill>
              </a:rPr>
              <a:t>Replicación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3BCCFA-AAD4-4699-B6B9-33697719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27C"/>
                </a:solidFill>
              </a:defRPr>
            </a:pPr>
            <a:r>
              <a:rPr sz="1350" b="0">
                <a:solidFill>
                  <a:srgbClr val="58727C"/>
                </a:solidFill>
              </a:rPr>
              <a:t>Nginx elige una réplica disponible.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EAAC0-D9E0-46E0-817C-381346A9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C09F18-CFFE-431A-8BA6-4E78516F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F5044A-8D0F-416A-A2A7-2F6C19AD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623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D3B"/>
                </a:solidFill>
              </a:defRPr>
            </a:pPr>
            <a:r>
              <a:rPr sz="1725" b="1">
                <a:solidFill>
                  <a:srgbClr val="0B2D3B"/>
                </a:solidFill>
              </a:rPr>
              <a:t>Autenticación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7442E7-2A3E-49E3-86FD-B624B6C0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576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27C"/>
                </a:solidFill>
              </a:defRPr>
            </a:pPr>
            <a:r>
              <a:rPr sz="1350" b="0">
                <a:solidFill>
                  <a:srgbClr val="58727C"/>
                </a:solidFill>
              </a:rPr>
              <a:t>FastAPI comprueba la identidad y valida el JWT.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E679AA-BCF0-47E1-BC8C-0F7BF3F4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337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BFCBF6-2827-4100-A695-A3762259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337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87BA33-8B74-409E-9C58-07A284F8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D3B"/>
                </a:solidFill>
              </a:defRPr>
            </a:pPr>
            <a:r>
              <a:rPr sz="1725" b="1">
                <a:solidFill>
                  <a:srgbClr val="0B2D3B"/>
                </a:solidFill>
              </a:rPr>
              <a:t>Autorización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53CBD0-0B15-45DF-9115-D49E4E4D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576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27C"/>
                </a:solidFill>
              </a:defRPr>
            </a:pPr>
            <a:r>
              <a:rPr sz="1350" b="0">
                <a:solidFill>
                  <a:srgbClr val="58727C"/>
                </a:solidFill>
              </a:rPr>
              <a:t>El rol habilita o rechaza la operación.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C25961-F2D0-422F-9FAA-A6E63B3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931AD3-193D-4618-BAAB-D72C8AD5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85B8BF-F0BF-4FA7-803C-C83B9074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623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D3B"/>
                </a:solidFill>
              </a:defRPr>
            </a:pPr>
            <a:r>
              <a:rPr sz="1725" b="1">
                <a:solidFill>
                  <a:srgbClr val="0B2D3B"/>
                </a:solidFill>
              </a:rPr>
              <a:t>Reintentos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830A08-B4D7-4195-8DDB-986C70F4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576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27C"/>
                </a:solidFill>
              </a:defRPr>
            </a:pPr>
            <a:r>
              <a:rPr sz="1350" b="0">
                <a:solidFill>
                  <a:srgbClr val="58727C"/>
                </a:solidFill>
              </a:rPr>
              <a:t>La conexión a datos se repite ante una falla transitoria.</a:t>
            </a:r>
          </a:p>
        </p:txBody>
      </p:sp>
    </p:spTree>
    <p:extLst>
      <p:ext uri="{BB962C8B-B14F-4D97-AF65-F5344CB8AC3E}">
        <p14:creationId xmlns:p14="http://schemas.microsoft.com/office/powerpoint/2010/main" val="17837415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2D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8ce4681234d2d"/>
          <a:stretch xmlns:a="http://schemas.openxmlformats.org/drawingml/2006/main"/>
        </p:blipFill>
        <p:spPr>
          <a:xfrm xmlns:a="http://schemas.openxmlformats.org/drawingml/2006/main">
            <a:off x="646982" y="3733800"/>
            <a:ext cx="2306485" cy="2381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D0905-8AC7-4DE3-8D5C-1B4CCE1F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FE4DF"/>
                </a:solidFill>
              </a:defRPr>
            </a:pPr>
            <a:r>
              <a:rPr sz="1125" b="1">
                <a:solidFill>
                  <a:srgbClr val="BFE4DF"/>
                </a:solidFill>
              </a:rPr>
              <a:t>DEMOSTRACIÓN EN VIVO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D2AAC-974B-44D1-8F7E-11F8A7CD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6572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De la decisión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a la evidencia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0F489-1743-4409-AF32-8A609408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383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  Autenticación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43729-9422-4BB1-B2D1-C3332DC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  Autorización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28298-8796-4D74-AC78-746A8A06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956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  Replicación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76585-14C3-4D86-B612-0DD50413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  Reintentos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FE548-BE37-4DC9-9867-6E131BF2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48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6B5B"/>
                </a:solidFill>
              </a:defRPr>
            </a:pPr>
            <a:r>
              <a:rPr sz="1500" b="0">
                <a:solidFill>
                  <a:srgbClr val="F26B5B"/>
                </a:solidFill>
              </a:rPr>
              <a:t>Postman + terminal · 7 minutos</a:t>
            </a:r>
          </a:p>
        </p:txBody>
      </p:sp>
    </p:spTree>
    <p:extLst>
      <p:ext uri="{BB962C8B-B14F-4D97-AF65-F5344CB8AC3E}">
        <p14:creationId xmlns:p14="http://schemas.microsoft.com/office/powerpoint/2010/main" val="20196248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BD915-892D-4D0B-93E9-34EC20AA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D3165-60DE-44E2-B6F4-83829AD1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DEMO 1 · AUTENTICACIÓN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4FCFF-B45F-4D70-8B6A-EFA894CD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9ACCF-3403-49A4-B1C3-DB833AA5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DA08F1-6503-4A72-A2BB-DCF5D07D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Sin identidad no hay acceso; con JWT, el recurso responde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DAAC9-9D21-4792-BC9C-A2559104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4762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E5DF"/>
          </a:solidFill>
          <a:ln xmlns:a="http://schemas.openxmlformats.org/drawingml/2006/main" w="9525">
            <a:solidFill>
              <a:srgbClr val="F5B7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17A9E-C197-4F5B-8768-FC627CB2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6B5B"/>
                </a:solidFill>
              </a:defRPr>
            </a:pPr>
            <a:r>
              <a:rPr sz="1200" b="1">
                <a:solidFill>
                  <a:srgbClr val="F26B5B"/>
                </a:solidFill>
              </a:rPr>
              <a:t>SIN TOKEN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228E8-F53A-459E-9AB7-E69BCA59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D3B"/>
                </a:solidFill>
              </a:defRPr>
            </a:pPr>
            <a:r>
              <a:rPr sz="2025" b="1">
                <a:solidFill>
                  <a:srgbClr val="0B2D3B"/>
                </a:solidFill>
              </a:rPr>
              <a:t>GET /demo/instancia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8C3DE-4004-4DBB-938A-CAF3F68F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26B5B"/>
                </a:solidFill>
              </a:defRPr>
            </a:pPr>
            <a:r>
              <a:rPr sz="4650" b="1">
                <a:solidFill>
                  <a:srgbClr val="F26B5B"/>
                </a:solidFill>
              </a:rPr>
              <a:t>401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7BEFC-9EF1-422B-A0C8-6B857D7E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95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D3B"/>
                </a:solidFill>
              </a:defRPr>
            </a:pPr>
            <a:r>
              <a:rPr sz="1725" b="1">
                <a:solidFill>
                  <a:srgbClr val="0B2D3B"/>
                </a:solidFill>
              </a:rPr>
              <a:t>Unauthorized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8F721-FF28-4C0D-974D-38F537BC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66900"/>
            <a:ext cx="4762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9525">
            <a:solidFill>
              <a:srgbClr val="BFE4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9B94B-DD8E-4329-82E5-4E154CCB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52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C7C78"/>
                </a:solidFill>
              </a:defRPr>
            </a:pPr>
            <a:r>
              <a:rPr sz="1200" b="1">
                <a:solidFill>
                  <a:srgbClr val="0C7C78"/>
                </a:solidFill>
              </a:rPr>
              <a:t>LOGIN + JWT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FE6E6-62FD-4188-A599-941F728E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D3B"/>
                </a:solidFill>
              </a:defRPr>
            </a:pPr>
            <a:r>
              <a:rPr sz="1950" b="1">
                <a:solidFill>
                  <a:srgbClr val="0B2D3B"/>
                </a:solidFill>
              </a:rPr>
              <a:t>POST /auth/login</a:t>
            </a:r>
          </a:p>
          <a:p xmlns:a="http://schemas.openxmlformats.org/drawingml/2006/main">
            <a:pPr algn="l">
              <a:defRPr sz="1950" b="1">
                <a:solidFill>
                  <a:srgbClr val="0B2D3B"/>
                </a:solidFill>
              </a:defRPr>
            </a:pPr>
            <a:r>
              <a:rPr sz="1950" b="1">
                <a:solidFill>
                  <a:srgbClr val="0B2D3B"/>
                </a:solidFill>
              </a:rPr>
              <a:t>GET /demo/instancia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C121C-2473-4CD3-ABDC-192B03C5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1475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C7C78"/>
                </a:solidFill>
              </a:defRPr>
            </a:pPr>
            <a:r>
              <a:rPr sz="4650" b="1">
                <a:solidFill>
                  <a:srgbClr val="0C7C78"/>
                </a:solidFill>
              </a:rPr>
              <a:t>200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E05FD-7352-41B0-B677-021B2558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243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D3B"/>
                </a:solidFill>
              </a:defRPr>
            </a:pPr>
            <a:r>
              <a:rPr sz="1725" b="1">
                <a:solidFill>
                  <a:srgbClr val="0B2D3B"/>
                </a:solidFill>
              </a:rPr>
              <a:t>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6B76ED-87C8-4C8F-B49C-A38A96D1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578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8727C"/>
                </a:solidFill>
              </a:defRPr>
            </a:pPr>
            <a:r>
              <a:rPr sz="1500" b="0">
                <a:solidFill>
                  <a:srgbClr val="58727C"/>
                </a:solidFill>
              </a:rPr>
              <a:t>Evidencia: el mismo endpoint cambia su respuesta cuando se presenta una identidad válida.</a:t>
            </a:r>
          </a:p>
        </p:txBody>
      </p:sp>
    </p:spTree>
    <p:extLst>
      <p:ext uri="{BB962C8B-B14F-4D97-AF65-F5344CB8AC3E}">
        <p14:creationId xmlns:p14="http://schemas.microsoft.com/office/powerpoint/2010/main" val="3931133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2080F2-7BEB-4777-9B43-869540DC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AA0FF-9E44-49B0-9C6E-9707930B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DEMO 2 · AUTORIZACIÓN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91606-0F8D-4558-92A3-225FB115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7653C-9D7B-4474-A251-A13D2B13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CC1A90-DDAB-4CF2-BCE6-0326B14E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Un JWT válido no concede todos los permisos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C2421-91D8-413B-9F82-7C4A7086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06680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C76F3-ED2E-4006-8DB0-0C902275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D3B"/>
                </a:solidFill>
              </a:defRPr>
            </a:pPr>
            <a:r>
              <a:rPr sz="2250" b="1">
                <a:solidFill>
                  <a:srgbClr val="0B2D3B"/>
                </a:solidFill>
              </a:rPr>
              <a:t>GET /agenda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64711-C40D-45F3-A7DE-90967718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67000"/>
            <a:ext cx="285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1BA62-3655-4FCD-A827-E17C372C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6B5B"/>
                </a:solidFill>
              </a:defRPr>
            </a:pPr>
            <a:r>
              <a:rPr sz="1200" b="1">
                <a:solidFill>
                  <a:srgbClr val="F26B5B"/>
                </a:solidFill>
              </a:rPr>
              <a:t>TOKEN DE CLIENTE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226A0-6EBB-4CE6-B4A2-0D6AA155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33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F26B5B"/>
                </a:solidFill>
              </a:defRPr>
            </a:pPr>
            <a:r>
              <a:rPr sz="5100" b="1">
                <a:solidFill>
                  <a:srgbClr val="F26B5B"/>
                </a:solidFill>
              </a:rPr>
              <a:t>403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E6815-F3B6-4D76-B317-8299CA41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14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D3B"/>
                </a:solidFill>
              </a:defRPr>
            </a:pPr>
            <a:r>
              <a:rPr sz="1650" b="1">
                <a:solidFill>
                  <a:srgbClr val="0B2D3B"/>
                </a:solidFill>
              </a:rPr>
              <a:t>Forbidden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533FA-73AE-4147-87D3-67796CA7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C7C78"/>
                </a:solidFill>
              </a:defRPr>
            </a:pPr>
            <a:r>
              <a:rPr sz="1200" b="1">
                <a:solidFill>
                  <a:srgbClr val="0C7C78"/>
                </a:solidFill>
              </a:rPr>
              <a:t>TOKEN DE VETERINARIO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6702DB-5E99-4F3A-AF84-EAA97B80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0C7C78"/>
                </a:solidFill>
              </a:defRPr>
            </a:pPr>
            <a:r>
              <a:rPr sz="5100" b="1">
                <a:solidFill>
                  <a:srgbClr val="0C7C78"/>
                </a:solidFill>
              </a:rPr>
              <a:t>200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210395-689B-48EB-8DE3-1CCFFAA6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14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D3B"/>
                </a:solidFill>
              </a:defRPr>
            </a:pPr>
            <a:r>
              <a:rPr sz="1650" b="1">
                <a:solidFill>
                  <a:srgbClr val="0B2D3B"/>
                </a:solidFill>
              </a:rPr>
              <a:t>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7A063-59A6-472A-872D-41586566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768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8727C"/>
                </a:solidFill>
              </a:defRPr>
            </a:pPr>
            <a:r>
              <a:rPr sz="1500" b="0">
                <a:solidFill>
                  <a:srgbClr val="58727C"/>
                </a:solidFill>
              </a:rPr>
              <a:t>Evidencia: ambos actores están autenticados; el rol determina el resultado.</a:t>
            </a:r>
          </a:p>
        </p:txBody>
      </p:sp>
    </p:spTree>
    <p:extLst>
      <p:ext uri="{BB962C8B-B14F-4D97-AF65-F5344CB8AC3E}">
        <p14:creationId xmlns:p14="http://schemas.microsoft.com/office/powerpoint/2010/main" val="9337965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F4079-042C-4E9B-9EEE-70A00AF5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26A85-FC91-47D4-9236-21184752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DEMO 3 · REPLICACIÓN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4B20B-6F0D-435C-BB15-B46AB676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4F43B-1A14-426E-A1FC-37ED53F0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11647A-C450-404F-A3A8-6062423B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Una réplica cae y la API continúa respondiendo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657cd4e2e4c1a"/>
          <a:stretch xmlns:a="http://schemas.openxmlformats.org/drawingml/2006/main"/>
        </p:blipFill>
        <p:spPr>
          <a:xfrm xmlns:a="http://schemas.openxmlformats.org/drawingml/2006/main">
            <a:off x="590550" y="1585440"/>
            <a:ext cx="7143750" cy="402049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4EACB-00D4-41E0-B27C-67FB0532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57350"/>
            <a:ext cx="3333750" cy="38862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B2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CB58F-509A-4660-AEC0-824FCC6B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81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E4DF"/>
                </a:solidFill>
              </a:defRPr>
            </a:pPr>
            <a:r>
              <a:rPr sz="1200" b="1">
                <a:solidFill>
                  <a:srgbClr val="BFE4DF"/>
                </a:solidFill>
              </a:rPr>
              <a:t>EVIDENCIA EN VIVO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566E2-49D7-45C7-8477-D8F321C3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6B5B"/>
                </a:solidFill>
              </a:defRPr>
            </a:pPr>
            <a:r>
              <a:rPr sz="2025" b="1">
                <a:solidFill>
                  <a:srgbClr val="F26B5B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CDD33-7650-4056-90C4-D25BD218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336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Dos identificadores alternan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53F6C-A27F-4DF3-9A62-84E56E12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90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6B5B"/>
                </a:solidFill>
              </a:defRPr>
            </a:pPr>
            <a:r>
              <a:rPr sz="2025" b="1">
                <a:solidFill>
                  <a:srgbClr val="F26B5B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F4246-3822-4C33-B004-C2A8590C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528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 detiene server-1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6B8ED-C24E-4C2D-A6FA-6190C468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6B5B"/>
                </a:solidFill>
              </a:defRPr>
            </a:pPr>
            <a:r>
              <a:rPr sz="2025" b="1">
                <a:solidFill>
                  <a:srgbClr val="F26B5B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933E5-B896-4D1B-95CA-03B301B0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719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La respuesta sigue en 200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E6D9F-9802-40E5-8122-EF554CE0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10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E4DF"/>
                </a:solidFill>
              </a:defRPr>
            </a:pPr>
            <a:r>
              <a:rPr sz="1275" b="0">
                <a:solidFill>
                  <a:srgbClr val="BFE4DF"/>
                </a:solidFill>
              </a:rPr>
              <a:t>Nginx conserva una única URL para el cliente.</a:t>
            </a:r>
          </a:p>
        </p:txBody>
      </p:sp>
    </p:spTree>
    <p:extLst>
      <p:ext uri="{BB962C8B-B14F-4D97-AF65-F5344CB8AC3E}">
        <p14:creationId xmlns:p14="http://schemas.microsoft.com/office/powerpoint/2010/main" val="12239738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473E6A-DE7D-4433-82C9-5F676B10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026E1-C83A-40F2-80E5-C711DE45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DEMO 4 · REINTENTOS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8AA37-0E96-4801-83AF-1053FCEA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1B48B-53B0-49C9-8F84-11564905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99C7C6-DF33-44D7-8D78-4994B2D3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Dos fallas transitorias se recuperan dentro de la misma operación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8DEB2-2BD4-41F8-9590-4E180A8C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03B08-EB17-43DD-884D-E796C0DA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5B"/>
                </a:solidFill>
              </a:defRPr>
            </a:pPr>
            <a:r>
              <a:rPr sz="1350" b="1">
                <a:solidFill>
                  <a:srgbClr val="F26B5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76EE5-94E4-4A51-A3BB-CCE0F5F6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D3B"/>
                </a:solidFill>
              </a:defRPr>
            </a:pPr>
            <a:r>
              <a:rPr sz="1875" b="1">
                <a:solidFill>
                  <a:srgbClr val="0B2D3B"/>
                </a:solidFill>
              </a:rPr>
              <a:t>Simular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DBFC5-3B05-4221-97BB-6D7887DA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8727C"/>
                </a:solidFill>
              </a:defRPr>
            </a:pPr>
            <a:r>
              <a:rPr sz="1725" b="1">
                <a:solidFill>
                  <a:srgbClr val="58727C"/>
                </a:solidFill>
              </a:rPr>
              <a:t>2 fallas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2B18B-10EE-480D-B621-AC214FA6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26B5B"/>
                </a:solidFill>
              </a:defRPr>
            </a:pPr>
            <a:r>
              <a:rPr sz="1950" b="1">
                <a:solidFill>
                  <a:srgbClr val="F26B5B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46C48-0B15-4347-87B8-7E2923BF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5265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BE64E-E71C-4ED5-B2E2-A2077E9D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622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A84B"/>
                </a:solidFill>
              </a:defRPr>
            </a:pPr>
            <a:r>
              <a:rPr sz="1350" b="1">
                <a:solidFill>
                  <a:srgbClr val="E5A84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03A71-E0CA-4BFD-8733-3A45FCDA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52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D3B"/>
                </a:solidFill>
              </a:defRPr>
            </a:pPr>
            <a:r>
              <a:rPr sz="1875" b="1">
                <a:solidFill>
                  <a:srgbClr val="0B2D3B"/>
                </a:solidFill>
              </a:rPr>
              <a:t>Intento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4A685-D096-4605-81B6-88714F76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43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8727C"/>
                </a:solidFill>
              </a:defRPr>
            </a:pPr>
            <a:r>
              <a:rPr sz="1725" b="1">
                <a:solidFill>
                  <a:srgbClr val="58727C"/>
                </a:solidFill>
              </a:rPr>
              <a:t>+ 0,5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BDB2C-25DC-4323-9D8D-75E29251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26B5B"/>
                </a:solidFill>
              </a:defRPr>
            </a:pPr>
            <a:r>
              <a:rPr sz="1950" b="1">
                <a:solidFill>
                  <a:srgbClr val="F26B5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CEC63-47BC-43E2-BE65-12E680FA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8FA6D0-5D2C-44FF-ABF9-A0E00F7B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622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7C78"/>
                </a:solidFill>
              </a:defRPr>
            </a:pPr>
            <a:r>
              <a:rPr sz="1350" b="1">
                <a:solidFill>
                  <a:srgbClr val="0C7C78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C9FEB4-7FAE-4FEA-9FF5-F4424B4F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D3B"/>
                </a:solidFill>
              </a:defRPr>
            </a:pPr>
            <a:r>
              <a:rPr sz="1875" b="1">
                <a:solidFill>
                  <a:srgbClr val="0B2D3B"/>
                </a:solidFill>
              </a:rPr>
              <a:t>Intento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3D9487-0BBC-4774-B20A-BD7552C7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8727C"/>
                </a:solidFill>
              </a:defRPr>
            </a:pPr>
            <a:r>
              <a:rPr sz="1725" b="1">
                <a:solidFill>
                  <a:srgbClr val="58727C"/>
                </a:solidFill>
              </a:rPr>
              <a:t>+ 1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2C1A5A-2303-4F54-B88E-8EEC471F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26B5B"/>
                </a:solidFill>
              </a:defRPr>
            </a:pPr>
            <a:r>
              <a:rPr sz="1950" b="1">
                <a:solidFill>
                  <a:srgbClr val="F26B5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FE42FB-D71A-4E8A-9DB0-AD196E99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5265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B2D3B"/>
          </a:solidFill>
          <a:ln xmlns:a="http://schemas.openxmlformats.org/drawingml/2006/main" w="9525">
            <a:solidFill>
              <a:srgbClr val="0B2D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BF36BB-385B-45B3-B0AD-EDF6B405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622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E4D"/>
                </a:solidFill>
              </a:defRPr>
            </a:pPr>
            <a:r>
              <a:rPr sz="1350" b="1">
                <a:solidFill>
                  <a:srgbClr val="123E4D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86F0F8-DFFE-43A2-B797-C3ABC4AA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52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Intento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BC909F-00F3-4275-9B97-042EB381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43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FE4DF"/>
                </a:solidFill>
              </a:defRPr>
            </a:pPr>
            <a:r>
              <a:rPr sz="1725" b="1">
                <a:solidFill>
                  <a:srgbClr val="BFE4DF"/>
                </a:solidFill>
              </a:rPr>
              <a:t>200 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3F3E2C-FFF7-46FD-8806-AD5504DC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76800"/>
            <a:ext cx="8191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9525">
            <a:solidFill>
              <a:srgbClr val="BFE4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6BB7A1-5550-4C6A-B526-5A5D1759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38725"/>
            <a:ext cx="754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D3B"/>
                </a:solidFill>
              </a:defRPr>
            </a:pPr>
            <a:r>
              <a:rPr sz="1500" b="1">
                <a:solidFill>
                  <a:srgbClr val="0B2D3B"/>
                </a:solidFill>
              </a:rPr>
              <a:t>Resultado observable: intentos_usados = 3 · duración aproximada = 1,5 s · exitoso = true</a:t>
            </a:r>
          </a:p>
        </p:txBody>
      </p:sp>
    </p:spTree>
    <p:extLst>
      <p:ext uri="{BB962C8B-B14F-4D97-AF65-F5344CB8AC3E}">
        <p14:creationId xmlns:p14="http://schemas.microsoft.com/office/powerpoint/2010/main" val="11219992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7F3B3-163A-42F1-A8D0-CCDE8DF4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5CB5C-1EE1-4291-B7D3-C2C73C75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CONCLUSIÓN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38C8F-A1A3-4F53-B5DA-B56FECAA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B9276-D20D-45F6-BAD1-77156C61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AFADDE-091A-4257-BA13-13005A1A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El resultado es observable, pero el alcance tiene límites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10380-D969-4E51-9753-65A3CBF7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95300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0B2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E64B6-898F-4FE3-A27E-056570AF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336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Lo que demostramos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2CC8C-D4EF-429F-8AB5-B5622534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3905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FE4DF"/>
                </a:solidFill>
              </a:defRPr>
            </a:pPr>
            <a:r>
              <a:rPr sz="1575" b="0">
                <a:solidFill>
                  <a:srgbClr val="BFE4DF"/>
                </a:solidFill>
              </a:rPr>
              <a:t>• Continuidad ante la caída de una API</a:t>
            </a:r>
          </a:p>
          <a:p xmlns:a="http://schemas.openxmlformats.org/drawingml/2006/main">
            <a:pPr algn="l">
              <a:defRPr sz="1575" b="0">
                <a:solidFill>
                  <a:srgbClr val="BFE4DF"/>
                </a:solidFill>
              </a:defRPr>
            </a:pPr>
            <a:r>
              <a:rPr sz="1575" b="0">
                <a:solidFill>
                  <a:srgbClr val="BFE4DF"/>
                </a:solidFill>
              </a:rPr>
              <a:t>• Recuperación ante fallas transitorias</a:t>
            </a:r>
          </a:p>
          <a:p xmlns:a="http://schemas.openxmlformats.org/drawingml/2006/main">
            <a:pPr algn="l">
              <a:defRPr sz="1575" b="0">
                <a:solidFill>
                  <a:srgbClr val="BFE4DF"/>
                </a:solidFill>
              </a:defRPr>
            </a:pPr>
            <a:r>
              <a:rPr sz="1575" b="0">
                <a:solidFill>
                  <a:srgbClr val="BFE4DF"/>
                </a:solidFill>
              </a:rPr>
              <a:t>• Identidad mediante JWT</a:t>
            </a:r>
          </a:p>
          <a:p xmlns:a="http://schemas.openxmlformats.org/drawingml/2006/main">
            <a:pPr algn="l">
              <a:defRPr sz="1575" b="0">
                <a:solidFill>
                  <a:srgbClr val="BFE4DF"/>
                </a:solidFill>
              </a:defRPr>
            </a:pPr>
            <a:r>
              <a:rPr sz="1575" b="0">
                <a:solidFill>
                  <a:srgbClr val="BFE4DF"/>
                </a:solidFill>
              </a:rPr>
              <a:t>• Permisos según 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571B7-F78C-49DC-96C9-12E2334D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14350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F5129-9CE2-4CF4-9C53-4E8070E2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336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D3B"/>
                </a:solidFill>
              </a:defRPr>
            </a:pPr>
            <a:r>
              <a:rPr sz="2025" b="1">
                <a:solidFill>
                  <a:srgbClr val="0B2D3B"/>
                </a:solidFill>
              </a:rPr>
              <a:t>Límite reconocido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97136-7699-4CBE-BD80-D9D69148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0350"/>
            <a:ext cx="4019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6B5B"/>
                </a:solidFill>
              </a:defRPr>
            </a:pPr>
            <a:r>
              <a:rPr sz="2025" b="1">
                <a:solidFill>
                  <a:srgbClr val="F26B5B"/>
                </a:solidFill>
              </a:rPr>
              <a:t>La API está replicada; PostgreSQL sigue siendo una única instancia.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A66EC-AE6B-4C4E-889A-DCEDB9B5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195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27C"/>
                </a:solidFill>
              </a:defRPr>
            </a:pPr>
            <a:r>
              <a:rPr sz="1425" b="0">
                <a:solidFill>
                  <a:srgbClr val="58727C"/>
                </a:solidFill>
              </a:rPr>
              <a:t>La demo prueba continuidad de la capa de aplicación, no alta disponibilidad total.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5AE6D-6550-4973-AE6E-29EE491B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578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C7C78"/>
                </a:solidFill>
              </a:defRPr>
            </a:pPr>
            <a:r>
              <a:rPr sz="2175" b="1">
                <a:solidFill>
                  <a:srgbClr val="0C7C78"/>
                </a:solidFill>
              </a:rPr>
              <a:t>Las tácticas se notan menos cuando funcionan bien.</a:t>
            </a:r>
          </a:p>
        </p:txBody>
      </p:sp>
    </p:spTree>
    <p:extLst>
      <p:ext uri="{BB962C8B-B14F-4D97-AF65-F5344CB8AC3E}">
        <p14:creationId xmlns:p14="http://schemas.microsoft.com/office/powerpoint/2010/main" val="5369347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2026-09-02T13:38:13.2360000Z</dcterms:created>
  <dcterms:modified xsi:type="dcterms:W3CDTF">2026-09-02T13:38:13.2360000Z</dcterms:modified>
</coreProperties>
</file>